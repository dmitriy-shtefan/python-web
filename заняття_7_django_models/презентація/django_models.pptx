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8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43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6400800"/>
          </a:xfrm>
          <a:prstGeom prst="rect">
            <a:avLst/>
          </a:prstGeom>
          <a:solidFill>
            <a:srgbClr val="1A1D2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6309360" y="45720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6766560" y="45720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223760" y="45720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680960" y="45720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766560" y="109728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223760" y="109728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680960" y="109728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766560" y="173736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7223760" y="173736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7680960" y="173736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766560" y="237744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7223760" y="237744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7680960" y="237744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766560" y="301752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7223760" y="301752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7680960" y="3017520"/>
            <a:ext cx="64008" cy="64008"/>
          </a:xfrm>
          <a:prstGeom prst="ellipse">
            <a:avLst/>
          </a:prstGeom>
          <a:solidFill>
            <a:srgbClr val="44D9A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7132320" y="1097280"/>
            <a:ext cx="1371600" cy="1371600"/>
          </a:xfrm>
          <a:prstGeom prst="ellipse">
            <a:avLst/>
          </a:prstGeom>
          <a:solidFill>
            <a:srgbClr val="44D9A8">
              <a:alpha val="80000"/>
            </a:srgbClr>
          </a:solidFill>
          <a:ln w="254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7223760" y="1188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0292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502920" y="1828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5200" dirty="0"/>
          </a:p>
        </p:txBody>
      </p:sp>
      <p:sp>
        <p:nvSpPr>
          <p:cNvPr id="28" name="Shape 26"/>
          <p:cNvSpPr/>
          <p:nvPr/>
        </p:nvSpPr>
        <p:spPr>
          <a:xfrm>
            <a:off x="475488" y="30175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2263A"/>
          </a:solidFill>
          <a:ln w="12700">
            <a:solidFill>
              <a:srgbClr val="7C6A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75488" y="3017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92808" y="30175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2263A"/>
          </a:solidFill>
          <a:ln w="12700">
            <a:solidFill>
              <a:srgbClr val="7C6A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1892808" y="3017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0128" y="30175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2263A"/>
          </a:solidFill>
          <a:ln w="12700">
            <a:solidFill>
              <a:srgbClr val="7C6A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3310128" y="3017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Міграції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27448" y="30175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2263A"/>
          </a:solidFill>
          <a:ln w="12700">
            <a:solidFill>
              <a:srgbClr val="7C6A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727448" y="3017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потрібні Django Models?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3474720"/>
          </a:xfrm>
          <a:prstGeom prst="rect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611880" cy="246888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
</a:t>
            </a: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sqlite3.connect(</a:t>
            </a: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"blog.db"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conn.cursor()
cursor.execute("""
</a:t>
            </a: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TABLE articles (
    id INTEGER,
    title TEXT,
    content TEXT
  )
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
</a:t>
            </a:r>
            <a:r>
              <a:rPr lang="en-US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І так для КОЖНОЇ операції...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2423160"/>
            <a:ext cx="365760" cy="54864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34340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D9A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93192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54864" cy="3474720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Django 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280160"/>
            <a:ext cx="3611880" cy="246888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
</a:t>
            </a: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900" dirty="0">
                <a:solidFill>
                  <a:srgbClr val="B39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(models.Model):
</a:t>
            </a: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models.CharField(max_length=</a:t>
            </a: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models.TextField()
</a:t>
            </a:r>
            <a:r>
              <a:rPr lang="en-US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uk-UA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Таблицю</a:t>
            </a:r>
            <a:r>
              <a:rPr lang="en-US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CRUD </a:t>
            </a:r>
            <a:r>
              <a:rPr lang="uk-UA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</a:t>
            </a:r>
            <a:r>
              <a:rPr lang="en-US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багато</a:t>
            </a:r>
            <a:r>
              <a:rPr lang="en-US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іншого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— Django робить сам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Model = Python-клас. Django сам створює таблицю, валідує дані та дає зручний API для запитів.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Table, Object, Row — як це пов'язано?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17373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1051560" y="868680"/>
            <a:ext cx="640080" cy="640080"/>
          </a:xfrm>
          <a:prstGeom prst="ellipse">
            <a:avLst/>
          </a:prstGeom>
          <a:solidFill>
            <a:srgbClr val="7C6AFA">
              <a:alpha val="80000"/>
            </a:srgbClr>
          </a:solidFill>
          <a:ln w="12700">
            <a:solidFill>
              <a:srgbClr val="7C6A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1024128" y="86868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Python-клас у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13258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2A9"/>
                </a:solidFill>
              </a:rPr>
              <a:t>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42032" y="777240"/>
            <a:ext cx="1828800" cy="17373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136392" y="868680"/>
            <a:ext cx="640080" cy="640080"/>
          </a:xfrm>
          <a:prstGeom prst="ellipse">
            <a:avLst/>
          </a:prstGeom>
          <a:solidFill>
            <a:srgbClr val="44D9A8">
              <a:alpha val="80000"/>
            </a:srgbClr>
          </a:solidFill>
          <a:ln w="127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108960" y="86868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42032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1901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у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базі даних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70832" y="13258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2A9"/>
                </a:solidFill>
              </a:rPr>
              <a:t>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26864" y="777240"/>
            <a:ext cx="1828800" cy="17373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221224" y="868680"/>
            <a:ext cx="640080" cy="64008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193792" y="86868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26864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26864" y="1901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Конкретний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(instance)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55664" y="13258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2A9"/>
                </a:solidFill>
              </a:rPr>
              <a:t>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11696" y="777240"/>
            <a:ext cx="1828800" cy="17373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7306056" y="868680"/>
            <a:ext cx="640080" cy="640080"/>
          </a:xfrm>
          <a:prstGeom prst="ellipse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278624" y="86868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11696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11696" y="1901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у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таблиці БД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697480"/>
            <a:ext cx="8183880" cy="2194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4008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модель Article → таблиця db_article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063240"/>
            <a:ext cx="8001000" cy="347472"/>
          </a:xfrm>
          <a:prstGeom prst="rect">
            <a:avLst/>
          </a:prstGeom>
          <a:solidFill>
            <a:srgbClr val="7C6AF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640080" y="3090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8016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is_published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06640" y="30906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456432"/>
            <a:ext cx="8001000" cy="320040"/>
          </a:xfrm>
          <a:prstGeom prst="rect">
            <a:avLst/>
          </a:prstGeom>
          <a:solidFill>
            <a:srgbClr val="2226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40080" y="34838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80160" y="3483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Перша стаття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3483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Зміст першої статті...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06640" y="3483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38313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80160" y="3831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 ORM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3831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Як працює ORM у Django...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3831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06640" y="38313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6085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кожен рядок = окремий об'єкт (instance) моделі Article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Назви моделей і полів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023360" cy="3200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4864" cy="3200400"/>
          </a:xfrm>
          <a:prstGeom prst="rect">
            <a:avLst/>
          </a:prstGeom>
          <a:solidFill>
            <a:srgbClr val="7C6A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для МОДЕЛЕЙ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44D9A8">
              <a:alpha val="15000"/>
            </a:srgbClr>
          </a:solidFill>
          <a:ln w="127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Article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286000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article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44D9A8">
              <a:alpha val="15000"/>
            </a:srgbClr>
          </a:solidFill>
          <a:ln w="127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BlogPost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16916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28600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blog_post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44D9A8">
              <a:alpha val="15000"/>
            </a:srgbClr>
          </a:solidFill>
          <a:ln w="127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UserProfile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21945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28600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userprofile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44D9A8">
              <a:alpha val="15000"/>
            </a:srgbClr>
          </a:solidFill>
          <a:ln w="127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4864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ShoppingCart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2697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228600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Shopping_Cart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023360" cy="3200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54864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4632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для ПОЛІВ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1887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846320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first_name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1887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6583680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FirstName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6916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4632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created_at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16916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58368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createdAt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1945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484632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is_active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21945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658368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IsActive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697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484632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phone_number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2697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658368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Phone Number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54864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uk-UA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(модель) → поле </a:t>
            </a: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published_date</a:t>
            </a: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стандарт іменування і в</a:t>
            </a: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Django і Python — завжди дотримуйтесь його.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Базові типи полів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029968" cy="1783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29968" cy="292608"/>
          </a:xfrm>
          <a:prstGeom prst="rect">
            <a:avLst/>
          </a:prstGeom>
          <a:solidFill>
            <a:srgbClr val="44D9A8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" y="118872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44D9A8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 обов'язковий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828800"/>
            <a:ext cx="1883664" cy="5943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75488" y="184708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= models.CharField(max_length=200)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32888" y="822960"/>
            <a:ext cx="2029968" cy="1783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2532888" y="822960"/>
            <a:ext cx="2029968" cy="292608"/>
          </a:xfrm>
          <a:prstGeom prst="rect">
            <a:avLst/>
          </a:prstGeom>
          <a:solidFill>
            <a:srgbClr val="44D9A8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606040" y="85039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18872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44D9A8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2606040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040" y="1481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довгий текст, без ліміту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1828800"/>
            <a:ext cx="1883664" cy="5943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2642616" y="184708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models.TextField()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00016" y="822960"/>
            <a:ext cx="2029968" cy="1783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700016" y="822960"/>
            <a:ext cx="2029968" cy="292608"/>
          </a:xfrm>
          <a:prstGeom prst="rect">
            <a:avLst/>
          </a:prstGeom>
          <a:solidFill>
            <a:srgbClr val="7C6AFA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773168" y="85039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IntegerField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118872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7C6AF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773168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3168" y="1481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ціле число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1828800"/>
            <a:ext cx="1883664" cy="5943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809744" y="184708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 = models.IntegerField()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867144" y="822960"/>
            <a:ext cx="2029968" cy="1783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6867144" y="822960"/>
            <a:ext cx="2029968" cy="292608"/>
          </a:xfrm>
          <a:prstGeom prst="rect">
            <a:avLst/>
          </a:prstGeom>
          <a:solidFill>
            <a:srgbClr val="7C6AFA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6940296" y="85039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DecimalField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0296" y="118872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7C6AF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940296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40296" y="148132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max_digits + decimal_places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0296" y="1828800"/>
            <a:ext cx="1883664" cy="5943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6976872" y="184708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models.DecimalField(max_digits=8, decimal_places=2)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" y="2743200"/>
            <a:ext cx="2651760" cy="1783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365760" y="2743200"/>
            <a:ext cx="2651760" cy="292608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38912" y="2770632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BooleanField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" y="310896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438912" y="3108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8912" y="34015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8912" y="3749040"/>
            <a:ext cx="2505456" cy="5943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475488" y="376732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= models.BooleanField()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18688" y="2743200"/>
            <a:ext cx="2651760" cy="1783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4" name="Shape 42"/>
          <p:cNvSpPr/>
          <p:nvPr/>
        </p:nvSpPr>
        <p:spPr>
          <a:xfrm>
            <a:off x="3218688" y="2743200"/>
            <a:ext cx="2651760" cy="292608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3291840" y="2770632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DateField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91840" y="310896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3291840" y="3108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91840" y="34015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дата (YYYY-MM-DD)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91840" y="3749040"/>
            <a:ext cx="2505456" cy="5943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Text 48"/>
          <p:cNvSpPr/>
          <p:nvPr/>
        </p:nvSpPr>
        <p:spPr>
          <a:xfrm>
            <a:off x="3328416" y="376732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birthday = models.DateField()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071616" y="2743200"/>
            <a:ext cx="2651760" cy="1783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2" name="Shape 50"/>
          <p:cNvSpPr/>
          <p:nvPr/>
        </p:nvSpPr>
        <p:spPr>
          <a:xfrm>
            <a:off x="6071616" y="2743200"/>
            <a:ext cx="2651760" cy="292608"/>
          </a:xfrm>
          <a:prstGeom prst="rect">
            <a:avLst/>
          </a:prstGeom>
          <a:solidFill>
            <a:srgbClr val="F87171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3" name="Text 51"/>
          <p:cNvSpPr/>
          <p:nvPr/>
        </p:nvSpPr>
        <p:spPr>
          <a:xfrm>
            <a:off x="6144768" y="2770632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DateTimeField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44768" y="310896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5" name="Text 53"/>
          <p:cNvSpPr/>
          <p:nvPr/>
        </p:nvSpPr>
        <p:spPr>
          <a:xfrm>
            <a:off x="6144768" y="3108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144768" y="34015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+ час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44768" y="3749040"/>
            <a:ext cx="2505456" cy="5943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8" name="Text 56"/>
          <p:cNvSpPr/>
          <p:nvPr/>
        </p:nvSpPr>
        <p:spPr>
          <a:xfrm>
            <a:off x="6181344" y="376732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= models.DateTimeField()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blank, null, default — практична різниця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2697480" cy="37947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4864" cy="3794760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blank=True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і 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331720" cy="18288"/>
          </a:xfrm>
          <a:prstGeom prst="rect">
            <a:avLst/>
          </a:prstGeom>
          <a:solidFill>
            <a:srgbClr val="44D9A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Дозволяє залишити поле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порожнім у HTML-формі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Django Admin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2423160" cy="68580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286207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 = models.TextField(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blank=True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3593592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44D9A8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822960" y="35935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Django-рівень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777240"/>
            <a:ext cx="2697480" cy="37947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246120" y="777240"/>
            <a:ext cx="54864" cy="3794760"/>
          </a:xfrm>
          <a:prstGeom prst="rect">
            <a:avLst/>
          </a:prstGeom>
          <a:solidFill>
            <a:srgbClr val="7C6A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246120" y="868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280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null=True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1920240"/>
            <a:ext cx="2331720" cy="18288"/>
          </a:xfrm>
          <a:prstGeom prst="rect">
            <a:avLst/>
          </a:prstGeom>
          <a:solidFill>
            <a:srgbClr val="7C6AFA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3383280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Дозволяє зберігати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колонці БД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(відсутність значення)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834640"/>
            <a:ext cx="2423160" cy="68580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429000" y="286207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models.IntegerField(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null=True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3593592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7C6AF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703320" y="35935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БД-рівень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777240"/>
            <a:ext cx="2697480" cy="37947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6126480" y="777240"/>
            <a:ext cx="54864" cy="379476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126480" y="868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1280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default=…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за замовч.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1920240"/>
            <a:ext cx="2331720" cy="18288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263640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Підставляє значення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не передали нічого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створенні об'єкта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834640"/>
            <a:ext cx="2423160" cy="68580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6309360" y="286207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 = models.IntegerField(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default=0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0" y="3593592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583680" y="35935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Python-рівень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48640" y="46908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0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null=True, blank=True</a:t>
            </a:r>
            <a:r>
              <a:rPr lang="en-US" sz="10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поле необов'язкове і в формі, і в БД. Для текстових полів часто достатньо лише </a:t>
            </a:r>
            <a:r>
              <a:rPr lang="en-US" sz="10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blank=True</a:t>
            </a:r>
            <a:r>
              <a:rPr lang="en-US" sz="10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__str__() — як об'єкт виглядає текстом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931920" cy="3063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4864" cy="3063240"/>
          </a:xfrm>
          <a:prstGeom prst="rect">
            <a:avLst/>
          </a:prstGeom>
          <a:solidFill>
            <a:srgbClr val="F8717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__str__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161288"/>
            <a:ext cx="3611880" cy="77724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Article.objects.all()
</a:t>
            </a: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&lt;QuerySet [&lt;Article: Article object (1)&gt;,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&lt;Article: Article object (2)&gt;]&gt;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😕 </a:t>
            </a:r>
            <a:r>
              <a:rPr lang="en-US" sz="1000" i="1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Нічого не зрозуміло — що це за записи?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3931920" cy="3063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54864" cy="3063240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029200" y="822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__str__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161288"/>
            <a:ext cx="3611880" cy="77724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074920" y="118872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Article.objects.all()
</a:t>
            </a:r>
            <a:r>
              <a:rPr lang="en-US" sz="90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&lt;QuerySet [&lt;Article: Перша стаття&gt;,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&lt;Article: Django ORM&gt;]&gt;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Одразу видно що це за записи!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841248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3959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додати __str__: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8046720" cy="68580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94360" y="423367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__str__</a:t>
            </a: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self.title</a:t>
            </a:r>
            <a:r>
              <a:rPr lang="en-US" sz="100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← return, не print!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Django шукає моделі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474720" cy="393192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Структура проєкту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3200400" cy="329184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myproject/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settings.py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urls.py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blog/  ← наш app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admin.py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apps.py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  ← тут!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views.py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migrations/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manage.py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23360" y="777240"/>
            <a:ext cx="475488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023360" y="777240"/>
            <a:ext cx="54864" cy="1188720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206240" y="850392"/>
            <a:ext cx="347472" cy="347472"/>
          </a:xfrm>
          <a:prstGeom prst="ellipse">
            <a:avLst/>
          </a:prstGeom>
          <a:solidFill>
            <a:srgbClr val="44D9A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206240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868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models.py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живуть у файлі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app_name/models.py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27048"/>
            <a:ext cx="3017520" cy="329184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709160" y="1545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blog/models.py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models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0" y="2103120"/>
            <a:ext cx="475488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023360" y="2103120"/>
            <a:ext cx="54864" cy="1188720"/>
          </a:xfrm>
          <a:prstGeom prst="rect">
            <a:avLst/>
          </a:prstGeom>
          <a:solidFill>
            <a:srgbClr val="7C6A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206240" y="2176272"/>
            <a:ext cx="347472" cy="347472"/>
          </a:xfrm>
          <a:prstGeom prst="ellipse">
            <a:avLst/>
          </a:prstGeom>
          <a:solidFill>
            <a:srgbClr val="7C6AF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20624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Імпорт models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імпортуємо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на початку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852928"/>
            <a:ext cx="3017520" cy="329184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709160" y="28712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models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0" y="3429000"/>
            <a:ext cx="475488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4023360" y="3429000"/>
            <a:ext cx="54864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206240" y="3502152"/>
            <a:ext cx="347472" cy="347472"/>
          </a:xfrm>
          <a:prstGeom prst="ellipse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20624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794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ОБОВ'ЯЗКОВО успадковує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models.Model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178808"/>
            <a:ext cx="3017520" cy="329184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709160" y="41970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Article(models.Model):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0" y="4690872"/>
            <a:ext cx="4754880" cy="365760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160520" y="47183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app </a:t>
            </a:r>
            <a:r>
              <a:rPr lang="uk-UA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повинно бути в</a:t>
            </a: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INSTALLED_APPS</a:t>
            </a: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</a:t>
            </a:r>
            <a:r>
              <a:rPr lang="en-US" sz="950" dirty="0" err="1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Міграції: від коду до таблиці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2024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960120" y="868680"/>
            <a:ext cx="914400" cy="914400"/>
          </a:xfrm>
          <a:prstGeom prst="ellipse">
            <a:avLst/>
          </a:prstGeom>
          <a:solidFill>
            <a:srgbClr val="7C6AFA">
              <a:alpha val="20000"/>
            </a:srgbClr>
          </a:solidFill>
          <a:ln w="25400">
            <a:solidFill>
              <a:srgbClr val="7C6A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96012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Написали/змінили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моделі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377440" y="14630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2A9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24328" y="777240"/>
            <a:ext cx="192024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127248" y="868680"/>
            <a:ext cx="914400" cy="914400"/>
          </a:xfrm>
          <a:prstGeom prst="ellipse">
            <a:avLst/>
          </a:prstGeom>
          <a:solidFill>
            <a:srgbClr val="44D9A8">
              <a:alpha val="20000"/>
            </a:srgbClr>
          </a:solidFill>
          <a:ln w="254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127248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24328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makemigrations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4328" y="21396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читає зміни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створює файл міграції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44568" y="14630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2A9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91456" y="777240"/>
            <a:ext cx="192024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294376" y="868680"/>
            <a:ext cx="914400" cy="914400"/>
          </a:xfrm>
          <a:prstGeom prst="ellipse">
            <a:avLst/>
          </a:prstGeom>
          <a:solidFill>
            <a:srgbClr val="F5A623">
              <a:alpha val="20000"/>
            </a:srgbClr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294376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91456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1456" y="21396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 SQL-запити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базу даних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11696" y="146304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2A9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58584" y="777240"/>
            <a:ext cx="192024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7461504" y="868680"/>
            <a:ext cx="914400" cy="914400"/>
          </a:xfrm>
          <a:prstGeom prst="ellipse">
            <a:avLst/>
          </a:prstGeom>
          <a:solidFill>
            <a:srgbClr val="A78BFA">
              <a:alpha val="20000"/>
            </a:srgbClr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461504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58584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Таблиця в БД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58584" y="21396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 таблиця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 до роботи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8412480" cy="214884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Команди в терміналі: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218688"/>
            <a:ext cx="256032" cy="256032"/>
          </a:xfrm>
          <a:prstGeom prst="ellipse">
            <a:avLst/>
          </a:prstGeom>
          <a:solidFill>
            <a:srgbClr val="7C6AFA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0292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0392" y="3200400"/>
            <a:ext cx="7818120" cy="347472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914400" y="32186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makemigrations</a:t>
            </a:r>
            <a:r>
              <a:rPr lang="en-US" sz="95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Створює файл міграції (не чіпає БД)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767328"/>
            <a:ext cx="256032" cy="256032"/>
          </a:xfrm>
          <a:prstGeom prst="ellipse">
            <a:avLst/>
          </a:prstGeom>
          <a:solidFill>
            <a:srgbClr val="7C6AFA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0292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" y="3749040"/>
            <a:ext cx="7818120" cy="347472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914400" y="37673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migrate</a:t>
            </a:r>
            <a:r>
              <a:rPr lang="en-US" sz="95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Застосовує зміни до бази даних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315968"/>
            <a:ext cx="256032" cy="256032"/>
          </a:xfrm>
          <a:prstGeom prst="ellipse">
            <a:avLst/>
          </a:prstGeom>
          <a:solidFill>
            <a:srgbClr val="7C6AFA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0292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50392" y="4297680"/>
            <a:ext cx="7818120" cy="347472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914400" y="431596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showmigrations</a:t>
            </a:r>
            <a:r>
              <a:rPr lang="en-US" sz="950" i="1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Показує статус усіх міграцій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модель: збираємо все разом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303520" cy="4297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blog/models.py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5029200" cy="3822192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21792" y="1152144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
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dirty="0">
                <a:solidFill>
                  <a:srgbClr val="B39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(models.Model):
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models.CharField(max_length=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models.TextField()
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models.CharField(max_length</a:t>
            </a:r>
            <a:r>
              <a:rPr lang="uk-UA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blank=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views_count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models.IntegerField(default=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is_published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models.BooleanField(default=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models.DateTimeField(auto_now_add=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__str__</a:t>
            </a: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</a:t>
            </a:r>
            <a:r>
              <a:rPr lang="en-US" sz="11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1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self.title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777240"/>
            <a:ext cx="2926080" cy="4297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89320" y="822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Пояснення до коду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97880" y="1170432"/>
            <a:ext cx="54864" cy="621792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053328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53328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текст.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 обов'язковий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97880" y="1920240"/>
            <a:ext cx="54864" cy="621792"/>
          </a:xfrm>
          <a:prstGeom prst="rect">
            <a:avLst/>
          </a:prstGeom>
          <a:solidFill>
            <a:srgbClr val="7C6A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053328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blank=True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53328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Необов'язкове поле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формі (не в БД)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97880" y="2670048"/>
            <a:ext cx="54864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053328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default=0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53328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не передали 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буде 0 автоматично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97880" y="3419856"/>
            <a:ext cx="54864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053328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auto_now_add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53328" y="36941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ставить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поточний час при створенні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97880" y="4169664"/>
            <a:ext cx="54864" cy="621792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053328" y="4169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__str__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53328" y="4443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Людська назва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об'єкта в Admin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 — реєстрація та перші записи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2697480" cy="3108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4864" cy="3108960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850392"/>
            <a:ext cx="384048" cy="384048"/>
          </a:xfrm>
          <a:prstGeom prst="ellipse">
            <a:avLst/>
          </a:prstGeom>
          <a:solidFill>
            <a:srgbClr val="44D9A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886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Зареєструвати модель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blog/admin.py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514600" cy="12801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21208" y="1591056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django.contrib import admin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Article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admin.site.register(Article)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697480" cy="3108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54864" cy="3108960"/>
          </a:xfrm>
          <a:prstGeom prst="rect">
            <a:avLst/>
          </a:prstGeom>
          <a:solidFill>
            <a:srgbClr val="7C6A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337560" y="850392"/>
            <a:ext cx="384048" cy="384048"/>
          </a:xfrm>
          <a:prstGeom prst="ellipse">
            <a:avLst/>
          </a:prstGeom>
          <a:solidFill>
            <a:srgbClr val="7C6AF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337560" y="850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886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superuser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298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Термінал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554480"/>
            <a:ext cx="2514600" cy="12801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401568" y="1591056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createsuperuser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введіть username, email, password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697480" cy="3108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126480" y="777240"/>
            <a:ext cx="54864" cy="310896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6217920" y="850392"/>
            <a:ext cx="384048" cy="384048"/>
          </a:xfrm>
          <a:prstGeom prst="ellipse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217920" y="850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886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 Admin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298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554480"/>
            <a:ext cx="2514600" cy="1280160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281928" y="1591056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http://127.0.0.1:8000/admin/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логін → Article → Add Article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54864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Створіть 2-3 реальних записи — не "test1", "asdf". Наприклад, справжні статті або продукти.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4709160"/>
            <a:ext cx="2743200" cy="292608"/>
          </a:xfrm>
          <a:prstGeom prst="roundRect">
            <a:avLst>
              <a:gd name="adj" fmla="val 25000"/>
            </a:avLst>
          </a:prstGeom>
          <a:solidFill>
            <a:srgbClr val="44D9A8">
              <a:alpha val="15000"/>
            </a:srgbClr>
          </a:solidFill>
          <a:ln w="12700">
            <a:solidFill>
              <a:srgbClr val="44D9A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3200400" y="4709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/admin/  — ваш пункт управління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Домашнє завдання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" cy="1097280"/>
          </a:xfrm>
          <a:prstGeom prst="rect">
            <a:avLst/>
          </a:prstGeom>
          <a:solidFill>
            <a:srgbClr val="44D9A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30352" y="1280160"/>
            <a:ext cx="475488" cy="475488"/>
          </a:xfrm>
          <a:prstGeom prst="rect">
            <a:avLst/>
          </a:prstGeom>
          <a:solidFill>
            <a:srgbClr val="44D9A8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для персонального проєкту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5727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Створіть щонайменше одну основну модель для свого проєкту з 3–5 осмисленими полями. Не test, не Foo — реальна сутність вашого проєкту.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0" y="1298448"/>
            <a:ext cx="2697480" cy="841248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007608" y="132588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Приклад: Task(title, description, is_done, priority, due_date)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54864" cy="1097280"/>
          </a:xfrm>
          <a:prstGeom prst="rect">
            <a:avLst/>
          </a:prstGeom>
          <a:solidFill>
            <a:srgbClr val="7C6A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30352" y="2514600"/>
            <a:ext cx="475488" cy="475488"/>
          </a:xfrm>
          <a:prstGeom prst="rect">
            <a:avLst/>
          </a:prstGeom>
          <a:solidFill>
            <a:srgbClr val="7C6AFA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30352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Виконати міграції без помилок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8072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Запустіть makemigrations та migrate. Мета: жодних червоних помилок у терміналі. Якщо є — розберіться і виправте.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2532888"/>
            <a:ext cx="2697480" cy="841248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007608" y="256032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makemigrations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migrate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5486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30352" y="3749040"/>
            <a:ext cx="475488" cy="475488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30352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 + тестові записи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041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Зареєструйте модель в admin.py і створіть 2-3 записи зі справжніми (не тестовими) даними.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3767328"/>
            <a:ext cx="2697480" cy="841248"/>
          </a:xfrm>
          <a:prstGeom prst="rect">
            <a:avLst/>
          </a:prstGeom>
          <a:solidFill>
            <a:srgbClr val="1215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007608" y="379476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бачите свої записи на /admin/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вже вмієте 💪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256032" cy="256032"/>
          </a:xfrm>
          <a:prstGeom prst="ellipse">
            <a:avLst/>
          </a:prstGeom>
          <a:solidFill>
            <a:srgbClr val="44D9A8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Пояснити навіщо ORM і що таке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256032" cy="256032"/>
          </a:xfrm>
          <a:prstGeom prst="ellipse">
            <a:avLst/>
          </a:prstGeom>
          <a:solidFill>
            <a:srgbClr val="44D9A8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5720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модель: клас + поля + __str__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256032" cy="256032"/>
          </a:xfrm>
          <a:prstGeom prst="ellipse">
            <a:avLst/>
          </a:prstGeom>
          <a:solidFill>
            <a:srgbClr val="7C6AF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Знати різницю blank / null / default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256032" cy="256032"/>
          </a:xfrm>
          <a:prstGeom prst="ellipse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Запустити makemigrations і migrate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256032" cy="256032"/>
          </a:xfrm>
          <a:prstGeom prst="ellipse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5720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Зареєструвати модель в Admin і додати записи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548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6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 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QuerySet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ForeignKey — зв'язки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Views +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5120640" cy="868680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 </a:t>
            </a:r>
            <a:r>
              <a:rPr lang="en-US" sz="120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00" b="1" dirty="0">
                <a:solidFill>
                  <a:srgbClr val="44D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makemigrations  </a:t>
            </a:r>
            <a:r>
              <a:rPr lang="en-US" sz="120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  </a:t>
            </a:r>
            <a:r>
              <a:rPr lang="en-US" sz="1200" dirty="0">
                <a:solidFill>
                  <a:srgbClr val="8B9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таблиця 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1376</Words>
  <Application>Microsoft Macintosh PowerPoint</Application>
  <PresentationFormat>On-screen Show (16:9)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Django: Models</dc:title>
  <dc:subject>PptxGenJS Presentation</dc:subject>
  <dc:creator>PptxGenJS</dc:creator>
  <cp:lastModifiedBy>Штефан Дмитро</cp:lastModifiedBy>
  <cp:revision>3</cp:revision>
  <dcterms:created xsi:type="dcterms:W3CDTF">2026-05-02T13:27:32Z</dcterms:created>
  <dcterms:modified xsi:type="dcterms:W3CDTF">2026-05-02T14:43:48Z</dcterms:modified>
</cp:coreProperties>
</file>