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9" r:id="rId5"/>
    <p:sldId id="260" r:id="rId6"/>
    <p:sldId id="267" r:id="rId7"/>
    <p:sldId id="261" r:id="rId8"/>
    <p:sldId id="272" r:id="rId9"/>
    <p:sldId id="273" r:id="rId10"/>
    <p:sldId id="263" r:id="rId11"/>
    <p:sldId id="274" r:id="rId12"/>
    <p:sldId id="265" r:id="rId13"/>
    <p:sldId id="275" r:id="rId14"/>
    <p:sldId id="276" r:id="rId15"/>
    <p:sldId id="268" r:id="rId16"/>
    <p:sldId id="269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42"/>
    <p:restoredTop sz="94610"/>
  </p:normalViewPr>
  <p:slideViewPr>
    <p:cSldViewPr snapToGrid="0" snapToObjects="1">
      <p:cViewPr varScale="1">
        <p:scale>
          <a:sx n="200" d="100"/>
          <a:sy n="200" d="100"/>
        </p:scale>
        <p:origin x="26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20:55-21:05. Реальний час на цей блок обов'язковий. Зафіксуйте тих, у кого проблеми із середовищем, і домовтесь про допомогу.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20:20-20:45. Після замикання: 'Де саме зберігається значення required_role?' Після декоратора: 'Опишіть словами, </a:t>
            </a:r>
            <a:r>
              <a:rPr lang="en-US" dirty="0" err="1"/>
              <a:t>що</a:t>
            </a:r>
            <a:r>
              <a:rPr lang="en-US" dirty="0"/>
              <a:t> відбувається при виклику get_user(1).' Декоратор — не магія, а просто функція.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 M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Circle"/>
          <p:cNvSpPr/>
          <p:nvPr/>
        </p:nvSpPr>
        <p:spPr>
          <a:xfrm>
            <a:off x="5943600" y="548640"/>
            <a:ext cx="3657600" cy="36576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Name"/>
          <p:cNvSpPr/>
          <p:nvPr/>
        </p:nvSpPr>
        <p:spPr>
          <a:xfrm>
            <a:off x="365760" y="274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Дмитро </a:t>
            </a:r>
            <a:r>
              <a:rPr lang="uk-UA" sz="3600" b="1" dirty="0">
                <a:solidFill>
                  <a:srgbClr val="FFFFFF"/>
                </a:solidFill>
                <a:latin typeface="Calibri" pitchFamily="34" charset="0"/>
              </a:rPr>
              <a:t>Штефан</a:t>
            </a:r>
            <a:endParaRPr lang="en-US" sz="3600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5" name="Role"/>
          <p:cNvSpPr/>
          <p:nvPr/>
        </p:nvSpPr>
        <p:spPr>
          <a:xfrm>
            <a:off x="365760" y="960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</a:rPr>
              <a:t>Data Team Technical Lead @ Gameloft</a:t>
            </a:r>
          </a:p>
        </p:txBody>
      </p:sp>
      <p:sp>
        <p:nvSpPr>
          <p:cNvPr id="6" name="CardBg"/>
          <p:cNvSpPr/>
          <p:nvPr/>
        </p:nvSpPr>
        <p:spPr>
          <a:xfrm>
            <a:off x="365760" y="1508760"/>
            <a:ext cx="5486400" cy="2926080"/>
          </a:xfrm>
          <a:prstGeom prst="rect">
            <a:avLst/>
          </a:prstGeom>
          <a:solidFill>
            <a:srgbClr val="243559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InfoText"/>
          <p:cNvSpPr/>
          <p:nvPr/>
        </p:nvSpPr>
        <p:spPr>
          <a:xfrm>
            <a:off x="457200" y="1600200"/>
            <a:ext cx="5303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💼 </a:t>
            </a:r>
            <a:r>
              <a:rPr lang="en-US" sz="1400" b="1" dirty="0" err="1">
                <a:solidFill>
                  <a:srgbClr val="F5A623"/>
                </a:solidFill>
                <a:latin typeface="Calibri" pitchFamily="34" charset="0"/>
              </a:rPr>
              <a:t>Досвід</a:t>
            </a:r>
            <a:endParaRPr lang="en-US" sz="1400" b="1" dirty="0">
              <a:solidFill>
                <a:srgbClr val="F5A623"/>
              </a:solidFill>
              <a:latin typeface="Calibri" pitchFamily="34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12+ років у Gameloft — PHP → eCommerce TL → Data TL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PHP · Python · AWS · ML · Data Engineering</a:t>
            </a:r>
          </a:p>
          <a:p>
            <a:pPr marL="0" indent="0">
              <a:spcAft>
                <a:spcPts val="8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💬 Telegram</a:t>
            </a:r>
          </a:p>
          <a:p>
            <a:pPr>
              <a:spcAft>
                <a:spcPts val="8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@dmitriy_shtefan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🔗 LinkedIn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linkedin.com/in/dmitry-shtefan/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курс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замикання,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Dev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через призму web-</a:t>
            </a: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w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</a:t>
            </a: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-додатків з використанням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451328"/>
            <a:ext cx="8412480" cy="47627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середовища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чек-лист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--version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python3 --version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75488" y="2267712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інтерпретатор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5488" y="296265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print('ok')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9626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у файлі .py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Кортежі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Кортежі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Tuples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tuple  —  незмінний набір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8229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Фіксований набір значень — не можна змінити після створення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Статуси, коди, константи, координати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Швидший за list, сигналізує: ці дані не змінюються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Можна розпакувати: x, y = point</a:t>
            </a:r>
          </a:p>
        </p:txBody>
      </p:sp>
      <p:sp>
        <p:nvSpPr>
          <p:cNvPr id="11" name="CodeBg"/>
          <p:cNvSpPr/>
          <p:nvPr/>
        </p:nvSpPr>
        <p:spPr>
          <a:xfrm>
            <a:off x="274320" y="2578608"/>
            <a:ext cx="85953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365760" y="267004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STATUSES = ('draft', 'published', 'archived')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HTTP_CODES = (200, 301, 404, 500)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point = (48.46, 22.72)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lat, lng = point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tuple як ключ словника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cache = {(200, 'GET'): 'ok'}</a:t>
            </a:r>
          </a:p>
        </p:txBody>
      </p:sp>
      <p:sp>
        <p:nvSpPr>
          <p:cNvPr id="13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choices у моделях — це tuples. Наприклад: STATUS_CHOICES = (('draft', 'Чернетка'), ('pub', 'Опубліковано'))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Множин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Множини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Sets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set  —  колекція унікальних елементів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Автоматично видаляє дублікати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Перевірка наявності (in) — O(1), швидше ніж у списку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Операції: об'єднання (|), перетин (&amp;), різниця (-)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Незмінна версія: frozenset</a:t>
            </a:r>
          </a:p>
        </p:txBody>
      </p:sp>
      <p:sp>
        <p:nvSpPr>
          <p:cNvPr id="11" name="BulletBox"/>
          <p:cNvSpPr/>
          <p:nvPr/>
        </p:nvSpPr>
        <p:spPr>
          <a:xfrm>
            <a:off x="44805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Немає порядку — не можна звернутись за індексом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Елементи мають бути hashable (рядки, числа, tuples)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Використання: унікальні URL, теги, ролі</a:t>
            </a:r>
            <a:r>
              <a:rPr lang="uk-UA" sz="1200" dirty="0">
                <a:solidFill>
                  <a:srgbClr val="1B2A4A"/>
                </a:solidFill>
                <a:latin typeface="Calibri" pitchFamily="34" charset="0"/>
              </a:rPr>
              <a:t> юзерів</a:t>
            </a:r>
            <a:endParaRPr lang="en-US" sz="1200" dirty="0">
              <a:solidFill>
                <a:srgbClr val="1B2A4A"/>
              </a:solidFill>
              <a:latin typeface="Calibri" pitchFamily="34" charset="0"/>
            </a:endParaRPr>
          </a:p>
        </p:txBody>
      </p:sp>
      <p:sp>
        <p:nvSpPr>
          <p:cNvPr id="13" name="CodeBg"/>
          <p:cNvSpPr/>
          <p:nvPr/>
        </p:nvSpPr>
        <p:spPr>
          <a:xfrm>
            <a:off x="274320" y="2578608"/>
            <a:ext cx="8595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6700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tags = {'python', 'web', 'django', 'python'}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print(tags)  # {'python', 'web', 'django'}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Знайти унікальні URL з помилками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error_urls = {r['url'] for r in requests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      if r['status_code'] != 200}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Перетин: спільні — set_a &amp; set_b</a:t>
            </a:r>
          </a:p>
        </p:txBody>
      </p:sp>
      <p:sp>
        <p:nvSpPr>
          <p:cNvPr id="15" name="NoteBg"/>
          <p:cNvSpPr/>
          <p:nvPr/>
        </p:nvSpPr>
        <p:spPr>
          <a:xfrm>
            <a:off x="256735" y="429416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39615" y="429416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set comprehension {x for x in ...} — як list comprehension, але без дублікатів. Дуже зручно для збору унікальних значень з даних.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Словник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Словники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Dicts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dict  —  ключ → значення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Пари ключ-значення, довільна вкладеність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Параметри запиту, POST-дані, контекст шаблону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JSON-подібні структури — основа web-даних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.get(key, default) — безпечне читання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user = {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"name": "Олена",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"role": "admin",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"orders": [{"id": 1, "total": 250}]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dict comprehension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squares = {x: x**2 for x in range(5)}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761488"/>
            <a:ext cx="8595360" cy="9144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852928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Підрахунок: кількість запитів по методу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from collections import Counter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Counter(r['method'] for r in requests)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або вручну: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counts = {}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for r in requests: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counts[r['method']] = counts.get(r['method'], 0) + 1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request.GET / request.POST / context у шаблоні — все це dict або dict-подібні об'єкти.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Лямбда-функції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Лямбда-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</a:rPr>
              <a:t>функції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lambda functions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lambda  —  коротка анонімна функція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Коротка функція без назви — для сортування та фільтрації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Одна операція: lambda args: вираз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 зловживайте: складна логіка — краще def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3"/>
            <a:ext cx="4114800" cy="2371813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Синтаксис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 = lambda x: x ** 2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print(square(5))  # 25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полем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products.sort(key=lambda p: p['price'])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Фільтрація активних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active = list(filter(lambda u: u['active'], users))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кількома полями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data.sort(key=lambda r: (r['status_code'], r['method']))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487168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57860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lambda vs def — вибирайте правильно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double = lambda x: x * 2   # ok — просто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def — якщо логіка складніша або треба повторне використання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sorted_r = sorted(requests, key=lambda r: r["status_code"])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187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lambda часто зустрічається в sorted(), filter(), map(). В Django — в annotate() та queryset ordering.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Гене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Генератори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generators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yield  замість  return  — повертає значення й призупиняється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Дані обробляються поступово — не весь список одразу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Економить пам'ять при великих обсягах 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yield зупиняє функцію, продовжує при наступному виклику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Використовується як звичайний ітератор: for x in gen()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3513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1999" y="1609344"/>
            <a:ext cx="414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active_users(users):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for user in users: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if user['active']: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    yield user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for u in active_users(all_users):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print(u['name'])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Generator expression (як list comprehension)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errors = (r for r in requests if r['status_code'] != 200)</a:t>
            </a:r>
          </a:p>
        </p:txBody>
      </p:sp>
      <p:sp>
        <p:nvSpPr>
          <p:cNvPr id="13" name="CodeBg"/>
          <p:cNvSpPr/>
          <p:nvPr/>
        </p:nvSpPr>
        <p:spPr>
          <a:xfrm>
            <a:off x="274319" y="3666744"/>
            <a:ext cx="8595360" cy="52120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758184"/>
            <a:ext cx="8412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return  — повертає одне значення й завершує функцію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yield   — повертає значення й призупиняє; продовжить далі</a:t>
            </a:r>
          </a:p>
        </p:txBody>
      </p:sp>
      <p:sp>
        <p:nvSpPr>
          <p:cNvPr id="15" name="NoteBg"/>
          <p:cNvSpPr/>
          <p:nvPr/>
        </p:nvSpPr>
        <p:spPr>
          <a:xfrm>
            <a:off x="274319" y="4404596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393894" y="440459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 QuerySet — теж ледачий: запит до БД виконується тільки коли ітеруємось або викликаємо list().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Замикання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Замикання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closures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closure  —  внутрішня функція пам'ятає зовнішню змінну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Внутрішня функція 'захоплює' змінну із зовнішнього scope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Фабрика функцій: один шаблон — різна поведінка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Значення зберігається у __closure__ функції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Основа для декораторів і callback-патернів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653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make_role_checker(required_role):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check(user):              # 'пам'ятає'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user['role'] ==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is_admin = make_role_checker('admin')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is_editor = make_role_checker('editor')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print(is_admin({'role': 'admin'}))   # True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print(is_editor({'role': 'admin'}))  # False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438144"/>
            <a:ext cx="8595360" cy="1001269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529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def filter_by_status(status):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# Повертає функцію-фільтр — замикання!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def check(request):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return request['status_code'] == status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</p:txBody>
      </p:sp>
      <p:sp>
        <p:nvSpPr>
          <p:cNvPr id="15" name="NoteBg"/>
          <p:cNvSpPr/>
          <p:nvPr/>
        </p:nvSpPr>
        <p:spPr>
          <a:xfrm>
            <a:off x="365760" y="452628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548640" y="45262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</a:rPr>
              <a:t>Де </a:t>
            </a: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саме зберігається значення required_role після повернення з make_role_checker?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Деко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Декоратори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decorators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@decorator  =  функція, </a:t>
            </a:r>
            <a:r>
              <a:rPr lang="en-US" sz="1300" b="1" dirty="0" err="1">
                <a:solidFill>
                  <a:srgbClr val="F5A623"/>
                </a:solidFill>
                <a:latin typeface="Consolas" pitchFamily="34" charset="0"/>
              </a:rPr>
              <a:t>що</a:t>
            </a: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 отримує функцію і повертає нову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Додає поведінку до функції без зміни її коду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@decorator — синтаксичний цукор для func = decorator(func)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Типові use-cases: логування, авторизація, кешування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Django: @login_required, @permission_required — теж декоратори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68249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log_call(func):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wrapper(*args, **kwargs):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print(f'Виклик: {func.__name__}')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result = func(*args, **kwargs)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print('Завершено')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result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wrapper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@log_call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get_user(uid): ...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get_user(1) -&gt; wrapper(1) -&gt; log -&gt; func(1) -&gt; log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291840"/>
            <a:ext cx="8595360" cy="113385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383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Порядок викликів при @decorator: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get_user(1)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-&gt; wrapper(1)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print('Виклик: get_user')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func(1)  # оригінальна функція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print('Завершено')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4805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Декоратор — не магія, а просто функція. @login_required у Django = view = login_required(view).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s Intro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Практика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Дані для всіх завдань</a:t>
            </a:r>
          </a:p>
        </p:txBody>
      </p:sp>
      <p:sp>
        <p:nvSpPr>
          <p:cNvPr id="9" name="CodeBg"/>
          <p:cNvSpPr/>
          <p:nvPr/>
        </p:nvSpPr>
        <p:spPr>
          <a:xfrm>
            <a:off x="274320" y="1571184"/>
            <a:ext cx="8595360" cy="16520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CodeText"/>
          <p:cNvSpPr/>
          <p:nvPr/>
        </p:nvSpPr>
        <p:spPr>
          <a:xfrm>
            <a:off x="365760" y="166262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requests = [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"/api/login",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"PUT",  "url": "/api/users/5", "status_code": 403},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"/api/items",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"/api/items",   "status_code": 500},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]</a:t>
            </a:r>
          </a:p>
        </p:txBody>
      </p:sp>
      <p:sp>
        <p:nvSpPr>
          <p:cNvPr id="11" name="BulletBox"/>
          <p:cNvSpPr/>
          <p:nvPr/>
        </p:nvSpPr>
        <p:spPr>
          <a:xfrm>
            <a:off x="274320" y="3390314"/>
            <a:ext cx="8595360" cy="17531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1 — Фільтрація: знайти успішні запити (status 200)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2 — Множини: унікальні URL з помилками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3 — Словники: кількість запитів по HTTP-методу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4 — Генератор: повертати тільки помилкові запити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5 — Lambda: сортування за status_code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6 — Замикання: filter_by_status(status)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7 — Декоратор: log_execution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вивчили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6093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uk-UA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247591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8712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" y="3291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3712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— пам'ять контексту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" y="4133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— обгортка функції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793631"/>
            <a:ext cx="3520440" cy="206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Повторити</a:t>
            </a:r>
            <a:r>
              <a:rPr lang="uk-UA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базові принципи ООП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uk-UA" sz="11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Виконати практичне завдання</a:t>
            </a:r>
            <a:endParaRPr lang="en-US" sz="1100" dirty="0"/>
          </a:p>
        </p:txBody>
      </p:sp>
      <p:sp>
        <p:nvSpPr>
          <p:cNvPr id="5" name="Shape 23">
            <a:extLst>
              <a:ext uri="{FF2B5EF4-FFF2-40B4-BE49-F238E27FC236}">
                <a16:creationId xmlns:a16="http://schemas.microsoft.com/office/drawing/2014/main" id="{FFF068F8-3A74-929A-1700-733A427EC585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53DA3259-AB70-396A-FB91-E98FB1AC7601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5812358-5386-CC57-3CF7-0974976D7BB1}"/>
              </a:ext>
            </a:extLst>
          </p:cNvPr>
          <p:cNvSpPr/>
          <p:nvPr/>
        </p:nvSpPr>
        <p:spPr>
          <a:xfrm>
            <a:off x="658368" y="20292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cs typeface="Consolas" pitchFamily="34" charset="-120"/>
              </a:rPr>
              <a:t>set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4999</TotalTime>
  <Words>2111</Words>
  <Application>Microsoft Macintosh PowerPoint</Application>
  <PresentationFormat>On-screen Show (16:9)</PresentationFormat>
  <Paragraphs>305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Dmytro Shtefan</cp:lastModifiedBy>
  <cp:revision>11</cp:revision>
  <dcterms:created xsi:type="dcterms:W3CDTF">2026-04-09T16:56:20Z</dcterms:created>
  <dcterms:modified xsi:type="dcterms:W3CDTF">2026-04-13T14:51:37Z</dcterms:modified>
</cp:coreProperties>
</file>