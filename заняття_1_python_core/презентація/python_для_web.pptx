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1" r:id="rId3"/>
    <p:sldId id="257" r:id="rId4"/>
    <p:sldId id="259" r:id="rId5"/>
    <p:sldId id="260" r:id="rId6"/>
    <p:sldId id="267" r:id="rId7"/>
    <p:sldId id="261" r:id="rId8"/>
    <p:sldId id="272" r:id="rId9"/>
    <p:sldId id="273" r:id="rId10"/>
    <p:sldId id="263" r:id="rId11"/>
    <p:sldId id="274" r:id="rId12"/>
    <p:sldId id="265" r:id="rId13"/>
    <p:sldId id="275" r:id="rId14"/>
    <p:sldId id="276" r:id="rId15"/>
    <p:sldId id="268" r:id="rId16"/>
    <p:sldId id="269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36"/>
    <p:restoredTop sz="94610"/>
  </p:normalViewPr>
  <p:slideViewPr>
    <p:cSldViewPr snapToGrid="0" snapToObjects="1">
      <p:cViewPr varScale="1">
        <p:scale>
          <a:sx n="181" d="100"/>
          <a:sy n="181" d="100"/>
        </p:scale>
        <p:origin x="82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907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Титульний слайд. Вивести на екран до початку пари о 18:20. Поки студенти заходять — слайд уже на проекторі.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Озвучте чотири цілі до початку. Підкресліть: не вивчаємо Python з нуля — вирівнюємо базу для старту в Django.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18:20-18:55. Вступ + рамка курсу. Після оцінювання зробити паузу: 'Чи є запитання по формату?' Дати студентам 2 хв для запису ідеї проєкту.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Практичне мікрозавдання: попросіть 5-6 студентів озвучити ідею. Запитайте: 'Які дані будуть основними?' та 'Що користувач зможе робити?'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20:55-21:05. Реальний час на цей блок обов'язковий. Зафіксуйте тих, у кого проблеми із середовищем, і домовтесь про допомогу.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18:55-19:10. Демонстрація в терміналі. Після прикладу зі словником зупинитись: 'Хто може навести власний приклад словника у web-застосунку?'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19:35-20:00. Після прикладів зупинитись і запитати: 'В якому випадку lambda незручна?' Зв'язати генератори з QuerySet в Django (ледаче завантаження).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20:20-20:45. Після замикання: 'Де саме зберігається значення required_role?' Після декоратора: 'Опишіть словами, </a:t>
            </a:r>
            <a:r>
              <a:rPr lang="en-US" dirty="0" err="1"/>
              <a:t>що</a:t>
            </a:r>
            <a:r>
              <a:rPr lang="en-US" dirty="0"/>
              <a:t> відбувається при виклику get_user(1).' Декоратор — не магія, а просто функція.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21:05-21:10. Зафіксуйте: які теми найважчі / хто без середовища / хто без ідеї проєкту. Нагадати дедлайн і формат здачі ДЗ.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Допоміжний слайд зі шпаргалкою. Можна залишити на екрані під час практики або надіслати студентам у месенджер.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6217920" y="365760"/>
            <a:ext cx="4114800" cy="41148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Shape 2"/>
          <p:cNvSpPr/>
          <p:nvPr/>
        </p:nvSpPr>
        <p:spPr>
          <a:xfrm>
            <a:off x="6766560" y="822960"/>
            <a:ext cx="2926080" cy="2926080"/>
          </a:xfrm>
          <a:prstGeom prst="ellipse">
            <a:avLst/>
          </a:prstGeom>
          <a:solidFill>
            <a:srgbClr val="F5A623">
              <a:alpha val="22000"/>
            </a:srgbClr>
          </a:solidFill>
          <a:ln w="12700">
            <a:solidFill>
              <a:srgbClr val="F5A623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для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web-розробки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8D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курсу і прикладне повторення Python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256032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bout Me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Circle"/>
          <p:cNvSpPr/>
          <p:nvPr/>
        </p:nvSpPr>
        <p:spPr>
          <a:xfrm>
            <a:off x="5943600" y="548640"/>
            <a:ext cx="3657600" cy="3657600"/>
          </a:xfrm>
          <a:prstGeom prst="ellipse">
            <a:avLst/>
          </a:prstGeom>
          <a:solidFill>
            <a:srgbClr val="F5A623">
              <a:alpha val="12000"/>
            </a:srgbClr>
          </a:solidFill>
          <a:ln w="12700">
            <a:solidFill>
              <a:srgbClr val="F5A623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Name"/>
          <p:cNvSpPr/>
          <p:nvPr/>
        </p:nvSpPr>
        <p:spPr>
          <a:xfrm>
            <a:off x="365760" y="2743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Дмитро </a:t>
            </a:r>
            <a:r>
              <a:rPr lang="uk-UA" sz="3600" b="1" dirty="0">
                <a:solidFill>
                  <a:srgbClr val="FFFFFF"/>
                </a:solidFill>
                <a:latin typeface="Calibri" pitchFamily="34" charset="0"/>
              </a:rPr>
              <a:t>Штефан</a:t>
            </a:r>
            <a:endParaRPr lang="en-US" sz="3600" b="1" dirty="0">
              <a:solidFill>
                <a:srgbClr val="FFFFFF"/>
              </a:solidFill>
              <a:latin typeface="Calibri" pitchFamily="34" charset="0"/>
            </a:endParaRPr>
          </a:p>
        </p:txBody>
      </p:sp>
      <p:sp>
        <p:nvSpPr>
          <p:cNvPr id="5" name="Role"/>
          <p:cNvSpPr/>
          <p:nvPr/>
        </p:nvSpPr>
        <p:spPr>
          <a:xfrm>
            <a:off x="365760" y="96012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</a:rPr>
              <a:t>Data Team Technical Lead @ Gameloft</a:t>
            </a:r>
          </a:p>
        </p:txBody>
      </p:sp>
      <p:sp>
        <p:nvSpPr>
          <p:cNvPr id="6" name="CardBg"/>
          <p:cNvSpPr/>
          <p:nvPr/>
        </p:nvSpPr>
        <p:spPr>
          <a:xfrm>
            <a:off x="365760" y="1508760"/>
            <a:ext cx="5486400" cy="2926080"/>
          </a:xfrm>
          <a:prstGeom prst="rect">
            <a:avLst/>
          </a:prstGeom>
          <a:solidFill>
            <a:srgbClr val="243559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InfoText"/>
          <p:cNvSpPr/>
          <p:nvPr/>
        </p:nvSpPr>
        <p:spPr>
          <a:xfrm>
            <a:off x="457200" y="1600200"/>
            <a:ext cx="53035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💼 Досвід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12+ років у Gameloft — PHP → eCommerce TL → Data TL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</a:rPr>
              <a:t>PHP · Python · AWS · ML · Data Engineering</a:t>
            </a:r>
          </a:p>
          <a:p>
            <a:pPr marL="0" indent="0">
              <a:spcAft>
                <a:spcPts val="800"/>
              </a:spcAft>
              <a:buNone/>
            </a:pP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💬 Telegram</a:t>
            </a:r>
          </a:p>
          <a:p>
            <a:pPr>
              <a:spcAft>
                <a:spcPts val="800"/>
              </a:spcAft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@dmitriy_shtefan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</a:rPr>
              <a:t>🔗 LinkedIn</a:t>
            </a:r>
          </a:p>
          <a:p>
            <a:pPr>
              <a:spcAft>
                <a:spcPts val="400"/>
              </a:spcAft>
            </a:pPr>
            <a:r>
              <a:rPr lang="en-US" sz="1200" dirty="0">
                <a:solidFill>
                  <a:srgbClr val="A8D8FF"/>
                </a:solidFill>
                <a:latin typeface="Consolas" pitchFamily="34" charset="0"/>
              </a:rPr>
              <a:t>linkedin.com/in/dmitry-shtefan/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Цілі заняття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51206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Ознайомлення з</a:t>
            </a: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курс</a:t>
            </a:r>
            <a:r>
              <a:rPr lang="uk-UA" sz="13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206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Формат, правила, оцінювання, персональний проєкт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4992624" y="128016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Python Core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92624" y="157276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Кортежі, словники, лямбди, генератори, замикання, декоратори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1206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Web Dev </a:t>
            </a:r>
            <a:r>
              <a:rPr lang="uk-UA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через призму web-</a:t>
            </a: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розробки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971800"/>
            <a:ext cx="41148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64008" cy="1554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4992624" y="3063240"/>
            <a:ext cx="3877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Перевірка готовності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92624" y="3355848"/>
            <a:ext cx="38770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</a:t>
            </a:r>
            <a:r>
              <a:rPr lang="en-US" sz="1100" dirty="0">
                <a:solidFill>
                  <a:srgbClr val="33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 теми потребують підсилення далі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w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</a:t>
            </a: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-додатків з використанням 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35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курсу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" y="153619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Python-база в прикладному контексті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202996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Старт з Django (моделі, URL, views)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523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252374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Шаблони та форми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301752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даних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8368" y="351129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та авторизація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solidFill>
            <a:srgbClr val="C8D6EB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4005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5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" y="4005072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4754880" y="1143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54880" y="1554480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489204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Відвідування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15544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2084832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32"/>
          <p:cNvSpPr/>
          <p:nvPr/>
        </p:nvSpPr>
        <p:spPr>
          <a:xfrm>
            <a:off x="4892040" y="20848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Активність на занятті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20848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754880" y="2615184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/>
          <p:nvPr/>
        </p:nvSpPr>
        <p:spPr>
          <a:xfrm>
            <a:off x="4892040" y="26151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Домашні завдання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955280" y="2615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3145536"/>
            <a:ext cx="402336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0" name="Text 38"/>
          <p:cNvSpPr/>
          <p:nvPr/>
        </p:nvSpPr>
        <p:spPr>
          <a:xfrm>
            <a:off x="4892040" y="314553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Проміжні перевірки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95528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754880" y="3675888"/>
            <a:ext cx="4023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/>
          <p:nvPr/>
        </p:nvSpPr>
        <p:spPr>
          <a:xfrm>
            <a:off x="4892040" y="3675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Фінальний захист проєкту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955280" y="36758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Персональний проєкт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20 хв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має бути в проєкті: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160020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Сутності (моделі) та зв'язки між ними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створення, читання, редагування, видалення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Форми й валідація даних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Різні ролі або типи дій користувача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Авторизація (вхід / вихід / реєстрація)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5669280" y="1143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тем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0" y="155448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5806440" y="155448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Каталог книг / курсів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0" y="210312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5806440" y="21031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Блог зі статтями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0" y="265176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5806440" y="265176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🗓 Сервіс бронювання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0" y="3200400"/>
            <a:ext cx="3246120" cy="475488"/>
          </a:xfrm>
          <a:prstGeom prst="rect">
            <a:avLst/>
          </a:prstGeom>
          <a:solidFill>
            <a:srgbClr val="EAF0F8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5806440" y="32004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Облік замовлень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0" y="3749040"/>
            <a:ext cx="3246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5806440" y="374904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База фільмів із оцінками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451328"/>
            <a:ext cx="8412480" cy="476271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914400" y="4332457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Мікрозавдання: запишіть 1-2 ідеї теми прямо зараз. До наступного заняття — конкретна предметна область.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середовища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117043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чек-лист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1572768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/>
          <p:nvPr/>
        </p:nvSpPr>
        <p:spPr>
          <a:xfrm>
            <a:off x="475488" y="1572768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--version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572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або python3 --version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2267712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475488" y="2267712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22677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запустити інтерпретатор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" y="2962656"/>
            <a:ext cx="4389120" cy="45720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/>
          <p:nvPr/>
        </p:nvSpPr>
        <p:spPr>
          <a:xfrm>
            <a:off x="475488" y="296265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print('ok')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96265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виконати у файлі .py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Кортежі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Кортежі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Tuples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tuple  —  незмінний набір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8229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Фіксований набір значень — не можна змінити після створення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Статуси, коди, константи, координати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Швидший за list, сигналізує: ці дані не змінюються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Можна розпакувати: x, y = point</a:t>
            </a:r>
          </a:p>
        </p:txBody>
      </p:sp>
      <p:sp>
        <p:nvSpPr>
          <p:cNvPr id="11" name="CodeBg"/>
          <p:cNvSpPr/>
          <p:nvPr/>
        </p:nvSpPr>
        <p:spPr>
          <a:xfrm>
            <a:off x="274320" y="2578608"/>
            <a:ext cx="859536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365760" y="2670048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STATUSES = ('draft', 'published', 'archived')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HTTP_CODES = (200, 301, 404, 500)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point = (48.46, 22.72)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lat, lng = point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tuple як ключ словника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cache = {(200, 'GET'): 'ok'}</a:t>
            </a:r>
          </a:p>
        </p:txBody>
      </p:sp>
      <p:sp>
        <p:nvSpPr>
          <p:cNvPr id="13" name="NoteBg"/>
          <p:cNvSpPr/>
          <p:nvPr/>
        </p:nvSpPr>
        <p:spPr>
          <a:xfrm>
            <a:off x="274320" y="366981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NoteText"/>
          <p:cNvSpPr/>
          <p:nvPr/>
        </p:nvSpPr>
        <p:spPr>
          <a:xfrm>
            <a:off x="457200" y="366981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choices у моделях — це tuples. Наприклад: STATUS_CHOICES = (('draft', 'Чернетка'), ('pub', 'Опубліковано'))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Множин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Множини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Sets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set  —  колекція унікальних елементів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Автоматично видаляє дублікати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Перевірка наявності (in) — O(1), швидше ніж у списку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Операції: об'єднання (|), перетин (&amp;), різниця (-)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Незмінна версія: frozenset</a:t>
            </a:r>
          </a:p>
        </p:txBody>
      </p:sp>
      <p:sp>
        <p:nvSpPr>
          <p:cNvPr id="11" name="BulletBox"/>
          <p:cNvSpPr/>
          <p:nvPr/>
        </p:nvSpPr>
        <p:spPr>
          <a:xfrm>
            <a:off x="4480560" y="1517904"/>
            <a:ext cx="41148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Немає порядку — не можна звернутись за індексом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Елементи мають бути hashable (рядки, числа, tuples)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Використання: унікальні URL, теги, ролі</a:t>
            </a:r>
            <a:r>
              <a:rPr lang="uk-UA" sz="1200" dirty="0">
                <a:solidFill>
                  <a:srgbClr val="1B2A4A"/>
                </a:solidFill>
                <a:latin typeface="Calibri" pitchFamily="34" charset="0"/>
              </a:rPr>
              <a:t> юзерів</a:t>
            </a:r>
            <a:endParaRPr lang="en-US" sz="1200" dirty="0">
              <a:solidFill>
                <a:srgbClr val="1B2A4A"/>
              </a:solidFill>
              <a:latin typeface="Calibri" pitchFamily="34" charset="0"/>
            </a:endParaRPr>
          </a:p>
        </p:txBody>
      </p:sp>
      <p:sp>
        <p:nvSpPr>
          <p:cNvPr id="13" name="CodeBg"/>
          <p:cNvSpPr/>
          <p:nvPr/>
        </p:nvSpPr>
        <p:spPr>
          <a:xfrm>
            <a:off x="274320" y="2578608"/>
            <a:ext cx="8595360" cy="155448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670048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tags = {'python', 'web', 'django', 'python'}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print(tags)  # {'python', 'web', 'django'}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Знайти унікальні URL з помилками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error_urls = {r['url'] for r in requests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      if r['status_code'] != 200}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Перетин: спільні — set_a &amp; set_b</a:t>
            </a:r>
          </a:p>
        </p:txBody>
      </p:sp>
      <p:sp>
        <p:nvSpPr>
          <p:cNvPr id="15" name="NoteBg"/>
          <p:cNvSpPr/>
          <p:nvPr/>
        </p:nvSpPr>
        <p:spPr>
          <a:xfrm>
            <a:off x="256735" y="4294163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39615" y="4294163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set comprehension {x for x in ...} — як list comprehension, але без дублікатів. Дуже зручно для збору унікальних значень з даних.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Словник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Словники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Dicts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dict  —  ключ → значення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Пари ключ-значення, довільна вкладеність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Параметри запиту, POST-дані, контекст шаблону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JSON-подібні структури — основа web-даних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.get(key, default) — безпечне читання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650740" y="161848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user = {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"name": "Олена",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"role": "admin",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"orders": [{"id": 1, "total": 250}]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}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role = user.get("role", "guest")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dict comprehension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squares = {x: x**2 for x in range(5)}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843784"/>
            <a:ext cx="8595360" cy="141681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457200" y="2935224"/>
            <a:ext cx="8412480" cy="1325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</a:t>
            </a:r>
            <a:r>
              <a:rPr lang="uk-UA" sz="1100" dirty="0">
                <a:solidFill>
                  <a:srgbClr val="A8D8FF"/>
                </a:solidFill>
                <a:latin typeface="Consolas" pitchFamily="34" charset="0"/>
              </a:rPr>
              <a:t>Безпечне отримання ролі</a:t>
            </a:r>
          </a:p>
          <a:p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role = user.get("role", "guest")</a:t>
            </a:r>
            <a:br>
              <a:rPr lang="ru-RU" sz="1100" dirty="0">
                <a:solidFill>
                  <a:srgbClr val="A8D8FF"/>
                </a:solidFill>
                <a:latin typeface="Consolas" pitchFamily="34" charset="0"/>
              </a:rPr>
            </a:br>
            <a:br>
              <a:rPr lang="ru-RU" sz="1100" dirty="0">
                <a:solidFill>
                  <a:srgbClr val="A8D8FF"/>
                </a:solidFill>
                <a:latin typeface="Consolas" pitchFamily="34" charset="0"/>
              </a:rPr>
            </a:br>
            <a:r>
              <a:rPr lang="ru-RU" sz="1100" dirty="0">
                <a:solidFill>
                  <a:srgbClr val="A8D8FF"/>
                </a:solidFill>
                <a:latin typeface="Consolas" pitchFamily="34" charset="0"/>
              </a:rPr>
              <a:t># Підрахунок загальної суми замовлень</a:t>
            </a:r>
            <a:br>
              <a:rPr lang="ru-RU" sz="1100" dirty="0">
                <a:solidFill>
                  <a:srgbClr val="A8D8FF"/>
                </a:solidFill>
                <a:latin typeface="Consolas" pitchFamily="34" charset="0"/>
              </a:rPr>
            </a:b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total_sum = 0</a:t>
            </a:r>
            <a:br>
              <a:rPr lang="en-US" sz="1100" dirty="0">
                <a:solidFill>
                  <a:srgbClr val="A8D8FF"/>
                </a:solidFill>
                <a:latin typeface="Consolas" pitchFamily="34" charset="0"/>
              </a:rPr>
            </a:b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for order in user["orders"]:</a:t>
            </a:r>
            <a:br>
              <a:rPr lang="en-US" sz="1100" dirty="0">
                <a:solidFill>
                  <a:srgbClr val="A8D8FF"/>
                </a:solidFill>
                <a:latin typeface="Consolas" pitchFamily="34" charset="0"/>
              </a:rPr>
            </a:br>
            <a:r>
              <a:rPr lang="uk-UA" sz="1100" dirty="0">
                <a:solidFill>
                  <a:srgbClr val="A8D8FF"/>
                </a:solidFill>
                <a:latin typeface="Consolas" pitchFamily="34" charset="0"/>
              </a:rPr>
              <a:t>    </a:t>
            </a: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total_sum += order["total"]</a:t>
            </a:r>
            <a:br>
              <a:rPr lang="en-US" sz="1100" dirty="0">
                <a:solidFill>
                  <a:srgbClr val="A8D8FF"/>
                </a:solidFill>
                <a:latin typeface="Consolas" pitchFamily="34" charset="0"/>
              </a:rPr>
            </a:b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</p:txBody>
      </p:sp>
      <p:sp>
        <p:nvSpPr>
          <p:cNvPr id="15" name="NoteBg"/>
          <p:cNvSpPr/>
          <p:nvPr/>
        </p:nvSpPr>
        <p:spPr>
          <a:xfrm>
            <a:off x="274320" y="4356608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11480" y="4356608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Django: request.GET / request.POST / context у шаблоні — все це dict або dict-подібні об'єкти.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Лямбда-функції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Лямбда-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</a:rPr>
              <a:t>функції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lambda functions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lambda  —  коротка анонімна функція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Коротка функція без назви — для сортування та фільтрації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Одна операція: lambda args: вираз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Не зловживайте: складна логіка — краще def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3"/>
            <a:ext cx="4114800" cy="2371813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228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Синтаксис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square = lambda x: x ** 2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print(square(5))  # 25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полем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products.sort(key=lambda p: p['price'])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Фільтрація активних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active = list(filter(lambda u: u['active'], users))</a:t>
            </a:r>
          </a:p>
          <a:p>
            <a:pPr marL="0" indent="0">
              <a:buNone/>
            </a:pPr>
            <a:endParaRPr lang="en-US" sz="11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Сортування за кількома полями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data.sort(key=lambda r: (r['status_code'], r['method']))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2487168"/>
            <a:ext cx="4114800" cy="1280160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2578608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lambda vs def — вибирайте правильно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double = lambda x: x * 2   # ok — просто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def — якщо логіка складніша або треба повторне використання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sorted_r = sorted(requests, key=lambda r: r["status_code"])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187952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18795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lambda часто зустрічається в sorted(), filter(), map(). В Django — в annotate() та queryset ordering.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Гене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Генератори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generators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yield  замість  return  — повертає значення й призупиняється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Дані обробляються поступово — не весь список одразу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Економить пам'ять при великих обсягах даних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yield зупиняє функцію, продовжує при наступному виклику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Використовується як звичайний ітератор: for x in gen()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35132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1999" y="1609344"/>
            <a:ext cx="414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active_users(users):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for user in users: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if user['active']: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    yield user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for u in active_users(all_users):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print(u['name'])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Generator expression (як list comprehension)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errors = (r for r in requests if r['status_code'] != 200)</a:t>
            </a:r>
          </a:p>
        </p:txBody>
      </p:sp>
      <p:sp>
        <p:nvSpPr>
          <p:cNvPr id="13" name="CodeBg"/>
          <p:cNvSpPr/>
          <p:nvPr/>
        </p:nvSpPr>
        <p:spPr>
          <a:xfrm>
            <a:off x="274319" y="3666744"/>
            <a:ext cx="8595360" cy="52120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758184"/>
            <a:ext cx="8412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return  — повертає одне значення й завершує функцію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yield   — повертає значення й призупиняє; продовжить далі</a:t>
            </a:r>
          </a:p>
        </p:txBody>
      </p:sp>
      <p:sp>
        <p:nvSpPr>
          <p:cNvPr id="15" name="NoteBg"/>
          <p:cNvSpPr/>
          <p:nvPr/>
        </p:nvSpPr>
        <p:spPr>
          <a:xfrm>
            <a:off x="274319" y="4404596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393894" y="4404596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Django QuerySet — теж ледачий: запит до БД виконується тільки коли ітеруємось або викликаємо list().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Замикання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Замикання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closures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closure  —  внутрішня функція пам'ятає зовнішню змінну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517904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Внутрішня функція 'захоплює' змінну із зовнішнього scope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Фабрика функцій: один шаблон — різна поведінка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Значення зберігається у __closure__ функції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Основа для декораторів і callback-патернів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86537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429768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make_role_checker(required_role):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def check(user):              # 'пам'ятає' required_role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return user['role'] == required_role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return check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is_admin = make_role_checker('admin')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is_editor = make_role_checker('editor')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print(is_admin({'role': 'admin'}))   # True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print(is_editor({'role': 'admin'}))  # False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438144"/>
            <a:ext cx="8595360" cy="1001269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529584"/>
            <a:ext cx="841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def filter_by_status(status):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# Повертає функцію-фільтр — замикання!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def check(request):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    return request['status_code'] == status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return check</a:t>
            </a:r>
          </a:p>
        </p:txBody>
      </p:sp>
      <p:sp>
        <p:nvSpPr>
          <p:cNvPr id="15" name="NoteBg"/>
          <p:cNvSpPr/>
          <p:nvPr/>
        </p:nvSpPr>
        <p:spPr>
          <a:xfrm>
            <a:off x="365760" y="4568952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548640" y="452628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</a:rPr>
              <a:t>Де </a:t>
            </a: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саме зберігається значення required_role після повернення з make_role_checker?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Декоратори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Декоратори</a:t>
            </a:r>
            <a:r>
              <a:rPr lang="en-US" sz="1600" dirty="0">
                <a:solidFill>
                  <a:srgbClr val="F5A623"/>
                </a:solidFill>
                <a:latin typeface="Consolas" pitchFamily="34" charset="0"/>
              </a:rPr>
              <a:t>  </a:t>
            </a:r>
            <a:r>
              <a:rPr lang="en-US" sz="2200" b="1" dirty="0">
                <a:solidFill>
                  <a:srgbClr val="F5A623"/>
                </a:solidFill>
                <a:latin typeface="Consolas" pitchFamily="34" charset="0"/>
              </a:rPr>
              <a:t>— decorators</a:t>
            </a:r>
          </a:p>
        </p:txBody>
      </p:sp>
      <p:sp>
        <p:nvSpPr>
          <p:cNvPr id="5" name="TimerBg"/>
          <p:cNvSpPr/>
          <p:nvPr/>
        </p:nvSpPr>
        <p:spPr>
          <a:xfrm>
            <a:off x="7406640" y="1069848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TimerText"/>
          <p:cNvSpPr/>
          <p:nvPr/>
        </p:nvSpPr>
        <p:spPr>
          <a:xfrm>
            <a:off x="7406640" y="106984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</a:rPr>
              <a:t>⏱ 10 хв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069848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06984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@decorator  =  функція, </a:t>
            </a:r>
            <a:r>
              <a:rPr lang="en-US" sz="1300" b="1" dirty="0" err="1">
                <a:solidFill>
                  <a:srgbClr val="F5A623"/>
                </a:solidFill>
                <a:latin typeface="Consolas" pitchFamily="34" charset="0"/>
              </a:rPr>
              <a:t>що</a:t>
            </a: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 отримує функцію і повертає нову</a:t>
            </a:r>
          </a:p>
        </p:txBody>
      </p:sp>
      <p:sp>
        <p:nvSpPr>
          <p:cNvPr id="9" name="BulletBox"/>
          <p:cNvSpPr/>
          <p:nvPr/>
        </p:nvSpPr>
        <p:spPr>
          <a:xfrm>
            <a:off x="365760" y="1645920"/>
            <a:ext cx="4114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Додає поведінку до функції без зміни її коду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@decorator — синтаксичний цукор для func = decorator(func)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Типові use-cases: логування, авторизація, кешування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</a:rPr>
              <a:t>Django: @login_required, @permission_required — теж декоратори</a:t>
            </a:r>
          </a:p>
        </p:txBody>
      </p:sp>
      <p:sp>
        <p:nvSpPr>
          <p:cNvPr id="11" name="CodeBg"/>
          <p:cNvSpPr/>
          <p:nvPr/>
        </p:nvSpPr>
        <p:spPr>
          <a:xfrm>
            <a:off x="4480560" y="1517904"/>
            <a:ext cx="4389120" cy="168249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CodeText"/>
          <p:cNvSpPr/>
          <p:nvPr/>
        </p:nvSpPr>
        <p:spPr>
          <a:xfrm>
            <a:off x="4572000" y="1609344"/>
            <a:ext cx="393192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log_call(func):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def wrapper(*args, **kwargs):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print(f'Виклик: {func.__name__}')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result = func(*args, **kwargs)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print('Завершено')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    return result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    return wrapper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@log_call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def get_user(uid): ...</a:t>
            </a:r>
          </a:p>
          <a:p>
            <a:pPr marL="0" indent="0">
              <a:buNone/>
            </a:pPr>
            <a:endParaRPr lang="en-US" sz="1000" dirty="0">
              <a:solidFill>
                <a:srgbClr val="A8D8FF"/>
              </a:solidFill>
              <a:latin typeface="Consolas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</a:rPr>
              <a:t># get_user(1) -&gt; wrapper(1) -&gt; log -&gt; func(1) -&gt; log</a:t>
            </a:r>
          </a:p>
        </p:txBody>
      </p:sp>
      <p:sp>
        <p:nvSpPr>
          <p:cNvPr id="13" name="CodeBg"/>
          <p:cNvSpPr/>
          <p:nvPr/>
        </p:nvSpPr>
        <p:spPr>
          <a:xfrm>
            <a:off x="274320" y="3291840"/>
            <a:ext cx="8595360" cy="113385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CodeText"/>
          <p:cNvSpPr/>
          <p:nvPr/>
        </p:nvSpPr>
        <p:spPr>
          <a:xfrm>
            <a:off x="365760" y="3383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# Порядок викликів при @decorator: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get_user(1)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-&gt; wrapper(1)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print('Виклик: get_user')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func(1)  # оригінальна функція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-&gt; print('Завершено')</a:t>
            </a:r>
          </a:p>
        </p:txBody>
      </p:sp>
      <p:sp>
        <p:nvSpPr>
          <p:cNvPr id="15" name="NoteBg"/>
          <p:cNvSpPr/>
          <p:nvPr/>
        </p:nvSpPr>
        <p:spPr>
          <a:xfrm>
            <a:off x="274320" y="4480560"/>
            <a:ext cx="8595360" cy="347472"/>
          </a:xfrm>
          <a:prstGeom prst="rect">
            <a:avLst/>
          </a:prstGeom>
          <a:solidFill>
            <a:srgbClr val="FFF3D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NoteText"/>
          <p:cNvSpPr/>
          <p:nvPr/>
        </p:nvSpPr>
        <p:spPr>
          <a:xfrm>
            <a:off x="457200" y="448056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Декоратор — не магія, а просто функція. @login_required у Django = view = login_required(view).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s Intro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OrangeBar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itleText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</a:rPr>
              <a:t>Практика</a:t>
            </a:r>
          </a:p>
        </p:txBody>
      </p:sp>
      <p:sp>
        <p:nvSpPr>
          <p:cNvPr id="7" name="SubBg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ubText"/>
          <p:cNvSpPr/>
          <p:nvPr/>
        </p:nvSpPr>
        <p:spPr>
          <a:xfrm>
            <a:off x="274320" y="1143000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</a:rPr>
              <a:t>Дані для всіх завдань</a:t>
            </a:r>
          </a:p>
        </p:txBody>
      </p:sp>
      <p:sp>
        <p:nvSpPr>
          <p:cNvPr id="9" name="CodeBg"/>
          <p:cNvSpPr/>
          <p:nvPr/>
        </p:nvSpPr>
        <p:spPr>
          <a:xfrm>
            <a:off x="274320" y="1571184"/>
            <a:ext cx="8595360" cy="1652076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CodeText"/>
          <p:cNvSpPr/>
          <p:nvPr/>
        </p:nvSpPr>
        <p:spPr>
          <a:xfrm>
            <a:off x="365760" y="166262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requests = [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"POST", "url": "/api/login",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"/api/users/5", "status_code": 404},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"PUT",  "url": "/api/users/5", "status_code": 403},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"/api/items",   "status_code": 200},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"POST", "url": "/api/items",   "status_code": 500},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    {"method": "GET",  "url": "/api/users/5", "status_code": 404},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A8D8FF"/>
                </a:solidFill>
                <a:latin typeface="Consolas" pitchFamily="34" charset="0"/>
              </a:rPr>
              <a:t>]</a:t>
            </a:r>
          </a:p>
        </p:txBody>
      </p:sp>
      <p:sp>
        <p:nvSpPr>
          <p:cNvPr id="11" name="BulletBox"/>
          <p:cNvSpPr/>
          <p:nvPr/>
        </p:nvSpPr>
        <p:spPr>
          <a:xfrm>
            <a:off x="274320" y="3390314"/>
            <a:ext cx="8595360" cy="17531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1 — Фільтрація: знайти успішні запити (status 200)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2 — Множини: унікальні URL з помилками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3 — Словники: кількість запитів по HTTP-методу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4 — Генератор: повертати тільки помилкові запити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5 — Lambda: сортування за status_code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6 — Замикання: filter_by_status(status)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</a:rPr>
              <a:t>Завдання 7 — Декоратор: log_execution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Підсумок і домашнє завдання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7406640" y="114300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хв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274320" y="114300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</a:t>
            </a:r>
            <a:r>
              <a:rPr lang="uk-UA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вивчили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сьогодні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274320" y="160934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160934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r>
              <a:rPr lang="uk-UA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Text 12"/>
          <p:cNvSpPr/>
          <p:nvPr/>
        </p:nvSpPr>
        <p:spPr>
          <a:xfrm>
            <a:off x="274320" y="202996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247591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 + .get() + вкладені структури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274320" y="2450592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" y="287121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— сортування і фільтрація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Text 18"/>
          <p:cNvSpPr/>
          <p:nvPr/>
        </p:nvSpPr>
        <p:spPr>
          <a:xfrm>
            <a:off x="274320" y="2871216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" y="3291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 — yield, ледача обробка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274320" y="3291840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37124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 — пам'ять контексту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74320" y="3712464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/>
          <p:nvPr/>
        </p:nvSpPr>
        <p:spPr>
          <a:xfrm>
            <a:off x="274320" y="3712464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" y="413308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 — обгортка функції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/>
          <p:nvPr/>
        </p:nvSpPr>
        <p:spPr>
          <a:xfrm>
            <a:off x="5349240" y="114300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349240" y="1793631"/>
            <a:ext cx="3520440" cy="2067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8D6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/>
          <p:nvPr/>
        </p:nvSpPr>
        <p:spPr>
          <a:xfrm>
            <a:off x="5486400" y="1554480"/>
            <a:ext cx="3246120" cy="2487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Повторити</a:t>
            </a:r>
            <a:r>
              <a:rPr lang="uk-UA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базові принципи ООП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тему персонального проєкту (1-2 речення)</a:t>
            </a:r>
            <a:endParaRPr lang="uk-UA" sz="1100" dirty="0">
              <a:solidFill>
                <a:srgbClr val="1B2A4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uk-UA" sz="1100" dirty="0">
                <a:solidFill>
                  <a:srgbClr val="1B2A4A"/>
                </a:solidFill>
                <a:latin typeface="Calibri" pitchFamily="34" charset="0"/>
                <a:cs typeface="Calibri" pitchFamily="34" charset="-120"/>
              </a:rPr>
              <a:t>Виконати практичне завдання</a:t>
            </a:r>
            <a:endParaRPr lang="en-US" sz="1100" dirty="0"/>
          </a:p>
        </p:txBody>
      </p:sp>
      <p:sp>
        <p:nvSpPr>
          <p:cNvPr id="5" name="Shape 23">
            <a:extLst>
              <a:ext uri="{FF2B5EF4-FFF2-40B4-BE49-F238E27FC236}">
                <a16:creationId xmlns:a16="http://schemas.microsoft.com/office/drawing/2014/main" id="{FFF068F8-3A74-929A-1700-733A427EC585}"/>
              </a:ext>
            </a:extLst>
          </p:cNvPr>
          <p:cNvSpPr/>
          <p:nvPr/>
        </p:nvSpPr>
        <p:spPr>
          <a:xfrm>
            <a:off x="274320" y="4133088"/>
            <a:ext cx="329184" cy="347472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2" name="Text 24">
            <a:extLst>
              <a:ext uri="{FF2B5EF4-FFF2-40B4-BE49-F238E27FC236}">
                <a16:creationId xmlns:a16="http://schemas.microsoft.com/office/drawing/2014/main" id="{53DA3259-AB70-396A-FB91-E98FB1AC7601}"/>
              </a:ext>
            </a:extLst>
          </p:cNvPr>
          <p:cNvSpPr/>
          <p:nvPr/>
        </p:nvSpPr>
        <p:spPr>
          <a:xfrm>
            <a:off x="274320" y="4133088"/>
            <a:ext cx="329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95812358-5386-CC57-3CF7-0974976D7BB1}"/>
              </a:ext>
            </a:extLst>
          </p:cNvPr>
          <p:cNvSpPr/>
          <p:nvPr/>
        </p:nvSpPr>
        <p:spPr>
          <a:xfrm>
            <a:off x="658368" y="20292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cs typeface="Consolas" pitchFamily="34" charset="-120"/>
              </a:rPr>
              <a:t>set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сновні конструкції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/>
          <p:nvPr/>
        </p:nvSpPr>
        <p:spPr>
          <a:xfrm>
            <a:off x="18288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/>
          <p:nvPr/>
        </p:nvSpPr>
        <p:spPr>
          <a:xfrm>
            <a:off x="27432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("active", "banned")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= STATUS[0]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/>
          <p:nvPr/>
        </p:nvSpPr>
        <p:spPr>
          <a:xfrm>
            <a:off x="320040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/>
          <p:nvPr/>
        </p:nvSpPr>
        <p:spPr>
          <a:xfrm>
            <a:off x="329184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= {"name": "Олег"}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u.get("name", "—")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/>
          <p:nvPr/>
        </p:nvSpPr>
        <p:spPr>
          <a:xfrm>
            <a:off x="6217920" y="100584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1316736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/>
          <p:nvPr/>
        </p:nvSpPr>
        <p:spPr>
          <a:xfrm>
            <a:off x="6309360" y="1316736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items.sort(key=lambda x: x["price"])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/>
          <p:nvPr/>
        </p:nvSpPr>
        <p:spPr>
          <a:xfrm>
            <a:off x="18288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8288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/>
          <p:nvPr/>
        </p:nvSpPr>
        <p:spPr>
          <a:xfrm>
            <a:off x="27432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gen(lst):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x in lst: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yield 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/>
          <p:nvPr/>
        </p:nvSpPr>
        <p:spPr>
          <a:xfrm>
            <a:off x="320040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0040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/>
          <p:nvPr/>
        </p:nvSpPr>
        <p:spPr>
          <a:xfrm>
            <a:off x="329184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make(r):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check(u):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u["role"]==r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check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solidFill>
            <a:srgbClr val="F5A623"/>
          </a:solidFill>
          <a:ln w="12700">
            <a:solidFill>
              <a:srgbClr val="D4891C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/>
          <p:nvPr/>
        </p:nvSpPr>
        <p:spPr>
          <a:xfrm>
            <a:off x="6217920" y="299923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decorator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3310128"/>
            <a:ext cx="2834640" cy="1572768"/>
          </a:xfrm>
          <a:prstGeom prst="rect">
            <a:avLst/>
          </a:prstGeom>
          <a:solidFill>
            <a:srgbClr val="1E3A5F"/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/>
          <p:nvPr/>
        </p:nvSpPr>
        <p:spPr>
          <a:xfrm>
            <a:off x="6309360" y="3310128"/>
            <a:ext cx="2651760" cy="15727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dec(f):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wrap(*a,**k):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print("before")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f(*a,**k)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8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wrap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15517</TotalTime>
  <Words>2104</Words>
  <Application>Microsoft Macintosh PowerPoint</Application>
  <PresentationFormat>On-screen Show (16:9)</PresentationFormat>
  <Paragraphs>300</Paragraphs>
  <Slides>16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Заняття 1 — Python для web-розробки</dc:title>
  <dc:subject>PptxGenJS Presentation</dc:subject>
  <dc:creator>PptxGenJS</dc:creator>
  <cp:lastModifiedBy>Dmytro Shtefan</cp:lastModifiedBy>
  <cp:revision>14</cp:revision>
  <dcterms:created xsi:type="dcterms:W3CDTF">2026-04-09T16:56:20Z</dcterms:created>
  <dcterms:modified xsi:type="dcterms:W3CDTF">2026-04-21T13:48:22Z</dcterms:modified>
</cp:coreProperties>
</file>