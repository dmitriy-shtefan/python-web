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9" r:id="rId4"/>
    <p:sldId id="260" r:id="rId5"/>
    <p:sldId id="267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570"/>
    <p:restoredTop sz="94610"/>
  </p:normalViewPr>
  <p:slideViewPr>
    <p:cSldViewPr snapToGrid="0" snapToObjects="1">
      <p:cViewPr varScale="1">
        <p:scale>
          <a:sx n="181" d="100"/>
          <a:sy n="181" d="100"/>
        </p:scale>
        <p:origin x="69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07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Титульний слайд. Вивести на екран до початку пари о 18:20. Поки студенти заходять — слайд уже на проекторі.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Озвучте чотири цілі до початку. Підкресліть: не вивчаємо Python з нуля — вирівнюємо базу для старту в Django.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18:20-18:55. Вступ + рамка курсу. Після оцінювання зробити паузу: 'Чи є запитання по формату?' Дати студентам 2 хв для запису ідеї проєкту.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Практичне мікрозавдання: попросіть 5-6 студентів озвучити ідею. Запитайте: 'Які дані будуть основними?' та 'Що користувач зможе робити?'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20:55-21:05. Реальний час на цей блок обов'язковий. Зафіксуйте тих, у кого проблеми із середовищем, і домовтесь про допомогу.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18:55-19:10. Демонстрація в терміналі. Після прикладу зі словником зупинитись: 'Хто може навести власний приклад словника у web-застосунку?'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19:10-19:35. Перші 2-3 хв розв'язуємо п.1 разом. Далі самостійно. Обходити аудиторію та підключати пасивних адресними питаннями. Через 7-10 хв — пауза, </a:t>
            </a:r>
            <a:r>
              <a:rPr lang="en-US" dirty="0" err="1"/>
              <a:t>перевірка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19:35-20:00. Після прикладів зупинитись і запитати: 'В якому випадку lambda незручна?' Зв'язати генератори з QuerySet в Django (ледаче завантаження).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20:00-20:20. Один приклад сортування показати самому. Фільтрацію попросити завершити студентів. Генератор — спочатку проговорити шаблон: цикл → if → yield.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20:20-20:45. Після </a:t>
            </a:r>
            <a:r>
              <a:rPr lang="en-US" dirty="0" err="1"/>
              <a:t>замикання</a:t>
            </a:r>
            <a:r>
              <a:rPr lang="en-US" dirty="0"/>
              <a:t>: 'Де саме зберігається значення required_role?' Після декоратора: 'Опишіть словами, що відбувається при виклику get_user(1).' Декоратор — не магія, а просто функція.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20:45-20:55. Не затягувати. Достатньо базового впізнавання механіки декоратора. Після виконання попросити пояснити порядок викликів.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21:05-21:10. Зафіксуйте: які теми найважчі / хто без середовища / хто без ідеї проєкту. Нагадати дедлайн і формат здачі ДЗ.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Допоміжний слайд зі шпаргалкою. Можна залишити на екрані під час практики або надіслати студентам у месенджер.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6217920" y="365760"/>
            <a:ext cx="4114800" cy="41148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766560" y="822960"/>
            <a:ext cx="2926080" cy="2926080"/>
          </a:xfrm>
          <a:prstGeom prst="ellipse">
            <a:avLst/>
          </a:prstGeom>
          <a:solidFill>
            <a:srgbClr val="F5A623">
              <a:alpha val="22000"/>
            </a:srgbClr>
          </a:solidFill>
          <a:ln w="12700">
            <a:solidFill>
              <a:srgbClr val="F5A62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для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курсу і прикладне повторення Python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25603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заняття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1206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Рамка курсу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Формат, правила, оцінювання, персональний проєкт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99262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Python Core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9262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Кортежі, словники, лямбди, генератори, </a:t>
            </a:r>
            <a:r>
              <a:rPr lang="en-US" sz="1100" dirty="0" err="1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замикання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декоратори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1206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Django-контекст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r>
              <a:rPr lang="en-US" sz="1100" dirty="0" err="1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призму web-сценаріїв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9262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Перевірка готовності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9262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</a:t>
            </a:r>
            <a:r>
              <a:rPr lang="en-US" sz="1100" dirty="0" err="1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теми потребують підсилення далі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курсу і рамка роботи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курсу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Python-база в прикладному контексті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02996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з Django (моделі, URL, views)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252374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Шаблони та форми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0175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даних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351129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та авторизація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400507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554480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8920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Відвідування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084832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4892040" y="2084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Активність на занятті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20848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754880" y="2615184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4892040" y="26151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Домашні завдання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2615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3145536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4892040" y="314553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Проміжні перевірки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55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54880" y="3675888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/>
          <p:nvPr/>
        </p:nvSpPr>
        <p:spPr>
          <a:xfrm>
            <a:off x="489204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955280" y="3675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Персональний проєкт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 хв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має бути в проєкті: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Сутності (моделі) та зв'язки між ними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створення, читання, редагування, видалення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 й валідація даних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ролі або типи дій користувача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Авторизація (вхід / вихід / реєстрація)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тем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80644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Каталог книг / курсів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210312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Блог зі статтями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265176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806440" y="265176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 Сервіс бронювання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320040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806440" y="3200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Облік замовлень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374904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37490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База фільмів із оцінками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343400"/>
            <a:ext cx="841248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914400" y="4332457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Мікрозавдання: запишіть 1-2 ідеї теми прямо зараз. До наступного заняття — конкретна предметна область.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середовища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чек-лист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" y="1572768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--version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572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python3 --version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267712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75488" y="2267712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2677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запустити інтерпретатор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75488" y="296265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print('ok')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9626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у файлі .py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Кортежі та словники у web-сценаріях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  —  незмінний набір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517904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Фіксований набір значень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Статуси, координати, пари ключ-значення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можна змінити після створення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4114800" cy="6583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84048" y="2578608"/>
            <a:ext cx="3895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STATUSES = ("draft", "published", "archived")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HTTP_CODES = (200, 301, 404, 500)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43000"/>
            <a:ext cx="411480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754880" y="11430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 —  ключ → значення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517904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запиту, POST-дані, контекст шаблону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JSON-подібні структури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Вкладені: список словників, dict у dict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487168"/>
            <a:ext cx="4114800" cy="107899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64608" y="2578608"/>
            <a:ext cx="3895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=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"Олена",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"role": "admin",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"orders": [{"id": 1, "total": 250}]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 = user.get("role", "guest")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Django: request.GET / request.POST / контекст шаблону — все це dict або dict-подібні об'єкти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406908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dict.get(key, default) — безпечне читання, якщо ключ може бути відсутнім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Практика: словники і вкладені структури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5303520" cy="1965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84048" y="1143000"/>
            <a:ext cx="50840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=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42,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"customer": {"name": "Сергій", "email": "s@example.com"},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{"product": "Ноутбук", "qty": 1, "price": 28000},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{"product": "Мишка",   "qty": 2, "price": 350},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"processing"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143000"/>
            <a:ext cx="30175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852160" y="114300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0" y="1517904"/>
            <a:ext cx="283464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Вивести ім'я клієнта</a:t>
            </a:r>
            <a:endParaRPr lang="en-US" sz="1100" dirty="0"/>
          </a:p>
          <a:p>
            <a:pPr>
              <a:spcAft>
                <a:spcPts val="400"/>
              </a:spcAft>
              <a:buSzPct val="100000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Вивести статус (або 'unknown' якщо немає)</a:t>
            </a:r>
            <a:endParaRPr lang="en-US" sz="1100" dirty="0"/>
          </a:p>
          <a:p>
            <a:pPr>
              <a:spcAft>
                <a:spcPts val="400"/>
              </a:spcAft>
              <a:buSzPct val="100000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Порахувати кількість товарів</a:t>
            </a:r>
            <a:endParaRPr lang="en-US" sz="1100" dirty="0"/>
          </a:p>
          <a:p>
            <a:pPr>
              <a:spcAft>
                <a:spcPts val="400"/>
              </a:spcAft>
              <a:buSzPct val="100000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Вивести підсумок: ім'я + сума + статус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246120"/>
            <a:ext cx="8595360" cy="310896"/>
          </a:xfrm>
          <a:prstGeom prst="rect">
            <a:avLst/>
          </a:prstGeom>
          <a:solidFill>
            <a:srgbClr val="2E4470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324612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виконання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3639312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36210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структуру — визначити типи даних на кожному рівні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895344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48640" y="38770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поля верхнього рівня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4151376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48640" y="41330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Перейти до вкладених dict і list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407408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Оформити підсумковий вивід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4716194"/>
            <a:ext cx="8595360" cy="320040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57200" y="471619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Типові помилки: плутати [] і {} · прямий доступ замість .get() · забути про вкладеність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Лямбда-функції та генератори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 —  коротка функція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517904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сортування та фільтрації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короткого перетворення даних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назви — анонімна функція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4114800" cy="11155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84048" y="2423160"/>
            <a:ext cx="389534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сортування за полем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products.sort(key=lambda p: p['price'])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фільтрація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= list(filter(lambda u: u['active'], users))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43000"/>
            <a:ext cx="411480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754880" y="11430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 —  ледачий ітератор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517904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замість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обробляються поступово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Ефективно для великих списків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423160"/>
            <a:ext cx="4114800" cy="135331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64608" y="2423160"/>
            <a:ext cx="389534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active_users(users):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user in users: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user['active']: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yield user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u in active_users(all_users):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print(u['name'])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811993"/>
            <a:ext cx="8595360" cy="310896"/>
          </a:xfrm>
          <a:prstGeom prst="rect">
            <a:avLst/>
          </a:prstGeom>
          <a:solidFill>
            <a:srgbClr val="2E4470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3803904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vs yield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4178808"/>
            <a:ext cx="1280160" cy="292608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274320" y="41788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45920" y="4123944"/>
            <a:ext cx="7178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одне значення й завершує виконання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4572000"/>
            <a:ext cx="128016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274320" y="45720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45920" y="4462272"/>
            <a:ext cx="7178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значення і призупиняє — продовжить при наступному виклику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Практика: сортування, фільтрація, генератор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530352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84048" y="1170432"/>
            <a:ext cx="50840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 =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"Ноутбук", "price": 28000, "in_stock": True},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"Клавіатура", "price": 1200, "in_stock": False},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"Монітор", "price": 12000, "in_stock": True},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"Мишка", "price": 700, "in_stock": True},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170432"/>
            <a:ext cx="30175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852160" y="117043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0" y="155448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Сортувати за ціною (зростання)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Відібрати лише is_stock=True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Написати генератор для п.2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852928"/>
            <a:ext cx="8595360" cy="310896"/>
          </a:xfrm>
          <a:prstGeom prst="rect">
            <a:avLst/>
          </a:prstGeom>
          <a:solidFill>
            <a:srgbClr val="2E4470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85292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3246120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323697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структуру одного елемента списку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502152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48640" y="34930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сортування (.sort з key=lambda ...)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758184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фільтрацію (filter + lambda або list comprehension)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014216"/>
            <a:ext cx="201168" cy="2011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48640" y="40050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генератор: for + if + yield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4438357"/>
            <a:ext cx="8595360" cy="389676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 dirty="0"/>
          </a:p>
        </p:txBody>
      </p:sp>
      <p:sp>
        <p:nvSpPr>
          <p:cNvPr id="24" name="Text 22"/>
          <p:cNvSpPr/>
          <p:nvPr/>
        </p:nvSpPr>
        <p:spPr>
          <a:xfrm>
            <a:off x="457200" y="4343400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Мета не 'красивий' код — а розуміння механіки.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Замикання та декоратори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  —  функція з пам'яттю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517904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Внутрішня функція 'пам'ятає' зовнішню змінну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Фабрика функцій: один шаблон — різна поведінка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4114800" cy="135331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84048" y="2240280"/>
            <a:ext cx="389534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make_role_checker(required_role):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check(user):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user.get('role') == required_role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check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is_admin = make_role_checker('admin')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print(is_admin({'role': 'admin'}))  # True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43000"/>
            <a:ext cx="411480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754880" y="11430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  —  обгортка функції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517904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Приймає функцію → повертає функцію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Додає поведінку без зміни оригіналу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Django: @login_required, @csrf_exempt...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377440"/>
            <a:ext cx="41148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46320" y="2505456"/>
            <a:ext cx="38953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log_call(func):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wrapper(*args, **kwargs):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print(f'Виклик: {func.__name__}')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func(*args, **kwargs)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print('Завершено')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wrapper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@log_call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get_user(uid): 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4169664"/>
            <a:ext cx="8595360" cy="310896"/>
          </a:xfrm>
          <a:prstGeom prst="rect">
            <a:avLst/>
          </a:prstGeom>
          <a:solidFill>
            <a:srgbClr val="2E4470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4169664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викликів при @decorator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" y="45354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get_user(1) 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709928" y="45354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4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wrapper(1) 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45536" y="45354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4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print('Виклик') →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81144" y="45354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func(1)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16752" y="45354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4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print('Завершено') →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52360" y="45354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E4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result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Практика: пишемо декоратор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10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64008" cy="9144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20624" y="1261872"/>
            <a:ext cx="3831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💪 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аписати з нуля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0624" y="1554480"/>
            <a:ext cx="3831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Декоратор, який виводить повідомлення ДО і ПІСЛЯ виклику функції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194560"/>
            <a:ext cx="4069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274320" y="2194560"/>
            <a:ext cx="64008" cy="914400"/>
          </a:xfrm>
          <a:prstGeom prst="rect">
            <a:avLst/>
          </a:prstGeom>
          <a:solidFill>
            <a:srgbClr val="8AA1C0"/>
          </a:solidFill>
          <a:ln w="12700">
            <a:solidFill>
              <a:srgbClr val="8AA1C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20624" y="2286000"/>
            <a:ext cx="3831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  Якщо час обмежений — доповнити шаблон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0624" y="2578608"/>
            <a:ext cx="3831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Заповнити пропуски: def wrapper(*args, **kwargs):  ...  return ...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1170432"/>
            <a:ext cx="4251960" cy="312724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727448" y="1170432"/>
            <a:ext cx="4032504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my_decorator(func):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wrapper(*args, **kwargs):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1. дія ДО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print('...')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2. виклик оригінальної функції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func(*args, **kwargs)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3. дія ПІСЛЯ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print('...')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4. повернути результат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wrapper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@my_decorator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hello(name):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print(f"Hello, {name}!")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 і домашнє завдання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повторили сьогодні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51790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51790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15179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93852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193852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193852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+ .get() + вкладені 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359152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35915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235915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— сортування і фільтрація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779776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2779776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277977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— yield, ледача обробка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00400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20040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32004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 — пам'ять контексту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62102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362102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" y="362102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 — обгортка функції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1554480"/>
            <a:ext cx="3520440" cy="2542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0" y="1554480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Повторити dict.get() і вкладені структури на власному прикладі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2 функції з lambda і sorted()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простий генератор зі своїми даними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тему персонального проєкту (1-2 речення)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сновні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конструкції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7432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("active", "banned")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= STATUS[0]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9184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{"name": "Олег"}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u.get("name", "—")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30936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items.sort(key=lambda x: x["price"])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gen(lst):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x in lst: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yield 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29184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make(r):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check(u):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u["role"]==r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check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30936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dec(f):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wrap(*a,**k):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print("before")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f(*a,**k)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wrap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3941</TotalTime>
  <Words>1677</Words>
  <Application>Microsoft Macintosh PowerPoint</Application>
  <PresentationFormat>On-screen Show (16:9)</PresentationFormat>
  <Paragraphs>272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Заняття 1 — Python для web-розробки</dc:title>
  <dc:subject>PptxGenJS Presentation</dc:subject>
  <dc:creator>PptxGenJS</dc:creator>
  <cp:lastModifiedBy>Dmytro Shtefan</cp:lastModifiedBy>
  <cp:revision>5</cp:revision>
  <dcterms:created xsi:type="dcterms:W3CDTF">2026-04-09T16:56:20Z</dcterms:created>
  <dcterms:modified xsi:type="dcterms:W3CDTF">2026-04-12T10:47:15Z</dcterms:modified>
</cp:coreProperties>
</file>