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>
        <p:scale>
          <a:sx n="168" d="100"/>
          <a:sy n="168" d="100"/>
        </p:scale>
        <p:origin x="109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779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256032" y="3063240"/>
            <a:ext cx="888796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ООП у Python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предметна область проєкту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2  ·  Python для веб-розробки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4160520"/>
            <a:ext cx="1965960" cy="384048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 та об'єкти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4160520"/>
            <a:ext cx="1965960" cy="384048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2651760" y="4160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/ @classmethod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4160520"/>
            <a:ext cx="1965960" cy="384048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4800600" y="4160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Успадкування &amp; MRO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49440" y="4160520"/>
            <a:ext cx="1965960" cy="384048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949440" y="4160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2"/>
          </a:solidFill>
          <a:ln w="12700">
            <a:solidFill>
              <a:srgbClr val="1A234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Що сьогодні будемо робити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09728" cy="10972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594360" cy="5943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075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1155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5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Пригадуємо </a:t>
            </a:r>
            <a:r>
              <a:rPr lang="en-US" sz="15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</a:t>
            </a:r>
            <a:r>
              <a:rPr lang="uk-UA" sz="1500" b="1" dirty="0" err="1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14813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</a:t>
            </a:r>
            <a:r>
              <a:rPr lang="en-US" sz="12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інкапсуляцію, </a:t>
            </a:r>
            <a:r>
              <a:rPr lang="en-US" sz="1250" dirty="0" err="1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успадкування</a:t>
            </a:r>
            <a:r>
              <a:rPr lang="en-US" sz="12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4320" y="228600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274320" y="2286000"/>
            <a:ext cx="10972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457200" y="254203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5877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3957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Python-специфіка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234440" y="276148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self, @property, duck typing, відсутність class overloading — чому Python вирішує задачі по-своєму.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74320" y="356616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274320" y="3566160"/>
            <a:ext cx="109728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4"/>
          <p:cNvSpPr/>
          <p:nvPr/>
        </p:nvSpPr>
        <p:spPr>
          <a:xfrm>
            <a:off x="457200" y="3822192"/>
            <a:ext cx="594360" cy="5943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86791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6758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вашого проєкту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34440" y="40416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моделює хоча б одну реальну сутність свого майбутнього Django-проєкту в Python-коді.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ООП — знайоме та нове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 самі концепції. Різний синтаксис і дисципліна.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261872"/>
            <a:ext cx="201168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01752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261872"/>
            <a:ext cx="320040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2404872" y="1261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C# / PHP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23560" y="1261872"/>
            <a:ext cx="320040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696712" y="1261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764792"/>
            <a:ext cx="201168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01752" y="1764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Посилання на obj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31720" y="1764792"/>
            <a:ext cx="32004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404872" y="1764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(неявний)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23560" y="1764792"/>
            <a:ext cx="32004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696712" y="1764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(явний у підписі)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267712"/>
            <a:ext cx="2011680" cy="502920"/>
          </a:xfrm>
          <a:prstGeom prst="rect">
            <a:avLst/>
          </a:prstGeom>
          <a:solidFill>
            <a:srgbClr val="243060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01752" y="2267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Приватність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31720" y="2267712"/>
            <a:ext cx="3200400" cy="502920"/>
          </a:xfrm>
          <a:prstGeom prst="rect">
            <a:avLst/>
          </a:prstGeom>
          <a:solidFill>
            <a:srgbClr val="243060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404872" y="2267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protected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2267712"/>
            <a:ext cx="3200400" cy="502920"/>
          </a:xfrm>
          <a:prstGeom prst="rect">
            <a:avLst/>
          </a:prstGeom>
          <a:solidFill>
            <a:srgbClr val="243060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696712" y="2267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домовленість, __ name mangling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2770632"/>
            <a:ext cx="201168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01752" y="2770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/ Setter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31720" y="2770632"/>
            <a:ext cx="32004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2404872" y="2770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getX() / setX()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23560" y="2770632"/>
            <a:ext cx="32004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696712" y="2770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" y="3273552"/>
            <a:ext cx="2011680" cy="502920"/>
          </a:xfrm>
          <a:prstGeom prst="rect">
            <a:avLst/>
          </a:prstGeom>
          <a:solidFill>
            <a:srgbClr val="243060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301752" y="3273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331720" y="3273552"/>
            <a:ext cx="3200400" cy="502920"/>
          </a:xfrm>
          <a:prstGeom prst="rect">
            <a:avLst/>
          </a:prstGeom>
          <a:solidFill>
            <a:srgbClr val="243060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2404872" y="32735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конструкторів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23560" y="3273552"/>
            <a:ext cx="3200400" cy="502920"/>
          </a:xfrm>
          <a:prstGeom prst="rect">
            <a:avLst/>
          </a:prstGeom>
          <a:solidFill>
            <a:srgbClr val="243060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696712" y="32735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за замовчуванням, @classmethod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28600" y="3776472"/>
            <a:ext cx="201168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301752" y="3776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перевірки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331720" y="3776472"/>
            <a:ext cx="32004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2404872" y="3776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/ 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23560" y="3776472"/>
            <a:ext cx="3200400" cy="502920"/>
          </a:xfrm>
          <a:prstGeom prst="rect">
            <a:avLst/>
          </a:prstGeom>
          <a:solidFill>
            <a:srgbClr val="1E2D55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5696712" y="3776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 — важлива поведінка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28600" y="4572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Python — менше «церемонії», більше домовленостей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Предметна область → Python-клас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65176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price, stock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377440" cy="256032"/>
          </a:xfrm>
          <a:prstGeom prst="rect">
            <a:avLst/>
          </a:prstGeom>
          <a:solidFill>
            <a:srgbClr val="EEF8F8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apply_discount()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517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154680" y="1005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44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customer, items, status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103120"/>
            <a:ext cx="2377440" cy="256032"/>
          </a:xfrm>
          <a:prstGeom prst="rect">
            <a:avLst/>
          </a:prstGeom>
          <a:solidFill>
            <a:srgbClr val="EEF8F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total_price()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080760" y="1005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444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email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103120"/>
            <a:ext cx="2377440" cy="256032"/>
          </a:xfrm>
          <a:prstGeom prst="rect">
            <a:avLst/>
          </a:prstGeom>
          <a:solidFill>
            <a:srgbClr val="EEF8F8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place_order()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743200"/>
            <a:ext cx="8686800" cy="1737360"/>
          </a:xfrm>
          <a:prstGeom prst="rect">
            <a:avLst/>
          </a:prstGeom>
          <a:solidFill>
            <a:srgbClr val="1A2342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</a:t>
            </a:r>
            <a:r>
              <a:rPr lang="uk-UA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21868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Запишіть 2 сутності вашого проєкту</a:t>
            </a:r>
            <a:r>
              <a:rPr lang="uk-UA" sz="13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(або будь-якого умовного проєкту, якщо не визначились з темою свого)</a:t>
            </a:r>
            <a:r>
              <a:rPr lang="en-US" sz="13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Для кожної</a:t>
            </a:r>
            <a:r>
              <a:rPr lang="uk-UA" sz="13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запишіть</a:t>
            </a:r>
            <a:r>
              <a:rPr lang="en-US" sz="13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2–3 атрибути і 1–2 дії.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Озвучте одну відмінність від звичної вам мови.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Клас, об'єкт, self, __init__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5212080" cy="3566160"/>
          </a:xfrm>
          <a:prstGeom prst="rect">
            <a:avLst/>
          </a:prstGeom>
          <a:solidFill>
            <a:srgbClr val="131C33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10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name, price):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636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.name  =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.price = price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._views =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770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10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</a:t>
            </a:r>
            <a:r>
              <a:rPr lang="en-US" sz="1100" dirty="0">
                <a:solidFill>
                  <a:srgbClr val="C8D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{self.name}</a:t>
            </a:r>
            <a:r>
              <a:rPr lang="en-US" sz="1100" dirty="0">
                <a:solidFill>
                  <a:srgbClr val="F5A623"/>
                </a:solidFill>
                <a:latin typeface="Consolas" pitchFamily="34" charset="0"/>
                <a:cs typeface="Consolas" pitchFamily="34" charset="-120"/>
              </a:rPr>
              <a:t> —</a:t>
            </a:r>
            <a:r>
              <a:rPr lang="en-US" sz="1100" dirty="0">
                <a:solidFill>
                  <a:srgbClr val="C8D6F5"/>
                </a:solidFill>
                <a:latin typeface="Consolas" pitchFamily="34" charset="0"/>
                <a:cs typeface="Consolas" pitchFamily="34" charset="-120"/>
              </a:rPr>
              <a:t> {self.price}</a:t>
            </a: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₴"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741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675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</a:t>
            </a: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("Laptop", 32000)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977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(p.describe())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868680"/>
            <a:ext cx="3154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760720" y="868680"/>
            <a:ext cx="109728" cy="10789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0" y="932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27101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Явний перший аргумент кожного методу. Схожий на this, але видимий у підписі.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2075688"/>
            <a:ext cx="3154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760720" y="2075688"/>
            <a:ext cx="109728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943600" y="21396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47802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— ініціалізує стан об'єкта. Викликається автоматично при p = Product(…).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3282696"/>
            <a:ext cx="3154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760720" y="3282696"/>
            <a:ext cx="109728" cy="10789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94360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_views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3685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 на початку — сигнал: «службове, не чіпай без потреби». Не жорстка заборона.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 класу — спільний для всіх екземплярів. Атрибут екземпляра (self.x) — унікальний для кожного об'єкта.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Практика 1 — Перший Python-клас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43840" y="1231392"/>
            <a:ext cx="530352" cy="5303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43840" y="12313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29640" y="1158240"/>
            <a:ext cx="7909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1066800" y="1158240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Обери</a:t>
            </a: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одну</a:t>
            </a: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сутність</a:t>
            </a: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</a:t>
            </a: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свого</a:t>
            </a: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проєкту (</a:t>
            </a:r>
            <a:r>
              <a:rPr lang="en-US" sz="1300" dirty="0" err="1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</a:t>
            </a: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Product / Order / Client / Article / Booking).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3840" y="2127504"/>
            <a:ext cx="530352" cy="5303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43840" y="21275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9640" y="2054352"/>
            <a:ext cx="7909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066800" y="2054352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Визнач, що об'єкт «знає» → атрибути. Що «вміє» → методи.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3840" y="3023616"/>
            <a:ext cx="530352" cy="5303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43840" y="30236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9640" y="2950464"/>
            <a:ext cx="7909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1066800" y="2950464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клас: __init__ з ≥ 3 атрибутами та 2 методи.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3840" y="3919728"/>
            <a:ext cx="530352" cy="5303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43840" y="39197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9640" y="3846576"/>
            <a:ext cx="7909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1066800" y="3846576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 1–2 об'єкти, виклич методи — переконайся, що код працює.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Інкапсуляція по-пітонівськи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5029200" cy="4117848"/>
          </a:xfrm>
          <a:prstGeom prst="rect">
            <a:avLst/>
          </a:prstGeom>
          <a:solidFill>
            <a:srgbClr val="131C33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84048" y="88696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109270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0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name, price):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29844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.name = name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50418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._validate(price)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70992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.__price = price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156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12140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32714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0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53288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self.__price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7386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94436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@price</a:t>
            </a:r>
            <a:r>
              <a:rPr lang="en-US" sz="100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15010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0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v):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35584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&lt; 0: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56158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ValueError(...)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76732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.__price = 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9730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417880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438454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0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(cls, d):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59028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cls(d[</a:t>
            </a: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d[</a:t>
            </a: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804672"/>
            <a:ext cx="3337560" cy="685800"/>
          </a:xfrm>
          <a:prstGeom prst="rect">
            <a:avLst/>
          </a:prstGeom>
          <a:solidFill>
            <a:srgbClr val="2430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532120" y="804672"/>
            <a:ext cx="9144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715000" y="841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→  публічний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15000" y="1124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Доступний без обмежень. За замовчуванням усе публічне.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1581912"/>
            <a:ext cx="3337560" cy="685800"/>
          </a:xfrm>
          <a:prstGeom prst="rect">
            <a:avLst/>
          </a:prstGeom>
          <a:solidFill>
            <a:srgbClr val="24306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532120" y="1581912"/>
            <a:ext cx="9144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715000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_validate  →  службовий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15000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команді: «внутрішня логіка, не викликай ззовні».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2359152"/>
            <a:ext cx="3337560" cy="685800"/>
          </a:xfrm>
          <a:prstGeom prst="rect">
            <a:avLst/>
          </a:prstGeom>
          <a:solidFill>
            <a:srgbClr val="243060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5532120" y="2359152"/>
            <a:ext cx="9144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71500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__price  →  name mangling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2679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Стає _Product__price. Захист від випадкового доступу.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32120" y="3136392"/>
            <a:ext cx="3337560" cy="685800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5532120" y="3136392"/>
            <a:ext cx="91440" cy="6858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715000" y="3172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 замість getter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71500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p.price — читається як атрибут, але викликає метод із контролем.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32120" y="3913632"/>
            <a:ext cx="3337560" cy="685800"/>
          </a:xfrm>
          <a:prstGeom prst="rect">
            <a:avLst/>
          </a:prstGeom>
          <a:solidFill>
            <a:srgbClr val="243060"/>
          </a:solidFill>
          <a:ln w="12700">
            <a:solidFill>
              <a:srgbClr val="7AB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5532120" y="3913632"/>
            <a:ext cx="91440" cy="685800"/>
          </a:xfrm>
          <a:prstGeom prst="rect">
            <a:avLst/>
          </a:prstGeom>
          <a:solidFill>
            <a:srgbClr val="7ABAFF"/>
          </a:solidFill>
          <a:ln w="12700">
            <a:solidFill>
              <a:srgbClr val="7ABA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5715000" y="3950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@classmethod from_dict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1500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Альтернативний конструктор. cls() — повертає новий об'єкт.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2"/>
          </a:solidFill>
          <a:ln w="12700">
            <a:solidFill>
              <a:srgbClr val="1A234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Три типи методів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88920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екземпляра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06040" cy="438912"/>
          </a:xfrm>
          <a:prstGeom prst="rect">
            <a:avLst/>
          </a:prstGeom>
          <a:solidFill>
            <a:srgbClr val="131C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method(self):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23134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Більшість методів. Читає або змінює стан конкретного об'єкта.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260604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20040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p.describe()  →  знає про свій price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172968" y="914400"/>
            <a:ext cx="278892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172968" y="9144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64408" y="1508760"/>
            <a:ext cx="2606040" cy="438912"/>
          </a:xfrm>
          <a:prstGeom prst="rect">
            <a:avLst/>
          </a:prstGeom>
          <a:solidFill>
            <a:srgbClr val="131C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310128" y="15087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method(cls):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82696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23134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Альтернативні конструктори. Працює з класом, не з конкретним об'єктом.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82696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3429000"/>
            <a:ext cx="260604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310128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Product.from_dict(d)  →  повертає новий об'єкт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163056" y="914400"/>
            <a:ext cx="278892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163056" y="9144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@staticmethod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54496" y="1508760"/>
            <a:ext cx="2606040" cy="438912"/>
          </a:xfrm>
          <a:prstGeom prst="rect">
            <a:avLst/>
          </a:prstGeom>
          <a:solidFill>
            <a:srgbClr val="131C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6300216" y="15087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method():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72784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23134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Допоміжна логіка тематично пов'язана з класом, але не потребує стану.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54496" y="3429000"/>
            <a:ext cx="260604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6300216" y="3429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Product.is_valid_price(v)  →  просто перевіряє число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Практика 2 — Додаємо Python-специфіку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124206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28600" y="12420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1150620"/>
            <a:ext cx="7955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1005840" y="115062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внутрішній метод _validate_...() або _normalize_...().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8600" y="2138172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28600" y="21381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2046732"/>
            <a:ext cx="7955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005840" y="2046732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для поля, яке не варто змінювати безконтрольно + setter із перевіркою.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28600" y="3034284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28600" y="30342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2942844"/>
            <a:ext cx="7955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1005840" y="2942844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 from_dict(cls, d) — створення об'єкта зі словника.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28600" y="3930396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28600" y="39303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68680" y="3838956"/>
            <a:ext cx="7955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1005840" y="3838956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@staticmethod для будь-якої допоміжної перевірки (якщо є логічна).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Успадкування, міксини і MRO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5029200" cy="3977640"/>
          </a:xfrm>
          <a:prstGeom prst="rect">
            <a:avLst/>
          </a:prstGeom>
          <a:solidFill>
            <a:srgbClr val="131C33"/>
          </a:solidFill>
          <a:ln w="12700">
            <a:solidFill>
              <a:srgbClr val="2A3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84048" y="896112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5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TimestampMixin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4048" y="1138428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5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created_label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1380744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f"Створено: {self.created}"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6230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865376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107692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5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name):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350008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.name = 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92324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5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834640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f"Привіт, {self.name}"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0769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3319272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TimestampMixin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561588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05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803904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 = </a:t>
            </a:r>
            <a:r>
              <a:rPr lang="en-US" sz="1050" dirty="0">
                <a:solidFill>
                  <a:srgbClr val="4EC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().greet()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4046220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f"{base} [адмін]"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2885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4530852"/>
            <a:ext cx="46634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B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.mro())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822960"/>
            <a:ext cx="3337560" cy="868680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532120" y="822960"/>
            <a:ext cx="91440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715000" y="877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12252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Викликає метод батьківського класу. Краще ніж дублювати логіку вручну.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32120" y="1828800"/>
            <a:ext cx="3337560" cy="868680"/>
          </a:xfrm>
          <a:prstGeom prst="rect">
            <a:avLst/>
          </a:prstGeom>
          <a:solidFill>
            <a:srgbClr val="24306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5532120" y="1828800"/>
            <a:ext cx="9144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715000" y="1883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Міксини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223113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Невеликі класи з конкретною поведінкою. Додаються в ієрархію без складного дерева.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32120" y="2834640"/>
            <a:ext cx="3337560" cy="868680"/>
          </a:xfrm>
          <a:prstGeom prst="rect">
            <a:avLst/>
          </a:prstGeom>
          <a:solidFill>
            <a:srgbClr val="2430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532120" y="2834640"/>
            <a:ext cx="9144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71500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323697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User → TimestampMixin → object. Python шукає метод зліва направо.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32120" y="3840480"/>
            <a:ext cx="3337560" cy="868680"/>
          </a:xfrm>
          <a:prstGeom prst="rect">
            <a:avLst/>
          </a:prstGeom>
          <a:solidFill>
            <a:srgbClr val="24306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5532120" y="3840480"/>
            <a:ext cx="9144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715000" y="3895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 typing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15000" y="424281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об'єкт має метод greet() — він підходить. Не важливо, до якого класу він належить.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3060"/>
          </a:solidFill>
          <a:ln w="12700">
            <a:solidFill>
              <a:srgbClr val="2430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Magic-методи — точки інтеграції з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88920" cy="43891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__str__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60604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str(obj), print(obj)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8745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Людиночитане подання. Базовий обов'язковий.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5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788920" cy="438912"/>
          </a:xfrm>
          <a:prstGeom prst="rect">
            <a:avLst/>
          </a:prstGeom>
          <a:solidFill>
            <a:srgbClr val="3A5090"/>
          </a:solidFill>
          <a:ln w="12700">
            <a:solidFill>
              <a:srgbClr val="3A509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172968" y="91440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__repr__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444752"/>
            <a:ext cx="260604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310128" y="14447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repr(obj), консоль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82696" y="18745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Технічне подання для розробника.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163056" y="914400"/>
            <a:ext cx="278892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163056" y="91440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__len__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54496" y="1444752"/>
            <a:ext cx="260604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300216" y="14447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len(obj)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72784" y="18745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Підтримка вбудованої функції len().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8346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182880" y="2834640"/>
            <a:ext cx="278892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182880" y="283464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__eq__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364992"/>
            <a:ext cx="260604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320040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obj1 == obj2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об'єктів за змістом, а не за адресою.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72968" y="28346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3172968" y="2834640"/>
            <a:ext cx="2788920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3172968" y="283464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__add__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64408" y="3364992"/>
            <a:ext cx="260604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3310128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obj1 + obj2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82696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Перевантаження оператора. Лише де це природно!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28346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6163056" y="2834640"/>
            <a:ext cx="2788920" cy="438912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6163056" y="283464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54496" y="3364992"/>
            <a:ext cx="260604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6300216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Product(...)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72784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 вже це знаєш — теж magic-метод!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Практика 3 — Magic-методи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9080" y="1264920"/>
            <a:ext cx="64008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59080" y="1264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9080" y="17678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36320" y="1264920"/>
            <a:ext cx="7818120" cy="1005840"/>
          </a:xfrm>
          <a:prstGeom prst="rect">
            <a:avLst/>
          </a:prstGeom>
          <a:solidFill>
            <a:srgbClr val="2430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173480" y="126492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зробить ваш клас зручнішим? Зручний вивід? Порівняння? Підрахунок?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9080" y="2453640"/>
            <a:ext cx="64008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259080" y="2453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9080" y="2956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Вибери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36320" y="2453640"/>
            <a:ext cx="7818120" cy="1005840"/>
          </a:xfrm>
          <a:prstGeom prst="rect">
            <a:avLst/>
          </a:prstGeom>
          <a:solidFill>
            <a:srgbClr val="2430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1173480" y="245364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magic-метод, який справді підходить. Обов'язковий мінімум: __str__.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9080" y="3642360"/>
            <a:ext cx="64008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259080" y="36423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9080" y="4145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36320" y="3642360"/>
            <a:ext cx="7818120" cy="1005840"/>
          </a:xfrm>
          <a:prstGeom prst="rect">
            <a:avLst/>
          </a:prstGeom>
          <a:solidFill>
            <a:srgbClr val="2430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173480" y="3642360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Викличи print(obj) або obj1 == obj2 і переконайся, що результат правильний.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Підсумок і домашнє завдання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86200"/>
          </a:xfrm>
          <a:prstGeom prst="rect">
            <a:avLst/>
          </a:prstGeom>
          <a:solidFill>
            <a:srgbClr val="243060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</a:t>
            </a:r>
            <a:r>
              <a:rPr lang="uk-UA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розглянули</a:t>
            </a: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сьогодні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Класи, об'єкти, self, __init__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Атрибути класу vs екземпляра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Інкапсуляція: _, __, @property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@classmethod і @staticmethod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Успадкування, super(), міксини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MRO — порядок пошуку методів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Duck typing і поліморфізм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Базові magic-методи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886200"/>
          </a:xfrm>
          <a:prstGeom prst="rect">
            <a:avLst/>
          </a:prstGeom>
          <a:solidFill>
            <a:srgbClr val="152044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75488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Обрати предметну область свого Django-проєкту (якщо ще не </a:t>
            </a:r>
            <a:r>
              <a:rPr lang="uk-UA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обрали</a:t>
            </a: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Написати мінімум 2 Python-класи для різних </a:t>
            </a:r>
            <a:r>
              <a:rPr lang="en-US" sz="1150" dirty="0" err="1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сутностей</a:t>
            </a:r>
            <a:r>
              <a:rPr lang="en-US" sz="115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8531</TotalTime>
  <Words>1208</Words>
  <Application>Microsoft Macintosh PowerPoint</Application>
  <PresentationFormat>On-screen Show (16:9)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ООП у Python — заняття 2</dc:title>
  <dc:subject>PptxGenJS Presentation</dc:subject>
  <dc:creator>PptxGenJS</dc:creator>
  <cp:lastModifiedBy>Dmytro Shtefan</cp:lastModifiedBy>
  <cp:revision>4</cp:revision>
  <dcterms:created xsi:type="dcterms:W3CDTF">2026-04-14T06:33:55Z</dcterms:created>
  <dcterms:modified xsi:type="dcterms:W3CDTF">2026-04-21T13:49:15Z</dcterms:modified>
</cp:coreProperties>
</file>