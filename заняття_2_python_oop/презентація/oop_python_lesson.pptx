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4610"/>
  </p:normalViewPr>
  <p:slideViewPr>
    <p:cSldViewPr snapToGrid="0" snapToObjects="1">
      <p:cViewPr>
        <p:scale>
          <a:sx n="190" d="100"/>
          <a:sy n="190" d="100"/>
        </p:scale>
        <p:origin x="45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9779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256032" y="3063240"/>
            <a:ext cx="8887968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54864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ООП у Python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предметна область проєкту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Заняття 2  ·  Python для веб-розробки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0292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 та об'єкти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5176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265176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/ @classmethod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0060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/>
          <p:nvPr/>
        </p:nvSpPr>
        <p:spPr>
          <a:xfrm>
            <a:off x="480060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Успадкування &amp; MRO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949440" y="4160520"/>
            <a:ext cx="1965960" cy="384048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6949440" y="416052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 typing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342"/>
          </a:solidFill>
          <a:ln w="12700">
            <a:solidFill>
              <a:srgbClr val="1A234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сьогодні будемо робити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09728" cy="10972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594360" cy="594360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30759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11556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Пригадуємо </a:t>
            </a: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ОО</a:t>
            </a:r>
            <a:r>
              <a:rPr lang="uk-UA" sz="1500" b="1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148132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</a:t>
            </a: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інкапсуляцію, </a:t>
            </a:r>
            <a:r>
              <a:rPr lang="en-US" sz="1250" dirty="0" err="1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успадкування</a:t>
            </a: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4320" y="228600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274320" y="2286000"/>
            <a:ext cx="109728" cy="10972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457200" y="2542032"/>
            <a:ext cx="594360" cy="594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258775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23957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Python-специфіка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234440" y="276148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@property, duck typing, відсутність class overloading — чому Python вирішує задачі по-своєму.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74320" y="3566160"/>
            <a:ext cx="8595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3"/>
          <p:cNvSpPr/>
          <p:nvPr/>
        </p:nvSpPr>
        <p:spPr>
          <a:xfrm>
            <a:off x="274320" y="3566160"/>
            <a:ext cx="109728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4"/>
          <p:cNvSpPr/>
          <p:nvPr/>
        </p:nvSpPr>
        <p:spPr>
          <a:xfrm>
            <a:off x="457200" y="3822192"/>
            <a:ext cx="594360" cy="5943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" y="3867912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367588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вашого проєкту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234440" y="404164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моделює хоча б одну реальну сутність свого майбутнього Django-проєкту в Python-коді.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ООП — знайоме та нове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концепції. Різний синтаксис і дисципліна.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28600" y="1261872"/>
            <a:ext cx="201168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301752" y="1261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Концепція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31720" y="1261872"/>
            <a:ext cx="320040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404872" y="12618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C# / PHP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23560" y="1261872"/>
            <a:ext cx="3200400" cy="502920"/>
          </a:xfrm>
          <a:prstGeom prst="rect">
            <a:avLst/>
          </a:prstGeom>
          <a:solidFill>
            <a:srgbClr val="0097A7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696712" y="12618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76479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01752" y="1764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Посилання на obj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31720" y="176479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404872" y="17647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(неявний)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23560" y="176479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696712" y="17647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(явний у підписі)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8600" y="2267712"/>
            <a:ext cx="201168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01752" y="22677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Приватність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31720" y="226771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404872" y="22677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protected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23560" y="226771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696712" y="22677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домовленість, __ name mangling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28600" y="277063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01752" y="2770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 / Setter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331720" y="277063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2404872" y="27706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getX() / setX()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23560" y="277063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5696712" y="27706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" y="3273552"/>
            <a:ext cx="201168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301752" y="32735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331720" y="327355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2404872" y="32735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конструкторів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23560" y="3273552"/>
            <a:ext cx="3200400" cy="502920"/>
          </a:xfrm>
          <a:prstGeom prst="rect">
            <a:avLst/>
          </a:prstGeom>
          <a:solidFill>
            <a:srgbClr val="243060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5696712" y="32735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за замовчуванням, @classmethod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28600" y="3776472"/>
            <a:ext cx="201168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301752" y="37764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перевірки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331720" y="377647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2404872" y="3776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/ is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23560" y="3776472"/>
            <a:ext cx="32004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5696712" y="3776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 typing — важлива поведінка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28600" y="45720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Python — менше «церемонії», більше домовленостей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43060"/>
          </a:solidFill>
          <a:ln w="12700">
            <a:solidFill>
              <a:srgbClr val="2430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Предметна область → Python-клас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651760" cy="38404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22860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price, stock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6576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apply_discount()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154680" y="1005840"/>
            <a:ext cx="265176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15468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customer, items, status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329184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total_price()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100584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6080760" y="1005840"/>
            <a:ext cx="265176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080760" y="1005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72200" y="14447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email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2103120"/>
            <a:ext cx="2377440" cy="256032"/>
          </a:xfrm>
          <a:prstGeom prst="rect">
            <a:avLst/>
          </a:prstGeom>
          <a:solidFill>
            <a:srgbClr val="EEF8F8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6217920" y="2103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place_order()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743200"/>
            <a:ext cx="8686800" cy="1737360"/>
          </a:xfrm>
          <a:prstGeom prst="rect">
            <a:avLst/>
          </a:prstGeom>
          <a:solidFill>
            <a:srgbClr val="1A2342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</a:t>
            </a:r>
            <a:r>
              <a:rPr lang="uk-UA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1868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Запишіть 2 сутності вашого проєкту</a:t>
            </a:r>
            <a:r>
              <a:rPr lang="uk-UA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(або будь-якого умовного проєкту, якщо не визначились з темою свого)</a:t>
            </a: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Для кожної</a:t>
            </a:r>
            <a:r>
              <a:rPr lang="uk-UA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запишіть</a:t>
            </a: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2–3 атрибути і 1–2 дії.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Озвучте одну відмінність від звичної вам мови.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Клас, об'єкт, self, __init__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68680"/>
            <a:ext cx="5212080" cy="3566160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261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1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name, price):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563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 = name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8653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.price = price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67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1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._views = 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770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1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723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</a:t>
            </a:r>
            <a:r>
              <a:rPr lang="en-US" sz="1100" dirty="0">
                <a:solidFill>
                  <a:srgbClr val="C8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{self.name}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cs typeface="Consolas" pitchFamily="34" charset="-120"/>
              </a:rPr>
              <a:t> —</a:t>
            </a:r>
            <a:r>
              <a:rPr lang="en-US" sz="1100" dirty="0">
                <a:solidFill>
                  <a:srgbClr val="C8D6F5"/>
                </a:solidFill>
                <a:latin typeface="Consolas" pitchFamily="34" charset="0"/>
                <a:cs typeface="Consolas" pitchFamily="34" charset="-120"/>
              </a:rPr>
              <a:t> {self.price}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₴"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374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6758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</a:t>
            </a:r>
            <a:r>
              <a:rPr lang="en-US" sz="11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("Laptop", 32000)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977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(p.describe())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868680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760720" y="868680"/>
            <a:ext cx="109728" cy="10789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943600" y="9326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0" y="1271016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Явний перший аргумент кожного методу. Схожий на this, але видимий у підписі.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760720" y="2075688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760720" y="2075688"/>
            <a:ext cx="109728" cy="10789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943600" y="213969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2478024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— ініціалізує стан об'єкта. Викликається автоматично при p = Product(…).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3282696"/>
            <a:ext cx="3154680" cy="1078992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760720" y="3282696"/>
            <a:ext cx="109728" cy="10789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943600" y="3346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_views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0" y="36850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на початку — сигнал: «службове, не чіпай без потреби». Не жорстка заборона.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Атрибут класу — спільний для всіх екземплярів. Атрибут екземпляра (self.x) — унікальний для кожного об'єкта.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1 — Перший Python-клас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43840" y="1231392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43840" y="123139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29640" y="1158240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066800" y="1158240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Обери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одну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сутність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свого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проєкту (</a:t>
            </a:r>
            <a:r>
              <a:rPr lang="en-US" sz="1300" dirty="0" err="1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</a:t>
            </a: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Product / Order / Client / Article / Booking).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3840" y="2127504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43840" y="212750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9640" y="2054352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066800" y="2054352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Визнач, що об'єкт «знає» → атрибути. Що «вміє» → методи.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3840" y="3023616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43840" y="302361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9640" y="2950464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1066800" y="2950464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Напиши клас: __init__ з ≥ 3 атрибутами та 2 методи.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3840" y="3919728"/>
            <a:ext cx="530352" cy="5303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43840" y="391972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29640" y="3846576"/>
            <a:ext cx="7909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1066800" y="3846576"/>
            <a:ext cx="7635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Створи 1–2 об'єкти, виклич методи — переконайся, що код працює.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Інкапсуляція по-пітонівськи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04672"/>
            <a:ext cx="5029200" cy="4117848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84048" y="88696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4048" y="10927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name, price):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" y="12984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= name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4048" y="15041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8899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._validate(price)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170992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.__price = price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91566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1214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@property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23271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5328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self.__price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27386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" y="294436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@price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.setter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31501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v):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" y="33558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&lt; 0: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" y="35615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ValueError(...)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76732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.__price = 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" y="397306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048" y="417880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@classmethod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" y="43845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0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from_dict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(cls, d):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" y="459028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cls(d[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d[</a:t>
            </a:r>
            <a:r>
              <a:rPr lang="en-US" sz="10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"price"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80467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532120" y="804672"/>
            <a:ext cx="91440" cy="685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715000" y="8412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→  публічний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715000" y="11247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Доступний без обмежень. За замовчуванням усе публічне.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32120" y="158191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532120" y="1581912"/>
            <a:ext cx="9144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715000" y="1618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_validate  →  службовий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715000" y="19019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команді: «внутрішня логіка, не викликай ззовні».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532120" y="235915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2" name="Shape 30"/>
          <p:cNvSpPr/>
          <p:nvPr/>
        </p:nvSpPr>
        <p:spPr>
          <a:xfrm>
            <a:off x="5532120" y="2359152"/>
            <a:ext cx="91440" cy="68580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57150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__price  →  name mangling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15000" y="2679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Стає _Product__price. Захист від випадкового доступу.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532120" y="313639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5532120" y="3136392"/>
            <a:ext cx="91440" cy="6858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5715000" y="3172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@property замість getter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715000" y="3456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p.price — читається як атрибут, але викликає метод із контролем.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532120" y="3913632"/>
            <a:ext cx="3337560" cy="685800"/>
          </a:xfrm>
          <a:prstGeom prst="rect">
            <a:avLst/>
          </a:prstGeom>
          <a:solidFill>
            <a:srgbClr val="243060"/>
          </a:solidFill>
          <a:ln w="12700">
            <a:solidFill>
              <a:srgbClr val="7ABA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0" name="Shape 38"/>
          <p:cNvSpPr/>
          <p:nvPr/>
        </p:nvSpPr>
        <p:spPr>
          <a:xfrm>
            <a:off x="5532120" y="3913632"/>
            <a:ext cx="91440" cy="685800"/>
          </a:xfrm>
          <a:prstGeom prst="rect">
            <a:avLst/>
          </a:prstGeom>
          <a:solidFill>
            <a:srgbClr val="7ABAFF"/>
          </a:solidFill>
          <a:ln w="12700">
            <a:solidFill>
              <a:srgbClr val="7ABA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5715000" y="39502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@classmethod from_dict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71500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Альтернативний конструктор. cls() — повертає новий об'єкт.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342"/>
          </a:solidFill>
          <a:ln w="12700">
            <a:solidFill>
              <a:srgbClr val="1A234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 типи методів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788920" cy="47548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екземпляра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320040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method(self):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2608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2608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Більшість методів. Читає або змінює стан конкретного об'єкта.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20040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p.describe()  →  знає про свій price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72968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172968" y="914400"/>
            <a:ext cx="2788920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3172968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@classmethod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64408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3310128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method(cls):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282696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Альтернативні конструктори. Працює з класом, не з конкретним об'єктом.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82696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64408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310128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Product.from_dict(d)  →  повертає новий об'єкт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63056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6163056" y="914400"/>
            <a:ext cx="278892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6163056" y="9144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@staticmethod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54496" y="1508760"/>
            <a:ext cx="2606040" cy="438912"/>
          </a:xfrm>
          <a:prstGeom prst="rect">
            <a:avLst/>
          </a:prstGeom>
          <a:solidFill>
            <a:srgbClr val="131C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6300216" y="15087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method():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72784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72784" y="23134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Допоміжна логіка тематично пов'язана з класом, але не потребує стану.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72784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54496" y="3429000"/>
            <a:ext cx="2606040" cy="457200"/>
          </a:xfrm>
          <a:prstGeom prst="rect">
            <a:avLst/>
          </a:prstGeom>
          <a:solidFill>
            <a:srgbClr val="EEF4FF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6300216" y="34290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Product.is_valid_price(v)  →  просто перевіряє число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2 — Додаємо Python-специфіку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228600" y="124206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28600" y="12420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1150620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005840" y="115062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внутрішній метод _validate_...() або _normalize_...().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8600" y="2138172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28600" y="21381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2046732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005840" y="2046732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для поля, яке не варто змінювати безконтрольно + setter із перевіркою.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28600" y="3034284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28600" y="30342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2942844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1005840" y="2942844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@classmethod from_dict(cls, d) — створення об'єкта зі словника.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28600" y="3930396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28600" y="39303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3838956"/>
            <a:ext cx="7955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1005840" y="3838956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@staticmethod для будь-якої допоміжної перевірки (якщо є логічна).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Успадкування, міксини і MRO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5029200" cy="3977640"/>
          </a:xfrm>
          <a:prstGeom prst="rect">
            <a:avLst/>
          </a:prstGeom>
          <a:solidFill>
            <a:srgbClr val="131C33"/>
          </a:solidFill>
          <a:ln w="12700">
            <a:solidFill>
              <a:srgbClr val="2A3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384048" y="89611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TimestampMixin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" y="113842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created_label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4048" y="138074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f"Створено: {self.created}"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" y="16230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84048" y="1865376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210769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name):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235000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.name = name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259232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2834640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f"Привіт, {self.name}"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" y="307695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84048" y="331927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TimestampMixin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" y="3561588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3803904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base = </a:t>
            </a:r>
            <a:r>
              <a:rPr lang="en-US" sz="1050" dirty="0">
                <a:solidFill>
                  <a:srgbClr val="4EC9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().greet()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" y="4046220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f"{base} [адмін]"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4048" y="428853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4048" y="4530852"/>
            <a:ext cx="46634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B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.mro())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32120" y="82296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5532120" y="822960"/>
            <a:ext cx="91440" cy="8686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715000" y="8778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super()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15000" y="1225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Викликає метод батьківського класу. Краще ніж дублювати логіку вручну.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32120" y="182880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5532120" y="1828800"/>
            <a:ext cx="9144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715000" y="18836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Міксини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15000" y="223113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Невеликі класи з конкретною поведінкою. Додаються в ієрархію без складного дерева.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83464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5532120" y="2834640"/>
            <a:ext cx="91440" cy="868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71500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3697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User → TimestampMixin → object. Python шукає метод зліва направо.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840480"/>
            <a:ext cx="3337560" cy="868680"/>
          </a:xfrm>
          <a:prstGeom prst="rect">
            <a:avLst/>
          </a:prstGeom>
          <a:solidFill>
            <a:srgbClr val="243060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3" name="Shape 31"/>
          <p:cNvSpPr/>
          <p:nvPr/>
        </p:nvSpPr>
        <p:spPr>
          <a:xfrm>
            <a:off x="5532120" y="3840480"/>
            <a:ext cx="91440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5715000" y="3895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Duck typing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715000" y="424281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об'єкт має метод greet() — він підходить. Не важливо, до якого класу він належить.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43060"/>
          </a:solidFill>
          <a:ln w="12700">
            <a:solidFill>
              <a:srgbClr val="2430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Magic-методи — точки інтеграції з Python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788920" cy="43891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__str__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320040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str(obj), print(obj)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Людиночитане подання. Базовий обов'язковий.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72968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5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172968" y="914400"/>
            <a:ext cx="2788920" cy="438912"/>
          </a:xfrm>
          <a:prstGeom prst="rect">
            <a:avLst/>
          </a:prstGeom>
          <a:solidFill>
            <a:srgbClr val="3A5090"/>
          </a:solidFill>
          <a:ln w="12700">
            <a:solidFill>
              <a:srgbClr val="3A509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172968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__repr__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3310128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repr(obj), консоль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82696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Технічне подання для розробника.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1440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6163056" y="914400"/>
            <a:ext cx="2788920" cy="43891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163056" y="91440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__len__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54496" y="144475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300216" y="14447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len(obj)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72784" y="18745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вбудованої функції len().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182880" y="2834640"/>
            <a:ext cx="2788920" cy="4389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182880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__eq__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4320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320040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obj1 == obj2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2608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 об'єктів за змістом, а не за адресою.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3172968" y="2834640"/>
            <a:ext cx="2788920" cy="43891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3172968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__add__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264408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3310128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obj1 + obj2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82696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Перевантаження оператора. Лише де це природно!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63056" y="283464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8899B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5" name="Shape 33"/>
          <p:cNvSpPr/>
          <p:nvPr/>
        </p:nvSpPr>
        <p:spPr>
          <a:xfrm>
            <a:off x="6163056" y="2834640"/>
            <a:ext cx="2788920" cy="438912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6163056" y="2834640"/>
            <a:ext cx="2788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254496" y="3364992"/>
            <a:ext cx="2606040" cy="329184"/>
          </a:xfrm>
          <a:prstGeom prst="rect">
            <a:avLst/>
          </a:prstGeom>
          <a:solidFill>
            <a:srgbClr val="EEF4FF"/>
          </a:solidFill>
          <a:ln w="12700">
            <a:solidFill>
              <a:srgbClr val="AABBD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Text 36"/>
          <p:cNvSpPr/>
          <p:nvPr/>
        </p:nvSpPr>
        <p:spPr>
          <a:xfrm>
            <a:off x="6300216" y="336499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3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Product(...)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72784" y="379476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 вже це знаєш — теж magic-метод!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Практика 3 — Magic-методи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9080" y="126492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59080" y="1264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59080" y="17678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36320" y="126492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1173480" y="126492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зробить ваш клас зручнішим? Зручний вивід? Порівняння? Підрахунок?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9080" y="245364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259080" y="24536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9080" y="2956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Вибери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36320" y="245364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1173480" y="245364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magic-метод, який справді підходить. Обов'язковий мінімум: __str__.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9080" y="3642360"/>
            <a:ext cx="640080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259080" y="36423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59080" y="414528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36320" y="3642360"/>
            <a:ext cx="7818120" cy="1005840"/>
          </a:xfrm>
          <a:prstGeom prst="rect">
            <a:avLst/>
          </a:prstGeom>
          <a:solidFill>
            <a:srgbClr val="2430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1173480" y="3642360"/>
            <a:ext cx="7543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Викличи print(obj) або obj1 == obj2 і переконайся, що результат правильний.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Підсумок і домашнє завдання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886200"/>
          </a:xfrm>
          <a:prstGeom prst="rect">
            <a:avLst/>
          </a:prstGeom>
          <a:solidFill>
            <a:srgbClr val="243060"/>
          </a:solidFill>
          <a:ln w="12700">
            <a:solidFill>
              <a:srgbClr val="0097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розглянули</a:t>
            </a:r>
            <a:r>
              <a:rPr lang="en-US" sz="13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Класи, об'єкти, self, __init__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Атрибути класу vs екземпляра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Інкапсуляція: _, __, @property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@classmethod і @staticmethod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Успадкування, super(), міксини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MRO — порядок пошуку методів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Duck typing і поліморфізм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Базові magic-методи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206240" cy="3886200"/>
          </a:xfrm>
          <a:prstGeom prst="rect">
            <a:avLst/>
          </a:prstGeom>
          <a:solidFill>
            <a:srgbClr val="152044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754880" y="9875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Обрати предметну область свого Django-проєкту (якщо ще не </a:t>
            </a:r>
            <a:r>
              <a:rPr lang="uk-UA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обрали</a:t>
            </a: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8D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Написати мінімум 2 Python-класи для різних сутностей.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14104</TotalTime>
  <Words>1208</Words>
  <Application>Microsoft Macintosh PowerPoint</Application>
  <PresentationFormat>On-screen Show (16:9)</PresentationFormat>
  <Paragraphs>215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ООП у Python — заняття 2</dc:title>
  <dc:subject>PptxGenJS Presentation</dc:subject>
  <dc:creator>PptxGenJS</dc:creator>
  <cp:lastModifiedBy>Dmytro Shtefan</cp:lastModifiedBy>
  <cp:revision>5</cp:revision>
  <dcterms:created xsi:type="dcterms:W3CDTF">2026-04-14T06:33:55Z</dcterms:created>
  <dcterms:modified xsi:type="dcterms:W3CDTF">2026-04-25T10:42:18Z</dcterms:modified>
</cp:coreProperties>
</file>