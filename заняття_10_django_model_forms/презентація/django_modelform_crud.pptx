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0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~5 хв
Поясніть студентам цикл на прикладі: «Уявіть, що ви реєструєтесь на сайті. Ви вводите email та пароль, форма відправляє POST, View отримує дані, ModelForm перевіряє чи email унікальний, і якщо все ок — зберігає нового User в БД.»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~7 хв
Запитайте студентів: «Що відбувається, якщо ми додамо нове поле в модель? У Form — треба оновити вручну. У ModelForm — автоматично підтягується!»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~8 хв
Акцент: ніколи не використовуйте fields = '__all__' у продакшн — це ризик безпеки (можна підмінити поле через POST). Завжди явний список.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~6 хв
Покажіть на прикладі: без цих налаштувань поле 'title' матиме лейбл 'Title' (англійський ключ), а не 'Назва завдання'.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~7 хв
Важливо: cleaned_data доступний ПІСЛЯ виклику form.is_valid(). Покажіть студентам типовий flow: if form.is_valid(): → form.cleaned_data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~8 хв
PRG = Post/Redirect/Get. Пояснення: без redirect після POST, якщо користувач натисне F5 — форма відправиться ще раз і запис дублюється!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~6 хв
Нагадайте студентам: {% csrf_token %} — це не опція, це вимога безпеки. Django буде відкидати POST без нього.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~5 хв
commit=False — дуже корисний коли у вас є поле author (ForeignKey до User), яке не показується у формі, але треба встановити з request.user.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~6 хв
Зверніть увагу: get_object_or_404 — стандарт Django. Краще за Task.objects.get() бо автоматично повертає 404 якщо запис не знайдено.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~5 хв
Цікавий факт: у Django є вбудований DeleteView з підтвердженням. Але зараз ми пишемо вручну щоб зрозуміти принцип.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~5 хв
Перекресне посилання: name= у path() і {% url 'name' %} в шаблоні — це одна пара. Завжди використовуйте name= а не хардкод шляху.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~45 хв практики
Підказки:
- Якщо форма не зберігає — перевірте чи є {% csrf_token %}
- Якщо update створює новий запис — перевірте instance=
- Якщо 404 — перевірте urls.py чи підключено app до project/urls.py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~3 хв
Порада студентам: якщо застрягли на якомусь кроці — спробуйте Django Docs (docs.djangoproject.com) або перегляньте slides ще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~2 хв
Цей слайд — резюме заняття. Запропонуйте студентам зробити скріншот для шпаргалки.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931920" y="4572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 ModelForm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Update · Delete та практичні CRUD-цикли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20240" y="3337560"/>
            <a:ext cx="1312164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920240" y="3337560"/>
            <a:ext cx="13121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8EF5"/>
                </a:solidFill>
              </a:rPr>
              <a:t>ModelForm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88436" y="3337560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488436" y="33375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D9A0"/>
                </a:solidFill>
              </a:rPr>
              <a:t>CRUD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30852" y="3337560"/>
            <a:ext cx="891540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530852" y="3337560"/>
            <a:ext cx="891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78424" y="3337560"/>
            <a:ext cx="1312164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678424" y="3337560"/>
            <a:ext cx="13121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6F51"/>
                </a:solidFill>
              </a:rPr>
              <a:t>Templates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8  •  Django Web-розробка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План заняття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713232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4864" cy="713232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D9A0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9144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</a:rPr>
              <a:t>Повний цикл даних у Django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114800" cy="713232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54864" cy="713232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F5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8288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</a:rPr>
              <a:t>ModelForm: навіщо та як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114800" cy="713232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</a:rPr>
              <a:t>Form vs ModelForm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4114800" cy="713232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54864" cy="713232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D9A0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576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</a:rPr>
              <a:t>Meta, fields, labels, widgets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114800" cy="713232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54864" cy="713232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892040" y="9144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F5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9144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</a:rPr>
              <a:t>Валідація в ModelForm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828800"/>
            <a:ext cx="4114800" cy="713232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754880" y="1828800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892040" y="18288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8288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</a:rPr>
              <a:t>Create / Update / Delete сценарії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743200"/>
            <a:ext cx="4114800" cy="713232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754880" y="2743200"/>
            <a:ext cx="54864" cy="7132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892040" y="27432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7432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</a:rPr>
              <a:t>Практика + Домашнє завдання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даних від користувача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Django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 ніж писати код — давайте побачимо, як дані живуть у вашому застосунку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371600" cy="1280160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371600" cy="54864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Користувач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вводить дані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1783080"/>
            <a:ext cx="388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D9A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25980" y="1371600"/>
            <a:ext cx="1371600" cy="128016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2125980" y="1371600"/>
            <a:ext cx="1371600" cy="54864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12598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2598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HTML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Форма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3300" y="1783080"/>
            <a:ext cx="388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D9A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886200" y="1371600"/>
            <a:ext cx="1371600" cy="1280160"/>
          </a:xfrm>
          <a:prstGeom prst="rect">
            <a:avLst/>
          </a:prstGeom>
          <a:solidFill>
            <a:srgbClr val="1A1F2E"/>
          </a:solidFill>
          <a:ln w="19050">
            <a:solidFill>
              <a:srgbClr val="F4A26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886200" y="1371600"/>
            <a:ext cx="13716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88620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8620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обробляє POST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1783080"/>
            <a:ext cx="388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D9A0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646420" y="1371600"/>
            <a:ext cx="1371600" cy="128016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646420" y="1371600"/>
            <a:ext cx="1371600" cy="54864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64642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4642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ModelForm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валідує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63740" y="1783080"/>
            <a:ext cx="388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D9A0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406640" y="1371600"/>
            <a:ext cx="1371600" cy="1280160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7406640" y="1371600"/>
            <a:ext cx="1371600" cy="54864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740664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40664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БД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0DC"/>
                </a:solidFill>
              </a:rPr>
              <a:t>зберігає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926080"/>
            <a:ext cx="8412480" cy="658368"/>
          </a:xfrm>
          <a:prstGeom prst="rect">
            <a:avLst/>
          </a:prstGeom>
          <a:solidFill>
            <a:srgbClr val="242938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94360" y="2962656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</a:rPr>
              <a:t>💡  ModelForm — це клей між HTML-формою та моделлю Django. Він автоматично будує поля, валідує дані та зберігає об'єкт.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Form vs ModelForm — яка різниця?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Порівняємо на реальному прикладі — форма для статті блогу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3291840"/>
          </a:xfrm>
          <a:prstGeom prst="rect">
            <a:avLst/>
          </a:prstGeom>
          <a:solidFill>
            <a:srgbClr val="1A1F2E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02336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forms.Form  (вручну)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3840480" cy="278892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75488" y="169164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676656" y="169164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877824" y="169164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 txBox="1"/>
          <p:nvPr/>
        </p:nvSpPr>
        <p:spPr>
          <a:xfrm>
            <a:off x="530352" y="1874520"/>
            <a:ext cx="351129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ArticleForm(forms.Form):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forms.CharField(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max_length=200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forms.CharField(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widget=forms.Textarea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↓ треба писати вручну!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Article.objects.create(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title=self.cleaned_data['title'],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content=self.cleaned_data['content']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4023360" cy="329184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4023360" cy="347472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4632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</a:rPr>
              <a:t>forms.ModelForm  (авто)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1600200"/>
            <a:ext cx="3840480" cy="278892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047488" y="169164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248656" y="169164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449824" y="169164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 txBox="1"/>
          <p:nvPr/>
        </p:nvSpPr>
        <p:spPr>
          <a:xfrm>
            <a:off x="5102352" y="1874520"/>
            <a:ext cx="351129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ArticleForm(forms.ModelForm):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Meta: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Article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['title', 'content']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Готово! Django сам: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створює поля з моделі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застосовує валідацію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зберігає через .save()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45720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D9A0"/>
                </a:solidFill>
              </a:rPr>
              <a:t>✓  Менше коду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48006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D9A0"/>
                </a:solidFill>
              </a:rPr>
              <a:t>✓  Автоматична валідація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45720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D9A0"/>
                </a:solidFill>
              </a:rPr>
              <a:t>✓  Синхронізація з моделлю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48006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D9A0"/>
                </a:solidFill>
              </a:rPr>
              <a:t>✓  Вбудований .save()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Мінімальний ModelForm: клас Meta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486400" cy="292608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85216" y="9601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86384" y="9601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 txBox="1"/>
          <p:nvPr/>
        </p:nvSpPr>
        <p:spPr>
          <a:xfrm>
            <a:off x="438912" y="1143000"/>
            <a:ext cx="54772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models.py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Task(models.Model):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   = models.CharField(max_length=200)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     = models.BooleanField(default=False)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  = models.DateTimeField(auto_now_add=True)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 = models.IntegerField(default=0)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forms.py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 import forms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Task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TaskForm(forms.ModelForm):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Meta: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 = Task       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яку модель обслуговує ця форма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['title', 'priority']  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тільки ці поля показуємо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89320" y="868680"/>
            <a:ext cx="2971800" cy="1261872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989320" y="868680"/>
            <a:ext cx="64008" cy="1261872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144768" y="978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F5"/>
                </a:solidFill>
              </a:rPr>
              <a:t>model =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44768" y="13075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</a:rPr>
              <a:t>Вказуємо клас моделі. Django дивиться на її поля і будує HTML-елементи автоматично.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258568"/>
            <a:ext cx="2971800" cy="1261872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989320" y="2258568"/>
            <a:ext cx="64008" cy="1261872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144768" y="236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D9A0"/>
                </a:solidFill>
              </a:rPr>
              <a:t>fields =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2697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</a:rPr>
              <a:t>Явний список. Краще ніж '__all__' — ви контролюєте що бачить користувач.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648456"/>
            <a:ext cx="2971800" cy="1261872"/>
          </a:xfrm>
          <a:prstGeom prst="rect">
            <a:avLst/>
          </a:prstGeom>
          <a:solidFill>
            <a:srgbClr val="1A1F2E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989320" y="3648456"/>
            <a:ext cx="64008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144768" y="3758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Не треба давати: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40873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</a:rPr>
              <a:t>created (auto_now_add), password, is_staff — службові поля!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Labels, Widgets і Help_text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Як налаштувати зовнішній вигляд та підказки форми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303520" cy="374904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85216" y="11887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786384" y="11887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 txBox="1"/>
          <p:nvPr/>
        </p:nvSpPr>
        <p:spPr>
          <a:xfrm>
            <a:off x="438912" y="1371600"/>
            <a:ext cx="497433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TaskForm(forms.ModelForm):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Meta: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 = Task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['title', 'priority', 'done']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labels =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'title':    'Назва завдання',  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текст над полем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'priority': 'Пріоритет',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'done':     'Виконано?',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widgets =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Textarea замість однорядкового input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'title': forms.Textarea(attrs={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'rows': 3,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'class': 'my-css-class',  # Bootstrap тощо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'placeholder': 'Введіть назву...'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'priority': forms.NumberInput(attrs={'min': 0, 'max': 10}),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help_texts =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'priority': 'Число від 0 (низький) до 10 (критичний)',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097280"/>
            <a:ext cx="3246120" cy="3749040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760720" y="1097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Так виглядає форма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5727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0DC"/>
                </a:solidFill>
              </a:rPr>
              <a:t>Назва завдання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1847088"/>
            <a:ext cx="2926080" cy="502920"/>
          </a:xfrm>
          <a:prstGeom prst="rect">
            <a:avLst/>
          </a:prstGeom>
          <a:solidFill>
            <a:srgbClr val="131720"/>
          </a:solidFill>
          <a:ln w="1270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897880" y="26243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0DC"/>
                </a:solidFill>
              </a:rPr>
              <a:t>Пріоритет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2898648"/>
            <a:ext cx="2926080" cy="292608"/>
          </a:xfrm>
          <a:prstGeom prst="rect">
            <a:avLst/>
          </a:prstGeom>
          <a:solidFill>
            <a:srgbClr val="131720"/>
          </a:solidFill>
          <a:ln w="1270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897880" y="346557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ℹ️ Число від 0 до 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97880" y="36758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0DC"/>
                </a:solidFill>
              </a:rPr>
              <a:t>Виконано?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3950208"/>
            <a:ext cx="2926080" cy="292608"/>
          </a:xfrm>
          <a:prstGeom prst="rect">
            <a:avLst/>
          </a:prstGeom>
          <a:solidFill>
            <a:srgbClr val="131720"/>
          </a:solidFill>
          <a:ln w="1270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Валідація в ModelForm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120640" cy="397764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85216" y="9601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86384" y="9601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 txBox="1"/>
          <p:nvPr/>
        </p:nvSpPr>
        <p:spPr>
          <a:xfrm>
            <a:off x="438912" y="1143000"/>
            <a:ext cx="4791456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TaskForm(forms.ModelForm):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Meta: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 = Task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['title', 'priority']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Валідація одного поля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clean_priority(self):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 = self.cleaned_data['priority']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value &lt; 0 or value &gt; 10: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forms.ValidationError(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'Пріоритет має бути від 0 до 10!'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value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Валідація кількох полів одночасно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clean(self):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cleaned = super().clean()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    = cleaned.get('title', '')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priority = cleaned.get('priority', 0)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priority &gt; 8 and 'ВАЖЛИВО' not in title.upper():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forms.ValidationError(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'Критичне завдання має містити ВАЖЛИВО!'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cleaned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868680"/>
            <a:ext cx="3429000" cy="91440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577840" y="868680"/>
            <a:ext cx="54864" cy="9144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715000" y="94183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D9A0"/>
                </a:solidFill>
              </a:rPr>
              <a:t>Вбудована валідація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2161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ModelForm автоматично перевіряє: тип поля (IntegerField не приймає 'abc'), max_length, blank=False тощо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892808"/>
            <a:ext cx="3429000" cy="914400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577840" y="1892808"/>
            <a:ext cx="54864" cy="914400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715000" y="196596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EF5"/>
                </a:solidFill>
              </a:rPr>
              <a:t>clean_&lt;field&gt;()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Метод для конкретного поля. Отримуєте вже базово-провалідоване значення з self.cleaned_data.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916936"/>
            <a:ext cx="3429000" cy="914400"/>
          </a:xfrm>
          <a:prstGeom prst="rect">
            <a:avLst/>
          </a:prstGeom>
          <a:solidFill>
            <a:srgbClr val="1A1F2E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577840" y="2916936"/>
            <a:ext cx="54864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715000" y="299008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clean()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3264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Загальна валідація — перевірки між кількома полями. Завжди викликайте super().clean().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3941064"/>
            <a:ext cx="3429000" cy="914400"/>
          </a:xfrm>
          <a:prstGeom prst="rect">
            <a:avLst/>
          </a:prstGeom>
          <a:solidFill>
            <a:srgbClr val="1A1F2E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577840" y="3941064"/>
            <a:ext cx="54864" cy="9144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715000" y="40142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form.errors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4198070"/>
            <a:ext cx="33540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Словник помилок по полях. У шаблоні: {{ form.field.errors }}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Create-сценарій: покроково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Як правильно обробити форму створення нового об'єкта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166360" cy="356616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85216" y="123444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786384" y="123444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 txBox="1"/>
          <p:nvPr/>
        </p:nvSpPr>
        <p:spPr>
          <a:xfrm>
            <a:off x="438912" y="1417320"/>
            <a:ext cx="483717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views.py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render, redirect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.forms import TaskForm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task_create(request):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request.method == 'POST':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1. Створюємо форму з даними запиту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 = TaskForm(request.POST)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2. Перевіряємо валідність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form.is_valid():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3. Зберігаємо — повертає новий об'єкт Task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task = form.save()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4. Редіректимо (PRG-патерн!)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redirect('task_list')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GET запит — показуємо порожню форму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 = TaskForm()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render(request, 'tasks/form.html', {'form': form})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1143000"/>
            <a:ext cx="3337560" cy="612648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715000" y="1271016"/>
            <a:ext cx="347472" cy="347472"/>
          </a:xfrm>
          <a:prstGeom prst="ellipse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71500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117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53912" y="1234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</a:rPr>
              <a:t>GET → порожня форма → render()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755648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8EF5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1856232"/>
            <a:ext cx="3337560" cy="612648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715000" y="1984248"/>
            <a:ext cx="347472" cy="347472"/>
          </a:xfrm>
          <a:prstGeom prst="ellipse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71500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117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3912" y="194767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</a:rPr>
              <a:t>POST → TaskForm(request.POST)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468880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D9A0"/>
                </a:solidFill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2569464"/>
            <a:ext cx="3337560" cy="612648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715000" y="2697480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71500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117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53912" y="2660904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</a:rPr>
              <a:t>is_valid() → перевірка + cleaned_data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18211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3282696"/>
            <a:ext cx="3337560" cy="612648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715000" y="3410712"/>
            <a:ext cx="347472" cy="347472"/>
          </a:xfrm>
          <a:prstGeom prst="ellipse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71500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117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74136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</a:rPr>
              <a:t>form.save() → INSERT в БД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895344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D9A0"/>
                </a:solidFill>
              </a:rPr>
              <a:t>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3995928"/>
            <a:ext cx="3337560" cy="612648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5715000" y="4123944"/>
            <a:ext cx="347472" cy="3474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571500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117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53912" y="4087368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</a:rPr>
              <a:t>redirect() → PRG-патерн, без дублів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Шаблон форми: create та update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Один шаблон — для обох сценаріїв! Різниця тільки в action 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166360" cy="374904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85216" y="11887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786384" y="11887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 txBox="1"/>
          <p:nvPr/>
        </p:nvSpPr>
        <p:spPr>
          <a:xfrm>
            <a:off x="438912" y="1371600"/>
            <a:ext cx="483717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tasks/templates/tasks/form.html #}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'base.html' %}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&lt;h2&gt;{% if form.instance.pk %}Редагування{% else %}Нове завдання{% endif %}&lt;/h2&gt;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csrf_token %}    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захист від CSRF-атак — обов'язково! #}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form.as_p }}     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рендеримо всі поля як &lt;p&gt; блоки #}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або по одному: #}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&lt;label&gt;{{ form.title.label }}&lt;/label&gt;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form.title }}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form.title.errors }}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if form.instance.pk %}Зберегти{% else %}Створити{% endif %}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1097280"/>
            <a:ext cx="3337560" cy="859536"/>
          </a:xfrm>
          <a:prstGeom prst="rect">
            <a:avLst/>
          </a:prstGeom>
          <a:solidFill>
            <a:srgbClr val="1A1F2E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66928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118872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{% csrf_token %}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481328"/>
            <a:ext cx="2697480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Завжди! Без нього POST поверне 403 Forbidden.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2066544"/>
            <a:ext cx="3337560" cy="859536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66928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72200" y="215798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EF5"/>
                </a:solidFill>
              </a:rPr>
              <a:t>form.as_p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4048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Швидкий спосіб — всі поля з лейблами у &lt;p&gt; тегах. Є також as_ul, as_table.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3035808"/>
            <a:ext cx="3337560" cy="859536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669280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312724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D9A0"/>
                </a:solidFill>
              </a:rPr>
              <a:t>form.instance.pk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33741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None для нового, ID для існуючого. Дозволяє один шаблон для create і update.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4005072"/>
            <a:ext cx="3337560" cy="859536"/>
          </a:xfrm>
          <a:prstGeom prst="rect">
            <a:avLst/>
          </a:prstGeom>
          <a:solidFill>
            <a:srgbClr val="1A1F2E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6692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72200" y="409651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form.field.errors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4343400"/>
            <a:ext cx="2697480" cy="369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Виводимо помилки поруч з полем. Без цього студент не бачить що пішло не так.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form.save() — що відбувається всередині?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224028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85216" y="9601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86384" y="9601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 txBox="1"/>
          <p:nvPr/>
        </p:nvSpPr>
        <p:spPr>
          <a:xfrm>
            <a:off x="438912" y="1143000"/>
            <a:ext cx="826617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form.save() без аргументів — зберігає одразу в БД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= form.save()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 — це повноцінний об'єкт Task з task.pk, task.title тощо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commit=False — створює об'єкт, але НЕ зберігає в БД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= form.save(commit=False)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task.author = request.user   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додаємо поле, якого немає у формі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task.save()                  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тепер зберігаємо вручну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Якщо є ManyToMany — треба викликати save_m2m()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form.save_m2m()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46120"/>
            <a:ext cx="4160520" cy="160020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274320" y="3246120"/>
            <a:ext cx="64008" cy="16002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29768" y="3337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D9A0"/>
                </a:solidFill>
              </a:rPr>
              <a:t>commit=True (за замовч.)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D9A0"/>
                </a:solidFill>
              </a:rPr>
              <a:t>✓</a:t>
            </a:r>
            <a:r>
              <a:rPr lang="en-US" sz="1200" dirty="0">
                <a:solidFill>
                  <a:srgbClr val="C8D0DC"/>
                </a:solidFill>
              </a:rPr>
              <a:t>  Виконує INSERT або UPDATE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4D9A0"/>
                </a:solidFill>
              </a:rPr>
              <a:t>✓</a:t>
            </a:r>
            <a:r>
              <a:rPr lang="uk-UA" sz="1200" b="1" dirty="0"/>
              <a:t>  </a:t>
            </a:r>
            <a:r>
              <a:rPr lang="en-US" sz="1200" dirty="0">
                <a:solidFill>
                  <a:srgbClr val="C8D0DC"/>
                </a:solidFill>
              </a:rPr>
              <a:t>Повертає збережений об'єкт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4D9A0"/>
                </a:solidFill>
              </a:rPr>
              <a:t>✓</a:t>
            </a:r>
            <a:r>
              <a:rPr lang="uk-UA" sz="1200" b="1" dirty="0"/>
              <a:t>. </a:t>
            </a:r>
            <a:r>
              <a:rPr lang="en-US" sz="1200" dirty="0">
                <a:solidFill>
                  <a:srgbClr val="C8D0DC"/>
                </a:solidFill>
              </a:rPr>
              <a:t>Об'єкт має pk (ID з БД)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4206240" cy="1600200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663440" y="3246120"/>
            <a:ext cx="64008" cy="1600200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18888" y="3337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F5"/>
                </a:solidFill>
              </a:rPr>
              <a:t>commit=False (ручне збереження)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F5"/>
                </a:solidFill>
              </a:rPr>
              <a:t>→</a:t>
            </a:r>
            <a:r>
              <a:rPr lang="en-US" sz="1200" dirty="0">
                <a:solidFill>
                  <a:srgbClr val="C8D0DC"/>
                </a:solidFill>
              </a:rPr>
              <a:t>  Об'єкт у пам'яті, pk = None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C8EF5"/>
                </a:solidFill>
              </a:rPr>
              <a:t>→</a:t>
            </a:r>
            <a:r>
              <a:rPr lang="uk-UA" sz="1200" b="1" dirty="0"/>
              <a:t>. </a:t>
            </a:r>
            <a:r>
              <a:rPr lang="en-US" sz="1200" dirty="0">
                <a:solidFill>
                  <a:srgbClr val="C8D0DC"/>
                </a:solidFill>
              </a:rPr>
              <a:t>Додайте поля що не у формі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C8EF5"/>
                </a:solidFill>
              </a:rPr>
              <a:t>→</a:t>
            </a:r>
            <a:r>
              <a:rPr lang="uk-UA" sz="1200" b="1" dirty="0"/>
              <a:t>. </a:t>
            </a:r>
            <a:r>
              <a:rPr lang="en-US" sz="1200" dirty="0">
                <a:solidFill>
                  <a:srgbClr val="C8D0DC"/>
                </a:solidFill>
              </a:rPr>
              <a:t>Потім .save() + save_m2m()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Update-сценарій: instance=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Різниця між create і update — лише один параметр instance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166360" cy="347472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85216" y="11887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786384" y="11887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 txBox="1"/>
          <p:nvPr/>
        </p:nvSpPr>
        <p:spPr>
          <a:xfrm>
            <a:off x="438912" y="1371600"/>
            <a:ext cx="48371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views.py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get_object_or_404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task_update(request, pk):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Отримуємо існуючий об'єкт або 404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 = get_object_or_404(Task, pk=pk)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request.method == 'POST':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↓ instance= говорить "оновлюй цей конкретний запис"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 = TaskForm(request.POST, instance=task)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form.is_valid():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form.save()   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виконає UPDATE, не INSERT!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redirect('task_list')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GET — форма PRE-POPULATED даними з task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 = TaskForm(instance=task)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render(request, 'tasks/form.html', {'form': form})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1097280"/>
            <a:ext cx="3337560" cy="114300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623560" y="1097280"/>
            <a:ext cx="3337560" cy="347472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623560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</a:rPr>
              <a:t>CREATE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0" y="1508760"/>
            <a:ext cx="3154680" cy="50292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824728" y="160020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6025896" y="160020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6227064" y="160020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 txBox="1"/>
          <p:nvPr/>
        </p:nvSpPr>
        <p:spPr>
          <a:xfrm>
            <a:off x="5879592" y="1783080"/>
            <a:ext cx="2825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TaskForm(request.POST)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2377440"/>
            <a:ext cx="3337560" cy="1143000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623560" y="2377440"/>
            <a:ext cx="3337560" cy="347472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623560" y="2377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</a:rPr>
              <a:t>UPDATE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15000" y="2788920"/>
            <a:ext cx="3154680" cy="50292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824728" y="288036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6025896" y="288036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6227064" y="288036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 txBox="1"/>
          <p:nvPr/>
        </p:nvSpPr>
        <p:spPr>
          <a:xfrm>
            <a:off x="5879592" y="3063240"/>
            <a:ext cx="2825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TaskForm(request.POST, instance=t)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3749040"/>
            <a:ext cx="3337560" cy="1097280"/>
          </a:xfrm>
          <a:prstGeom prst="rect">
            <a:avLst/>
          </a:prstGeom>
          <a:solidFill>
            <a:srgbClr val="1A1F2E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760720" y="3822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🎯 Ключовий момент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41422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DC"/>
                </a:solidFill>
              </a:rPr>
              <a:t>instance= визначає чи буде INSERT чи UPDATE.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0DC"/>
                </a:solidFill>
              </a:rPr>
              <a:t>GET з instance= автоматично заповнює форму поточними даними.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Delete-сценарій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Delete не потребує форми, але потребує підтвердження!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166360" cy="237744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85216" y="11887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786384" y="11887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 txBox="1"/>
          <p:nvPr/>
        </p:nvSpPr>
        <p:spPr>
          <a:xfrm>
            <a:off x="438912" y="1371600"/>
            <a:ext cx="48371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views.py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task_delete(request, pk):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 = get_object_or_404(Task, pk=pk)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request.method == 'POST':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Видаляємо тільки якщо користувач підтвердив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task.delete()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redirect('task_list')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GET — показуємо сторінку підтвердження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render(request, 'tasks/delete_confirm.html', {'task': task})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11880"/>
            <a:ext cx="5166360" cy="141732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384048" y="37033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85216" y="37033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786384" y="37033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 txBox="1"/>
          <p:nvPr/>
        </p:nvSpPr>
        <p:spPr>
          <a:xfrm>
            <a:off x="438912" y="3886200"/>
            <a:ext cx="48371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tasks/delete_confirm.html #}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&lt;h2&gt;Видалити "{{ task.title }}"?&lt;/h2&gt;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csrf_token %}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type="submit"&gt;Так, видалити&lt;/button&gt;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href="{% url 'task_list' %}"&gt;Скасувати&lt;/a&gt;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1097280"/>
            <a:ext cx="3337560" cy="859536"/>
          </a:xfrm>
          <a:prstGeom prst="rect">
            <a:avLst/>
          </a:prstGeom>
          <a:solidFill>
            <a:srgbClr val="1A1F2E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66928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18872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Ніколи GET для Delete!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14813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Якщо &lt;a href='/delete/1'&gt; — Google-бот або preview може знищити дані!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2066544"/>
            <a:ext cx="3337560" cy="859536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66928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215798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D9A0"/>
                </a:solidFill>
              </a:rPr>
              <a:t>Тільки POST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4505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Кнопка в формі з {% csrf_token %}. POST — дія що змінює стан.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3035808"/>
            <a:ext cx="3337560" cy="859536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669280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312724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EF5"/>
                </a:solidFill>
              </a:rPr>
              <a:t>Redirect після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41985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Після успішного delete — redirect, щоб уникнути повторного запиту.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4005072"/>
            <a:ext cx="3337560" cy="859536"/>
          </a:xfrm>
          <a:prstGeom prst="rect">
            <a:avLst/>
          </a:prstGeom>
          <a:solidFill>
            <a:srgbClr val="1A1F2E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6692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72200" y="409651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Підтвердження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4389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</a:rPr>
              <a:t>Сторінка 'Ви впевнені?' запобігає випадковому видаленню.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Підключаємо URL-маршрути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303520" cy="320040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85216" y="9601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86384" y="9601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 txBox="1"/>
          <p:nvPr/>
        </p:nvSpPr>
        <p:spPr>
          <a:xfrm>
            <a:off x="338328" y="1145286"/>
            <a:ext cx="523951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tasks/urls.py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django.urls import path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 import views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path('', views.task_list,</a:t>
            </a:r>
            <a:r>
              <a:rPr lang="uk-UA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name='task_list'),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path('create/', views.task_create, name='task_create'),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path('&lt;int:pk&gt;/edit/’,</a:t>
            </a:r>
            <a:r>
              <a:rPr lang="uk-UA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views.task_update, name='task_update'),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path('&lt;int:pk&gt;/delete/', views.task_delete, name='task_delete'),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У шаблонах використовуємо назви (name=):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href="{% url 'task_create' %}"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href="{% url 'task_update' pk=task.pk %}"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href="{% url 'task_delete' pk=task.pk %}"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60720" y="868680"/>
            <a:ext cx="3246120" cy="3200400"/>
          </a:xfrm>
          <a:prstGeom prst="rect">
            <a:avLst/>
          </a:prstGeom>
          <a:solidFill>
            <a:srgbClr val="1A1F2E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760720" y="8686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Маршрути CRUD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06440" y="1307592"/>
            <a:ext cx="594360" cy="274320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806440" y="13075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64808" y="1307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90688" y="1307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DC"/>
                </a:solidFill>
              </a:rPr>
              <a:t>Список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06440" y="1645920"/>
            <a:ext cx="594360" cy="274320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806440" y="1645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64808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90688" y="1645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DC"/>
                </a:solidFill>
              </a:rPr>
              <a:t>Порожня форма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1984248"/>
            <a:ext cx="594360" cy="274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806440" y="19842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64808" y="1984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90688" y="19842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DC"/>
                </a:solidFill>
              </a:rPr>
              <a:t>Збереження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2322576"/>
            <a:ext cx="594360" cy="274320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806440" y="23225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64808" y="2322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/&lt;pk&gt;/edit/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90688" y="23225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DC"/>
                </a:solidFill>
              </a:rPr>
              <a:t>Заповнена форма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06440" y="2660904"/>
            <a:ext cx="594360" cy="274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806440" y="26609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64808" y="2660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/&lt;pk&gt;/edit/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90688" y="26609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DC"/>
                </a:solidFill>
              </a:rPr>
              <a:t>Оновлення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06440" y="2999232"/>
            <a:ext cx="594360" cy="274320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5806440" y="29992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64808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/&lt;pk&gt;/delete/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90688" y="29992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DC"/>
                </a:solidFill>
              </a:rPr>
              <a:t>Підтвердження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06440" y="3337560"/>
            <a:ext cx="594360" cy="274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806440" y="33375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64808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/&lt;pk&gt;/delete/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90688" y="3337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DC"/>
                </a:solidFill>
              </a:rPr>
              <a:t>Видалення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5303520" cy="640080"/>
          </a:xfrm>
          <a:prstGeom prst="rect">
            <a:avLst/>
          </a:prstGeom>
          <a:solidFill>
            <a:srgbClr val="242938"/>
          </a:solidFill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457200" y="42428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</a:rPr>
              <a:t>💡  redirect('task_list') використовує name= з urlpatterns. Якщо URL зміниться — код у views не треба чіпати!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Практика на занятті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274320" y="1020530"/>
            <a:ext cx="4206240" cy="1783080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274320" y="1020530"/>
            <a:ext cx="4206240" cy="384048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84048" y="102053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7"/>
                </a:solidFill>
              </a:rPr>
              <a:t>01  Модель + ModelForm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02053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49601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8EF5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Перевірте чи є модель (Article, Task або своя)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79777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8EF5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Створіть forms.py з класом ModelForm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09952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8EF5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Поля: title, content (або аналогічні)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40127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8EF5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Додайте labels та widgets за смаком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40770"/>
            <a:ext cx="4206240" cy="178308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274320" y="2940770"/>
            <a:ext cx="4206240" cy="384048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84048" y="294077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7"/>
                </a:solidFill>
              </a:rPr>
              <a:t>02  Create View + Template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94077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1625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9A0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Напишіть view task_create з GET/POST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71801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9A0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Підключіть URL /create/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01976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9A0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Зробіть шаблон form.html з {% csrf_token %}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32151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9A0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Перевірте: заповніть форму, натисніть Submit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020530"/>
            <a:ext cx="4206240" cy="1783080"/>
          </a:xfrm>
          <a:prstGeom prst="rect">
            <a:avLst/>
          </a:prstGeom>
          <a:solidFill>
            <a:srgbClr val="1A1F2E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709160" y="1020530"/>
            <a:ext cx="420624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818888" y="102053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7"/>
                </a:solidFill>
              </a:rPr>
              <a:t>03  Update 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75320" y="102053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149601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Скопіюйте create view, </a:t>
            </a:r>
            <a:r>
              <a:rPr lang="en-US" sz="1050" dirty="0" err="1">
                <a:solidFill>
                  <a:srgbClr val="C8D0DC"/>
                </a:solidFill>
              </a:rPr>
              <a:t>додайте</a:t>
            </a:r>
            <a:r>
              <a:rPr lang="en-US" sz="1050" dirty="0">
                <a:solidFill>
                  <a:srgbClr val="C8D0DC"/>
                </a:solidFill>
              </a:rPr>
              <a:t> pk параметр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179777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TaskForm(request.POST, instance=task)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209952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Переконайтесь: форма заповнена поточними даними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40127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Збережіть — перевірте що це UPDATE не INSERT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940770"/>
            <a:ext cx="4206240" cy="1783080"/>
          </a:xfrm>
          <a:prstGeom prst="rect">
            <a:avLst/>
          </a:prstGeom>
          <a:solidFill>
            <a:srgbClr val="1A1F2E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4709160" y="2940770"/>
            <a:ext cx="420624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818888" y="294077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7"/>
                </a:solidFill>
              </a:rPr>
              <a:t>04  Delete + Redirect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294077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41625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View з POST-only видаленням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371801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Сторінка підтвердження delete_confirm.html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401976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redirect після успішного delete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432151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›</a:t>
            </a:r>
            <a:r>
              <a:rPr lang="en-US" sz="1050" dirty="0">
                <a:solidFill>
                  <a:srgbClr val="C8D0DC"/>
                </a:solidFill>
              </a:rPr>
              <a:t>  Перевірте всі 4 операції CRUD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Домашнє завдання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64008" cy="18288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29768" y="1024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D9A0"/>
                </a:solidFill>
              </a:rPr>
              <a:t>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10241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Допрацювати create/update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50" dirty="0">
                <a:solidFill>
                  <a:srgbClr val="C8D0DC"/>
                </a:solidFill>
              </a:rPr>
              <a:t>Зробити або доробити</a:t>
            </a:r>
            <a:r>
              <a:rPr lang="en-US" sz="1150" dirty="0">
                <a:solidFill>
                  <a:srgbClr val="C8D0DC"/>
                </a:solidFill>
              </a:rPr>
              <a:t> сценарії create та update через ModelForm. Переконатися, що всі поля відображаються коректно.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0624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64008" cy="18288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64608" y="1024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D9A0"/>
                </a:solidFill>
              </a:rPr>
              <a:t>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3832" y="10241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Перевірити збереження в БД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444752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</a:rPr>
              <a:t>Дані реально зберігаються і відображаються на сторінках проєкту. Перевірте через Django Admin або через list-view.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20624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F4A26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64008" cy="1828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29768" y="30358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A261"/>
                </a:solidFill>
              </a:rPr>
              <a:t>★★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0358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без дублікату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</a:rPr>
              <a:t>Переконатися, що update не створює дублікат запису, а змінює існуючий. Підказка: порівняйте ID записів до і після.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20624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E76F5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64008" cy="1828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864608" y="30358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6F5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13832" y="30358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Delete + UI підтвердження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456432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</a:rPr>
              <a:t>Додати сценарій видалення або підтвердження дії на рівні інтерфейсу. Реалізувати сторінку 'Ви впевнені?'.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за 5 рядків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0"/>
          </a:xfrm>
          <a:prstGeom prst="line">
            <a:avLst/>
          </a:prstGeom>
          <a:noFill/>
          <a:ln w="19050">
            <a:solidFill>
              <a:srgbClr val="2429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2926080"/>
          </a:xfrm>
          <a:prstGeom prst="rect">
            <a:avLst/>
          </a:prstGeom>
          <a:solidFill>
            <a:srgbClr val="131720"/>
          </a:solidFill>
          <a:ln w="19050">
            <a:solidFill>
              <a:srgbClr val="24293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109728" cy="109728"/>
          </a:xfrm>
          <a:prstGeom prst="ellipse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85216" y="960120"/>
            <a:ext cx="109728" cy="10972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86384" y="960120"/>
            <a:ext cx="109728" cy="109728"/>
          </a:xfrm>
          <a:prstGeom prst="ellipse">
            <a:avLst/>
          </a:prstGeom>
          <a:solidFill>
            <a:srgbClr val="00CC55"/>
          </a:solidFill>
          <a:ln w="12700">
            <a:solidFill>
              <a:srgbClr val="00CC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 txBox="1"/>
          <p:nvPr/>
        </p:nvSpPr>
        <p:spPr>
          <a:xfrm>
            <a:off x="438912" y="1143000"/>
            <a:ext cx="826617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= TaskForm(request.POST)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form.is_valid(): task = form.save(); return redirect('task_list')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(список)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= Task.objects.all()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= TaskForm(request.POST, instance=task)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form.is_valid(): form.save(); return redirect('task_list')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task.delete(); return redirect('task_list')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931920"/>
            <a:ext cx="2651760" cy="45720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274320" y="3931920"/>
            <a:ext cx="54864" cy="4572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DC"/>
                </a:solidFill>
              </a:rPr>
              <a:t>ModelForm(Meta: model + fields)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3931920"/>
            <a:ext cx="2651760" cy="457200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3108960" y="3931920"/>
            <a:ext cx="54864" cy="457200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324612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DC"/>
                </a:solidFill>
              </a:rPr>
              <a:t>form.is_valid() → cleaned_data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3931920"/>
            <a:ext cx="2651760" cy="457200"/>
          </a:xfrm>
          <a:prstGeom prst="rect">
            <a:avLst/>
          </a:prstGeom>
          <a:solidFill>
            <a:srgbClr val="1A1F2E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943600" y="3931920"/>
            <a:ext cx="54864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08076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DC"/>
                </a:solidFill>
              </a:rPr>
              <a:t>form.save() = INSERT або UPDATE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2651760" cy="457200"/>
          </a:xfrm>
          <a:prstGeom prst="rect">
            <a:avLst/>
          </a:prstGeom>
          <a:solidFill>
            <a:srgbClr val="1A1F2E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274320" y="4480560"/>
            <a:ext cx="54864" cy="457200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DC"/>
                </a:solidFill>
              </a:rPr>
              <a:t>commit=False → .save() вручну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08960" y="4480560"/>
            <a:ext cx="2651760" cy="457200"/>
          </a:xfrm>
          <a:prstGeom prst="rect">
            <a:avLst/>
          </a:prstGeom>
          <a:solidFill>
            <a:srgbClr val="1A1F2E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3108960" y="4480560"/>
            <a:ext cx="54864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324612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DC"/>
                </a:solidFill>
              </a:rPr>
              <a:t>redirect після POST (PRG-патерн)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4480560"/>
            <a:ext cx="2651760" cy="457200"/>
          </a:xfrm>
          <a:prstGeom prst="rect">
            <a:avLst/>
          </a:prstGeom>
          <a:solidFill>
            <a:srgbClr val="1A1F2E"/>
          </a:solidFill>
          <a:ln w="1905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5943600" y="4480560"/>
            <a:ext cx="54864" cy="457200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08076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DC"/>
                </a:solidFill>
              </a:rPr>
              <a:t>{% csrf_token %} у кожній формі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D9A0"/>
          </a:solidFill>
          <a:ln w="1270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C8EF5"/>
          </a:solidFill>
          <a:ln w="12700">
            <a:solidFill>
              <a:srgbClr val="6C8E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749040" y="731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🎓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Молодці! Сьогодні вивчили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ModelForm + повний CRUD цикл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02367" y="3310128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202367" y="331012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D9A0"/>
                </a:solidFill>
              </a:rPr>
              <a:t>✓ ModelForm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9999" y="3310128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1829999" y="33101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D9A0"/>
                </a:solidFill>
              </a:rPr>
              <a:t>✓ Create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8447" y="3310128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128447" y="33101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D9A0"/>
                </a:solidFill>
              </a:rPr>
              <a:t>✓ Update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26895" y="3310128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426895" y="33101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D9A0"/>
                </a:solidFill>
              </a:rPr>
              <a:t>✓ Delete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25343" y="3310128"/>
            <a:ext cx="1664208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725343" y="331012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D9A0"/>
                </a:solidFill>
              </a:rPr>
              <a:t>✓ PRG Pattern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72431" y="3310128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242938"/>
          </a:solidFill>
          <a:ln w="19050">
            <a:solidFill>
              <a:srgbClr val="44D9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7572431" y="331012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D9A0"/>
                </a:solidFill>
              </a:rPr>
              <a:t>✓ Валідація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3032</Words>
  <Application>Microsoft Macintosh PowerPoint</Application>
  <PresentationFormat>On-screen Show (16:9)</PresentationFormat>
  <Paragraphs>446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Django: ModelForm, CRUD</dc:title>
  <dc:subject>PptxGenJS Presentation</dc:subject>
  <dc:creator>PptxGenJS</dc:creator>
  <cp:lastModifiedBy>Штефан Дмитро</cp:lastModifiedBy>
  <cp:revision>3</cp:revision>
  <dcterms:created xsi:type="dcterms:W3CDTF">2026-05-09T13:04:09Z</dcterms:created>
  <dcterms:modified xsi:type="dcterms:W3CDTF">2026-05-09T13:37:06Z</dcterms:modified>
</cp:coreProperties>
</file>