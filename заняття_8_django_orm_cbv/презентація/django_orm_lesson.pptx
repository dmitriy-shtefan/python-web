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4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0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115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5943600" y="-182880"/>
            <a:ext cx="3657600" cy="5669280"/>
          </a:xfrm>
          <a:prstGeom prst="rect">
            <a:avLst/>
          </a:prstGeom>
          <a:solidFill>
            <a:srgbClr val="0D7377">
              <a:alpha val="18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4A9A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Django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ORM, Шаблони та CBV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3200400" cy="36576"/>
          </a:xfrm>
          <a:prstGeom prst="rect">
            <a:avLst/>
          </a:prstGeom>
          <a:solidFill>
            <a:srgbClr val="F6C90E"/>
          </a:solidFill>
          <a:ln w="12700">
            <a:solidFill>
              <a:srgbClr val="F6C90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02920" y="230428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запису у базі — до HTML-сторінки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0292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0292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4028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24028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QuerySet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97764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97764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715000" y="2926080"/>
            <a:ext cx="1554480" cy="384048"/>
          </a:xfrm>
          <a:prstGeom prst="roundRect">
            <a:avLst>
              <a:gd name="adj" fmla="val 28571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715000" y="29443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CBV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4114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edu_platform / courses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0D7377">
              <a:alpha val="40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Як дані потрапляють з бази до браузера?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2468880"/>
          </a:xfrm>
          <a:prstGeom prst="rect">
            <a:avLst/>
          </a:prstGeom>
          <a:solidFill>
            <a:srgbClr val="0F2A3F"/>
          </a:solidFill>
          <a:ln w="12700">
            <a:solidFill>
              <a:srgbClr val="0F2A3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🗄️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База даних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SQLite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3113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542032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2542032" y="960120"/>
            <a:ext cx="50292" cy="24688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2633472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633472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Django ORM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633472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Python-об'єкти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0740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18304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718304" y="960120"/>
            <a:ext cx="50292" cy="24688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809744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809744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809744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+ context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894576" y="960120"/>
            <a:ext cx="1828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6894576" y="960120"/>
            <a:ext cx="50292" cy="2468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6986016" y="1051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986016" y="1737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986016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HTML-сторінка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749040"/>
            <a:ext cx="8412480" cy="822960"/>
          </a:xfrm>
          <a:prstGeom prst="rect">
            <a:avLst/>
          </a:prstGeom>
          <a:solidFill>
            <a:srgbClr val="0D7377">
              <a:alpha val="12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48640" y="3767328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ніколи</a:t>
            </a: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не пишемо SQL вручну. ORM перетворює Python-код у запити до бази автоматично.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Наша модель: Course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56168" y="1106233"/>
            <a:ext cx="4978908" cy="30175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56168" y="1106233"/>
            <a:ext cx="45720" cy="301752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75040" y="1177659"/>
            <a:ext cx="48646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courses/models.py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django.db import models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Course(models.Model):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      = models.CharField(max_length=200)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 = models.TextField(blank=True)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     = models.BooleanField(default=False)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created_at  = models.DateTimeField(auto_now_add=True)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updated_at  = models.DateTimeField(auto_now=True)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__str__(self):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self.name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85368" y="1151953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385368" y="1151953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568248" y="1170241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031288" y="1243393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7031288" y="1243393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CharField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368" y="1718881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385368" y="1718881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568248" y="1737169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31288" y="1810321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7031288" y="1810321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TextField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85368" y="2285809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5385368" y="2285809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568248" y="2304097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is_test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031288" y="2377249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7031288" y="2377249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BooleanField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85368" y="2852737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5385368" y="2852737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568248" y="2871025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031288" y="2944177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7031288" y="2944177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DateTimeField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85368" y="3419665"/>
            <a:ext cx="33832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5385368" y="3419665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568248" y="3437953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2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updated_at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031288" y="3511105"/>
            <a:ext cx="1554480" cy="292608"/>
          </a:xfrm>
          <a:prstGeom prst="roundRect">
            <a:avLst>
              <a:gd name="adj" fmla="val 250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7031288" y="3511105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DateTimeField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072342"/>
          </a:xfrm>
          <a:prstGeom prst="rect">
            <a:avLst/>
          </a:prstGeom>
          <a:solidFill>
            <a:srgbClr val="0D7377">
              <a:alpha val="8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2067791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Частина 1 — Django 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1751" y="3187611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Model.objects, QuerySet, фільтри, lookup-и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Model.objects — точка входу до всіх запитів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3200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 Аналогія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Уявіть Course.objects як пошуковика по таблиці курсів. Ви «запитуєте» у нього: дай мені всі курси, дай тільки активні, дай один конкретний.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Course.objects — це Manager,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вбудований у кожну модель Django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114800" cy="32004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5720" cy="320040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828032" y="1051560"/>
            <a:ext cx="38587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Shell або view.py: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Отримати всі курси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Course.objects.all()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Відфільтрувати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Course.objects.filter(is_test=False)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Один запис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Course.objects.get(pk=1)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Кількість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Course.objects.count()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QuerySet — набір об'єктів з бази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800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029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3000" y="10789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Що це?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44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об'єктів моделі, отриманих за запитом. Схожий на звичайний Python-список, але «ледачий».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800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5029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43000" y="22677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Lazy evaluation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2633472"/>
            <a:ext cx="392136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QuerySet не йде в базу відразу. Запит виконується тільки коли ви ітеруєте або виводите результат.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4800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65760" y="3383280"/>
            <a:ext cx="5029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35204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43000" y="3456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Chaining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8221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Можна нанизувати фільтри: .filter().exclude().order_by() — кожен повертає новий QuerySet.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49240" y="1005840"/>
            <a:ext cx="3520440" cy="28163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303520" y="1005840"/>
            <a:ext cx="45719" cy="281635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417820" y="1289304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qs = Course.objects.filter(is_test=False)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База ще НЕ викликана!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Тільки тут виконується SQL: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course in qs:          # ітерація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print(course.name)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uk-UA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Або</a:t>
            </a: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list(qs)                # явна оцінка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len(qs)                 # теж оцінює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all() і filter() — найчастіші методи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5720" cy="191109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all()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QuerySet з усіма записами таблиці. Аналог SELECT * FROM courses.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276856"/>
            <a:ext cx="4023360" cy="5943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365760" y="2276856"/>
            <a:ext cx="45720" cy="59436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48640" y="2455803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Course.objects.all()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023360" cy="1911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5720" cy="1911096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A9A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filter(**kwargs)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QuerySet тільки з тими записами, що відповідають умовам. Аналог WHERE у SQL.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276856"/>
            <a:ext cx="4023360" cy="5943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663440" y="2276856"/>
            <a:ext cx="45720" cy="59436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14316" y="2309499"/>
            <a:ext cx="3598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Course.objects.filter(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is_test=False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3063240"/>
            <a:ext cx="841248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365760" y="3063240"/>
            <a:ext cx="45720" cy="15544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30352" y="3154680"/>
            <a:ext cx="8156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Можна комбінувати кілька умов (AND):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Course.objects.filter(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is_test=False,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name="Python Basics"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Сортування — теж QuerySet: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courses = Course.objects.all().order_by("-created_at")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 Lookups — гнучкі умови фільтрації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48640" y="1088136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48640" y="10881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__icontains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57400" y="1088136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057400" y="10881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ILIKE '%...%'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6160" y="1069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підрядка без урахування регістру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17920" y="108813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filter(name__icontains="python")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755648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1755648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48640" y="1883664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4864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__lte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57400" y="1883664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057400" y="18836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value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18653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Менше або рівно (less than or equal)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17920" y="188366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filter(id__lte=10)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551176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365760" y="2551176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548640" y="2679192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548640" y="26791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__gte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057400" y="2679192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2057400" y="26791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value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66160" y="266090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або рівно (greater than or equal)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217920" y="267919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filter(id__gte=5)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346704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365760" y="3346704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Shape 28"/>
          <p:cNvSpPr/>
          <p:nvPr/>
        </p:nvSpPr>
        <p:spPr>
          <a:xfrm>
            <a:off x="548640" y="3474720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__exact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057400" y="3474720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/>
          <p:nvPr/>
        </p:nvSpPr>
        <p:spPr>
          <a:xfrm>
            <a:off x="205740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value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566160" y="34564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 співпадіння (за замовчуванням)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217920" y="347472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filter(is_test__exact=False)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142232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7" name="Shape 35"/>
          <p:cNvSpPr/>
          <p:nvPr/>
        </p:nvSpPr>
        <p:spPr>
          <a:xfrm>
            <a:off x="365760" y="4142232"/>
            <a:ext cx="50292" cy="7132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8" name="Shape 36"/>
          <p:cNvSpPr/>
          <p:nvPr/>
        </p:nvSpPr>
        <p:spPr>
          <a:xfrm>
            <a:off x="548640" y="4270248"/>
            <a:ext cx="1371600" cy="29260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/>
          <p:nvPr/>
        </p:nvSpPr>
        <p:spPr>
          <a:xfrm>
            <a:off x="548640" y="42702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__startswith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057400" y="4270248"/>
            <a:ext cx="1371600" cy="292608"/>
          </a:xfrm>
          <a:prstGeom prst="rect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/>
          <p:nvPr/>
        </p:nvSpPr>
        <p:spPr>
          <a:xfrm>
            <a:off x="2057400" y="427024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LIKE '...%'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566160" y="4251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Починається з підрядка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217920" y="427024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filter(name__startswith="Intro")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get() і get_object_or_404() — один запис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329184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241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53E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⚠️  get()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Повертає рівно один об'єкт. Якщо не знайдено — кидає DoesNotExist. Якщо знайдено більше одного — MultipleObjectsReturned.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402336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365760" y="2423160"/>
            <a:ext cx="45720" cy="15544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30352" y="2514600"/>
            <a:ext cx="3767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 = Course.objects.get(pk=1)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Course.DoesNotExist: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треба обробляти вручну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HttpResponse(404)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50292" cy="3291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846320" y="10241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get_object_or_404()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846320" y="14447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саме, що get(), але при відсутності запису автоматично повертає 404-сторінку. Саме це ми використовуємо у view для деталей.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55448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4663440" y="2423160"/>
            <a:ext cx="45720" cy="155448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28032" y="2514600"/>
            <a:ext cx="3767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get_object_or_404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Просто і безпечно: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 = get_object_or_404(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Course, pk=pk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44531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 </a:t>
            </a:r>
            <a:r>
              <a:rPr lang="uk-UA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Краще</a:t>
            </a:r>
            <a:r>
              <a:rPr lang="en-US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використовувати</a:t>
            </a:r>
            <a:r>
              <a:rPr lang="en-US" sz="1350" b="1" i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get_object_or_404() у view для сторінки деталей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005840"/>
          </a:xfrm>
          <a:prstGeom prst="rect">
            <a:avLst/>
          </a:prstGeom>
          <a:solidFill>
            <a:srgbClr val="0D7377">
              <a:alpha val="8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20345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Частина 2 — View → Template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96990" y="2971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Передаємо дані і рендеримо HTML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URL → View → context: список курсів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21031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5720" cy="210312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30352" y="100584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courses/urls.py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django.urls import path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 import views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urlpatterns = [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path("", views.course_list, name="course-list"),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path("&lt;int:pk&gt;/", views.course_detail,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		name="course-detail"),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256032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5720" cy="256032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4919472" y="1005840"/>
            <a:ext cx="3792266" cy="241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courses/views.py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render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.models import Course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course_list(request):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courses = Course.objects.all().order_by(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"-created_at”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 = {"courses": courses}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render(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request,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"courses/course_list.html",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3712464"/>
            <a:ext cx="1920240" cy="475488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65760" y="3712464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02920" y="371246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urls.py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89487" y="37581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683497" y="3712464"/>
            <a:ext cx="1920240" cy="475488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683497" y="3712464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3820657" y="371246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30811" y="37581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7377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837218" y="3712464"/>
            <a:ext cx="1920240" cy="475488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6837218" y="3712464"/>
            <a:ext cx="50292" cy="47548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974378" y="371246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6C9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361688"/>
            <a:ext cx="8412480" cy="475488"/>
          </a:xfrm>
          <a:prstGeom prst="rect">
            <a:avLst/>
          </a:prstGeom>
          <a:solidFill>
            <a:srgbClr val="0D7377">
              <a:alpha val="12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685800" y="4398264"/>
            <a:ext cx="8138160" cy="38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це Python-словник, де ключ стає змінною у шаблоні. "courses" у context → {{ courses }} у HTML.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Template: цикл {% for %} і {% empty %}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937760" cy="37490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5720" cy="37490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30352" y="1005840"/>
            <a:ext cx="468172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courses/templates/courses/course_list.html #}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&lt;h1&gt;Курси&lt;/h1&gt;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for course in courses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 href="{% url 'course-detail' course.pk %}"&gt;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{{ course.name }}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if course.is_test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&lt;span class="badge"&gt;Тест&lt;/span&gt;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endif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&lt;/li&gt;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empty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&lt;li&gt;Поки що немає жодного курсу.&lt;/li&gt;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{% endfor %}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&lt;/ul&gt;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0" y="1298448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5486400" y="1298448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669280" y="131673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Ітеруємо QuerySet так само, як Python-список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0" y="192024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5486400" y="192024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669280" y="19385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Доступаємось до полів через крапку: course.name, course.pk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265176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486400" y="265176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{% url %} генерує посилання за name з urls.py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0" y="324612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486400" y="324612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669280" y="326440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{% if %} — умова всередині циклу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0" y="3749040"/>
            <a:ext cx="3291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5486400" y="3749040"/>
            <a:ext cx="50292" cy="438912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669280" y="376732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{% empty %} — виконується, якщо QuerySet порожній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 деталей: pk з URL → один об'єкт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206240" cy="32004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5720" cy="320040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02920" y="969264"/>
            <a:ext cx="39502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courses/views.py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django.shortcuts import (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render, get_object_or_404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.models import Course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course_detail(request, pk):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 = get_object_or_404(Course, pk=pk)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 = {"course": course}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render(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request,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"courses/course_detail.html",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36576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5720" cy="365760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4873752" y="971182"/>
            <a:ext cx="39044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{# courses/templates/courses/course_detail.html #}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&lt;h1&gt;{{ course.name }}&lt;/h1&gt;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&lt;p&gt;{{ course.description }}&lt;/p&gt;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Статус: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if course.is_test %}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Тестовий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else %}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Основний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{% endif %}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&lt;p&gt;Створено: {{ course.created_at|date:"d.m.Y" }}&lt;/p&gt;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 href="{% url 'course-list' %}"&gt;← Назад до списку&lt;/a&gt;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4297680"/>
            <a:ext cx="4206240" cy="548640"/>
          </a:xfrm>
          <a:prstGeom prst="rect">
            <a:avLst/>
          </a:prstGeom>
          <a:solidFill>
            <a:srgbClr val="0D7377">
              <a:alpha val="12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02920" y="4315968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автоматично повернe 404,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запису з таким pk не існує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04660"/>
            <a:ext cx="9144000" cy="1168739"/>
          </a:xfrm>
          <a:prstGeom prst="rect">
            <a:avLst/>
          </a:prstGeom>
          <a:solidFill>
            <a:srgbClr val="0D7377">
              <a:alpha val="8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70338" y="1965960"/>
            <a:ext cx="90033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Частина 3 — Зв'язки між моделями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998977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ForeignKey, on_delete та міграція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ForeignKey — один-до-багатьох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7490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2377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D73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 Аналогія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викладач → багато курсів.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курс → багато уроків.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 — це посилання з «дочірньої» таблиці на «батьківську». В базі це звичайна колонка teacher_id з числом.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960120"/>
            <a:ext cx="4572000" cy="35204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297680" y="960120"/>
            <a:ext cx="45720" cy="35204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462272" y="1051560"/>
            <a:ext cx="431596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courses/models.py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django.db import models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Teacher(models.Model):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= models.CharField(max_length=100)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= models.EmailField(unique=True)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__str__(self):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self.name</a:t>
            </a:r>
            <a:endParaRPr lang="en-US" sz="1100" dirty="0"/>
          </a:p>
          <a:p>
            <a:pPr marL="0" indent="0" algn="l">
              <a:buNone/>
            </a:pP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Course(models.Model):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  = models.CharField(max_length=200)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teacher = models.ForeignKey(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Teacher,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on_delete=models.CASCADE,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related_name="courses",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created_at = models.DateTimeField(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auto_now_add=True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520440"/>
            <a:ext cx="3749040" cy="960120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6C90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on_delete — що робити при видаленні батька: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91363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CASCADE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37360" y="391363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видалити і дочірні записи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09651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SET_NULL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37360" y="409651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поставити NULL (потрібен null=True)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2793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37360" y="42793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заборонити видалення parent-a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Міграція та реальні приклади зв'язків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0292" cy="749808"/>
          </a:xfrm>
          <a:prstGeom prst="rect">
            <a:avLst/>
          </a:prstGeom>
          <a:solidFill>
            <a:srgbClr val="F6C90E"/>
          </a:solidFill>
          <a:ln w="12700">
            <a:solidFill>
              <a:srgbClr val="F6C90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9875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Після кожної зміни моделей — два кроки: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0" y="1033272"/>
            <a:ext cx="2286000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4005072" y="103327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makemigrations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95060" y="109728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7377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033272"/>
            <a:ext cx="2286000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473952" y="103327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manage.py migrate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1901952"/>
            <a:ext cx="27889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1901952"/>
            <a:ext cx="50292" cy="285292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30352" y="1938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Курс → Викладач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78608" y="1984248"/>
            <a:ext cx="475488" cy="237744"/>
          </a:xfrm>
          <a:prstGeom prst="rect">
            <a:avLst/>
          </a:prstGeom>
          <a:solidFill>
            <a:srgbClr val="0D7377">
              <a:alpha val="25000"/>
            </a:srgbClr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2578608" y="19842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0D73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2331720"/>
            <a:ext cx="2788920" cy="16916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365760" y="2331720"/>
            <a:ext cx="45720" cy="16916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30352" y="2423160"/>
            <a:ext cx="25328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Course(models.Model):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teacher = models.ForeignKey(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Teacher,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on_delete=models.CASCADE,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related_name="courses",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4059936"/>
            <a:ext cx="25786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Видаляємо викладача → всі його курси теж зникають (CASCADE)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10128" y="1901952"/>
            <a:ext cx="27889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3310128" y="1901952"/>
            <a:ext cx="50292" cy="2852928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474720" y="1938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Урок → Курс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22976" y="1984248"/>
            <a:ext cx="475488" cy="237744"/>
          </a:xfrm>
          <a:prstGeom prst="rect">
            <a:avLst/>
          </a:prstGeom>
          <a:solidFill>
            <a:srgbClr val="14A9AD">
              <a:alpha val="25000"/>
            </a:srgbClr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522976" y="19842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4A9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310128" y="2331720"/>
            <a:ext cx="2788920" cy="16916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3310128" y="2331720"/>
            <a:ext cx="45720" cy="16916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3474720" y="2423160"/>
            <a:ext cx="25328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Lesson(models.Model):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 = models.ForeignKey(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Course,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on_delete=models.CASCADE,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related_name="lessons",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 = models.CharField(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max_length=200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419856" y="4059936"/>
            <a:ext cx="25786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курс має багато уроків. related_name дозволяє: course.lessons.all()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54496" y="1901952"/>
            <a:ext cx="27889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1" name="Shape 29"/>
          <p:cNvSpPr/>
          <p:nvPr/>
        </p:nvSpPr>
        <p:spPr>
          <a:xfrm>
            <a:off x="6254496" y="1901952"/>
            <a:ext cx="50292" cy="28529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30"/>
          <p:cNvSpPr/>
          <p:nvPr/>
        </p:nvSpPr>
        <p:spPr>
          <a:xfrm>
            <a:off x="6419088" y="1938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Гравець → Команда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467344" y="1984248"/>
            <a:ext cx="475488" cy="237744"/>
          </a:xfrm>
          <a:prstGeom prst="rect">
            <a:avLst/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8467344" y="19842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254496" y="2331720"/>
            <a:ext cx="2788920" cy="16916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Shape 34"/>
          <p:cNvSpPr/>
          <p:nvPr/>
        </p:nvSpPr>
        <p:spPr>
          <a:xfrm>
            <a:off x="6254496" y="2331720"/>
            <a:ext cx="45720" cy="1691640"/>
          </a:xfrm>
          <a:prstGeom prst="rect">
            <a:avLst/>
          </a:prstGeom>
          <a:solidFill>
            <a:srgbClr val="14A9AD"/>
          </a:solidFill>
          <a:ln w="12700">
            <a:solidFill>
              <a:srgbClr val="14A9A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6419088" y="2423160"/>
            <a:ext cx="25328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Player(models.Model):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team = models.ForeignKey(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Team,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on_delete=models.SET_NULL,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null=True,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blank=True,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related_name="players",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64224" y="4059936"/>
            <a:ext cx="25786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Гравець може бути без команди (SET_NULL + null=True)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🏠  Домашнє завдання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75488" y="1207008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75488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14300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сторінку списку через ORM (Course.objects.all()), а не через список у коді.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65760" y="1938528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75488" y="2093976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2093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02996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сторінку деталей через pk і get_object_or_404().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65760" y="2825496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475488" y="2980944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475488" y="2980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291693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посилання зі списку на детальну сторінку через {% url 'course-detail' course.pk %}.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65760" y="3712464"/>
            <a:ext cx="8412480" cy="749808"/>
          </a:xfrm>
          <a:prstGeom prst="rect">
            <a:avLst/>
          </a:prstGeom>
          <a:solidFill>
            <a:srgbClr val="1A3A52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75488" y="3867912"/>
            <a:ext cx="420624" cy="42062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75488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3803904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Переконатися: на обох сторінках відображаються записи, створені через адмін-панель.</a:t>
            </a:r>
            <a:endParaRPr lang="en-US" sz="135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37479D98-48DE-CC7A-7E08-D2A7F093D77A}"/>
              </a:ext>
            </a:extLst>
          </p:cNvPr>
          <p:cNvSpPr/>
          <p:nvPr/>
        </p:nvSpPr>
        <p:spPr>
          <a:xfrm>
            <a:off x="365760" y="4572000"/>
            <a:ext cx="8412480" cy="438912"/>
          </a:xfrm>
          <a:prstGeom prst="rect">
            <a:avLst/>
          </a:prstGeom>
          <a:solidFill>
            <a:srgbClr val="0F2A3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D7383737-DDF1-5B7F-BF82-74C4A32EF408}"/>
              </a:ext>
            </a:extLst>
          </p:cNvPr>
          <p:cNvSpPr/>
          <p:nvPr/>
        </p:nvSpPr>
        <p:spPr>
          <a:xfrm>
            <a:off x="365760" y="4572000"/>
            <a:ext cx="50292" cy="438912"/>
          </a:xfrm>
          <a:prstGeom prst="rect">
            <a:avLst/>
          </a:prstGeom>
          <a:solidFill>
            <a:srgbClr val="F6C90E"/>
          </a:solidFill>
          <a:ln w="12700">
            <a:solidFill>
              <a:srgbClr val="F6C90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70B5E318-29DE-171B-AB70-B1BA59CFC8B1}"/>
              </a:ext>
            </a:extLst>
          </p:cNvPr>
          <p:cNvSpPr/>
          <p:nvPr/>
        </p:nvSpPr>
        <p:spPr>
          <a:xfrm>
            <a:off x="548640" y="45902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6C90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⭐  Додатково: </a:t>
            </a:r>
            <a:endParaRPr lang="en-US" sz="130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6D362B38-0818-C257-74E2-60DB392BE2ED}"/>
              </a:ext>
            </a:extLst>
          </p:cNvPr>
          <p:cNvSpPr/>
          <p:nvPr/>
        </p:nvSpPr>
        <p:spPr>
          <a:xfrm>
            <a:off x="2057400" y="4590288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ForeignKey до своєї моделі і зробити міграцію.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Що ми сьогодні вивчили?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11480" y="704088"/>
            <a:ext cx="8321040" cy="274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33787" y="101767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33787" y="101767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470947" y="118226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🗄️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11027" y="115483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 = Python замість SQL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1027" y="158459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Model.objects — точка входу. QuerySet — ледачий набір записів.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87" y="298363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333787" y="298363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70947" y="314822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11027" y="312079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Запити до бази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1027" y="355055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all(), filter(), get(), get_object_or_404(). Lookups: __icontains, __lte, __gte.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768627" y="101767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4768627" y="101767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905787" y="118226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545867" y="115483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View → Template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45867" y="158459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context-словник передає дані. {% for %}...{% empty %}{% endfor %} у шаблоні.</a:t>
            </a:r>
            <a:endParaRPr lang="en-US" sz="1250" dirty="0"/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4A5FA346-8C08-1F16-5F31-21530A0F137F}"/>
              </a:ext>
            </a:extLst>
          </p:cNvPr>
          <p:cNvSpPr/>
          <p:nvPr/>
        </p:nvSpPr>
        <p:spPr>
          <a:xfrm>
            <a:off x="4768627" y="298363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6D6056BA-AA7D-4E26-3FE5-8BFF6F5B9CCB}"/>
              </a:ext>
            </a:extLst>
          </p:cNvPr>
          <p:cNvSpPr/>
          <p:nvPr/>
        </p:nvSpPr>
        <p:spPr>
          <a:xfrm>
            <a:off x="4768627" y="2983630"/>
            <a:ext cx="50292" cy="17373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19">
            <a:extLst>
              <a:ext uri="{FF2B5EF4-FFF2-40B4-BE49-F238E27FC236}">
                <a16:creationId xmlns:a16="http://schemas.microsoft.com/office/drawing/2014/main" id="{297F0EAD-8A17-95E9-AC22-47D6831B65BF}"/>
              </a:ext>
            </a:extLst>
          </p:cNvPr>
          <p:cNvSpPr/>
          <p:nvPr/>
        </p:nvSpPr>
        <p:spPr>
          <a:xfrm>
            <a:off x="4905787" y="3148222"/>
            <a:ext cx="594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E99DAB58-A97A-E70D-9C56-4B415DB996F4}"/>
              </a:ext>
            </a:extLst>
          </p:cNvPr>
          <p:cNvSpPr/>
          <p:nvPr/>
        </p:nvSpPr>
        <p:spPr>
          <a:xfrm>
            <a:off x="5545867" y="312079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ForeignKey — зв'язки</a:t>
            </a:r>
            <a:endParaRPr lang="en-US" sz="130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B3C7A43D-B4E7-C8C5-1249-E893B70296A4}"/>
              </a:ext>
            </a:extLst>
          </p:cNvPr>
          <p:cNvSpPr/>
          <p:nvPr/>
        </p:nvSpPr>
        <p:spPr>
          <a:xfrm>
            <a:off x="5545867" y="355055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Один-до-багатьох. on_delete: CASCADE / SET_NULL / PROTECT. Після змін — makemigrations + migrate.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5811</TotalTime>
  <Words>1956</Words>
  <Application>Microsoft Macintosh PowerPoint</Application>
  <PresentationFormat>On-screen Show (16:9)</PresentationFormat>
  <Paragraphs>351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Django ORM: основи, шаблони і CBV</dc:title>
  <dc:subject>PptxGenJS Presentation</dc:subject>
  <dc:creator>PptxGenJS</dc:creator>
  <cp:lastModifiedBy>Штефан Дмитро</cp:lastModifiedBy>
  <cp:revision>4</cp:revision>
  <dcterms:created xsi:type="dcterms:W3CDTF">2026-05-02T18:52:27Z</dcterms:created>
  <dcterms:modified xsi:type="dcterms:W3CDTF">2026-05-06T19:54:29Z</dcterms:modified>
</cp:coreProperties>
</file>