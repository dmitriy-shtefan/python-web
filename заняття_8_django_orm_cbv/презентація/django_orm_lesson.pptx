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4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460"/>
    <p:restoredTop sz="94610"/>
  </p:normalViewPr>
  <p:slideViewPr>
    <p:cSldViewPr snapToGrid="0" snapToObjects="1">
      <p:cViewPr varScale="1">
        <p:scale>
          <a:sx n="199" d="100"/>
          <a:sy n="199" d="100"/>
        </p:scale>
        <p:origin x="17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61151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5943600" y="-182880"/>
            <a:ext cx="3657600" cy="5669280"/>
          </a:xfrm>
          <a:prstGeom prst="rect">
            <a:avLst/>
          </a:prstGeom>
          <a:solidFill>
            <a:srgbClr val="0D7377">
              <a:alpha val="18000"/>
            </a:srgbClr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14A9A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Django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02920" y="137160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ORM, Шаблони та </a:t>
            </a:r>
            <a:r>
              <a:rPr lang="uk-UA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звʼязки між моделями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2148840"/>
            <a:ext cx="3200400" cy="36576"/>
          </a:xfrm>
          <a:prstGeom prst="rect">
            <a:avLst/>
          </a:prstGeom>
          <a:solidFill>
            <a:srgbClr val="F6C90E"/>
          </a:solidFill>
          <a:ln w="12700">
            <a:solidFill>
              <a:srgbClr val="F6C90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502920" y="2304288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запису у базі — до HTML-сторінки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02920" y="2926080"/>
            <a:ext cx="1554480" cy="384048"/>
          </a:xfrm>
          <a:prstGeom prst="roundRect">
            <a:avLst>
              <a:gd name="adj" fmla="val 28571"/>
            </a:avLst>
          </a:prstGeom>
          <a:solidFill>
            <a:srgbClr val="0D7377">
              <a:alpha val="70000"/>
            </a:srgbClr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502920" y="29443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6C9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ORM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240280" y="2926080"/>
            <a:ext cx="1554480" cy="384048"/>
          </a:xfrm>
          <a:prstGeom prst="roundRect">
            <a:avLst>
              <a:gd name="adj" fmla="val 28571"/>
            </a:avLst>
          </a:prstGeom>
          <a:solidFill>
            <a:srgbClr val="0D7377">
              <a:alpha val="70000"/>
            </a:srgbClr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2240280" y="29443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6C9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QuerySet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977640" y="2926080"/>
            <a:ext cx="1554480" cy="384048"/>
          </a:xfrm>
          <a:prstGeom prst="roundRect">
            <a:avLst>
              <a:gd name="adj" fmla="val 28571"/>
            </a:avLst>
          </a:prstGeom>
          <a:solidFill>
            <a:srgbClr val="0D7377">
              <a:alpha val="70000"/>
            </a:srgbClr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3977640" y="29443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6C9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Templates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715000" y="2926080"/>
            <a:ext cx="1554480" cy="384048"/>
          </a:xfrm>
          <a:prstGeom prst="roundRect">
            <a:avLst>
              <a:gd name="adj" fmla="val 28571"/>
            </a:avLst>
          </a:prstGeom>
          <a:solidFill>
            <a:srgbClr val="0D7377">
              <a:alpha val="70000"/>
            </a:srgbClr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5715000" y="29443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6C9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CBV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" y="4114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edu_platform / courses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0" y="4956048"/>
            <a:ext cx="9144000" cy="182880"/>
          </a:xfrm>
          <a:prstGeom prst="rect">
            <a:avLst/>
          </a:prstGeom>
          <a:solidFill>
            <a:srgbClr val="0D7377">
              <a:alpha val="40000"/>
            </a:srgbClr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Як дані потрапляють з бази до браузера?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11480" y="704088"/>
            <a:ext cx="8321040" cy="274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18288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50292" cy="2468880"/>
          </a:xfrm>
          <a:prstGeom prst="rect">
            <a:avLst/>
          </a:prstGeom>
          <a:solidFill>
            <a:srgbClr val="0F2A3F"/>
          </a:solidFill>
          <a:ln w="12700">
            <a:solidFill>
              <a:srgbClr val="0F2A3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🗄️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База даних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57200" y="21762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/ SQLite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18541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7377"/>
                </a:solidFill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542032" y="960120"/>
            <a:ext cx="18288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1" name="Shape 9"/>
          <p:cNvSpPr/>
          <p:nvPr/>
        </p:nvSpPr>
        <p:spPr>
          <a:xfrm>
            <a:off x="2542032" y="960120"/>
            <a:ext cx="50292" cy="246888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2633472" y="10515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⚙️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2633472" y="1737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Django ORM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633472" y="21762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Python-об'єкти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77690" y="201462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7377"/>
                </a:solidFill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4718304" y="960120"/>
            <a:ext cx="18288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7" name="Shape 15"/>
          <p:cNvSpPr/>
          <p:nvPr/>
        </p:nvSpPr>
        <p:spPr>
          <a:xfrm>
            <a:off x="4718304" y="960120"/>
            <a:ext cx="50292" cy="2468880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4809744" y="10515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📋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4809744" y="1737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View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809744" y="21762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логіка + context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37960" y="2002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7377"/>
                </a:solidFill>
              </a:rPr>
              <a:t>→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894576" y="960120"/>
            <a:ext cx="18288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3" name="Shape 21"/>
          <p:cNvSpPr/>
          <p:nvPr/>
        </p:nvSpPr>
        <p:spPr>
          <a:xfrm>
            <a:off x="6894576" y="960120"/>
            <a:ext cx="50292" cy="24688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4" name="Text 22"/>
          <p:cNvSpPr/>
          <p:nvPr/>
        </p:nvSpPr>
        <p:spPr>
          <a:xfrm>
            <a:off x="6986016" y="10515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🌐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6986016" y="1737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Template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986016" y="21762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HTML-сторінка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749040"/>
            <a:ext cx="8412480" cy="822960"/>
          </a:xfrm>
          <a:prstGeom prst="rect">
            <a:avLst/>
          </a:prstGeom>
          <a:solidFill>
            <a:srgbClr val="0D7377">
              <a:alpha val="12000"/>
            </a:srgbClr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8" name="Text 26"/>
          <p:cNvSpPr/>
          <p:nvPr/>
        </p:nvSpPr>
        <p:spPr>
          <a:xfrm>
            <a:off x="548640" y="3767328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4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 </a:t>
            </a:r>
            <a:r>
              <a:rPr lang="en-US" sz="14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пишемо SQL вручну. ORM перетворює Python-код у запити до бази автоматично.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Наша модель: Course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11480" y="704088"/>
            <a:ext cx="8321040" cy="274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356168" y="1106233"/>
            <a:ext cx="4978908" cy="3017520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356168" y="1106233"/>
            <a:ext cx="45720" cy="3017520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475040" y="1177659"/>
            <a:ext cx="486460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courses/models.py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django.db import models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Course(models.Model):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        = models.CharField(max_length=200)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description = models.TextField(blank=True)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is_test     = models.BooleanField(default=False)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created_at  = models.DateTimeField(auto_now_add=True)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updated_at  = models.DateTimeField(auto_now=True)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__str__(self):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self.name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385368" y="1151953"/>
            <a:ext cx="33832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5385368" y="1151953"/>
            <a:ext cx="50292" cy="47548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5568248" y="1170241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2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031288" y="1243393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0D7377">
              <a:alpha val="25000"/>
            </a:srgbClr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7031288" y="1243393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CharField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385368" y="1718881"/>
            <a:ext cx="33832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3" name="Shape 11"/>
          <p:cNvSpPr/>
          <p:nvPr/>
        </p:nvSpPr>
        <p:spPr>
          <a:xfrm>
            <a:off x="5385368" y="1718881"/>
            <a:ext cx="50292" cy="47548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5568248" y="1737169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2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031288" y="1810321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0D7377">
              <a:alpha val="25000"/>
            </a:srgbClr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7031288" y="1810321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TextField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385368" y="2285809"/>
            <a:ext cx="33832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8" name="Shape 16"/>
          <p:cNvSpPr/>
          <p:nvPr/>
        </p:nvSpPr>
        <p:spPr>
          <a:xfrm>
            <a:off x="5385368" y="2285809"/>
            <a:ext cx="50292" cy="47548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5568248" y="2304097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2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is_test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031288" y="2377249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0D7377">
              <a:alpha val="25000"/>
            </a:srgbClr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7031288" y="2377249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BooleanField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385368" y="2852737"/>
            <a:ext cx="33832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3" name="Shape 21"/>
          <p:cNvSpPr/>
          <p:nvPr/>
        </p:nvSpPr>
        <p:spPr>
          <a:xfrm>
            <a:off x="5385368" y="2852737"/>
            <a:ext cx="50292" cy="47548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4" name="Text 22"/>
          <p:cNvSpPr/>
          <p:nvPr/>
        </p:nvSpPr>
        <p:spPr>
          <a:xfrm>
            <a:off x="5568248" y="2871025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2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created_at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031288" y="2944177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0D7377">
              <a:alpha val="25000"/>
            </a:srgbClr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Text 24"/>
          <p:cNvSpPr/>
          <p:nvPr/>
        </p:nvSpPr>
        <p:spPr>
          <a:xfrm>
            <a:off x="7031288" y="2944177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DateTimeField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385368" y="3419665"/>
            <a:ext cx="33832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8" name="Shape 26"/>
          <p:cNvSpPr/>
          <p:nvPr/>
        </p:nvSpPr>
        <p:spPr>
          <a:xfrm>
            <a:off x="5385368" y="3419665"/>
            <a:ext cx="50292" cy="47548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9" name="Text 27"/>
          <p:cNvSpPr/>
          <p:nvPr/>
        </p:nvSpPr>
        <p:spPr>
          <a:xfrm>
            <a:off x="5568248" y="3437953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2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updated_at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7031288" y="3511105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0D7377">
              <a:alpha val="25000"/>
            </a:srgbClr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1" name="Text 29"/>
          <p:cNvSpPr/>
          <p:nvPr/>
        </p:nvSpPr>
        <p:spPr>
          <a:xfrm>
            <a:off x="7031288" y="3511105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DateTimeField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2A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920240"/>
            <a:ext cx="9144000" cy="1072342"/>
          </a:xfrm>
          <a:prstGeom prst="rect">
            <a:avLst/>
          </a:prstGeom>
          <a:solidFill>
            <a:srgbClr val="0D7377">
              <a:alpha val="85000"/>
            </a:srgbClr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Text 1"/>
          <p:cNvSpPr/>
          <p:nvPr/>
        </p:nvSpPr>
        <p:spPr>
          <a:xfrm>
            <a:off x="457200" y="2067791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Частина 1 — Django ORM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1751" y="3187611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Model.objects, QuerySet, фільтри, lookup-и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Model.objects — точка входу до всіх запитів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11480" y="704088"/>
            <a:ext cx="8321040" cy="274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41148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50292" cy="32004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D737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💡  Аналогія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Уявіть Course.objects як пошуковика по таблиці курсів. Ви «запитуєте» у нього: дай мені всі курси, дай тільки </a:t>
            </a:r>
            <a:r>
              <a:rPr lang="uk-UA" sz="14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тестові</a:t>
            </a:r>
            <a:r>
              <a:rPr lang="en-US" sz="14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дай один конкретний.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880360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Course.objects — це Manager,</a:t>
            </a:r>
            <a:endParaRPr lang="en-US" sz="1300" dirty="0"/>
          </a:p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вбудований у кожну модель Django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960120"/>
            <a:ext cx="4114800" cy="32004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0" name="Shape 8"/>
          <p:cNvSpPr/>
          <p:nvPr/>
        </p:nvSpPr>
        <p:spPr>
          <a:xfrm>
            <a:off x="4663440" y="960120"/>
            <a:ext cx="45720" cy="3200400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4828032" y="1051560"/>
            <a:ext cx="385876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Shell або view.py: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Отримати всі курси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Course.objects.all()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Відфільтрувати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Course.objects.filter(is_test=True)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Один запис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Course.objects.get(pk=1)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Кількість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Course.objects.count()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QuerySet — набір об'єктів з бази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11480" y="704088"/>
            <a:ext cx="8321040" cy="274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4800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50292" cy="10058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48640" y="114300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143000" y="107899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Що це?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43000" y="144475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Список об'єктів моделі, отриманих за запитом. Схожий на звичайний Python-список, але «ледачий».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194560"/>
            <a:ext cx="4800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0" name="Shape 8"/>
          <p:cNvSpPr/>
          <p:nvPr/>
        </p:nvSpPr>
        <p:spPr>
          <a:xfrm>
            <a:off x="365760" y="2194560"/>
            <a:ext cx="50292" cy="10058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548640" y="23317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⏳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143000" y="226771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Lazy evaluation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43000" y="2633472"/>
            <a:ext cx="392136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QuerySet не йде в базу відразу. Запит виконується тільки коли ви ітеруєте або виводите результат.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3383280"/>
            <a:ext cx="4800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5" name="Shape 13"/>
          <p:cNvSpPr/>
          <p:nvPr/>
        </p:nvSpPr>
        <p:spPr>
          <a:xfrm>
            <a:off x="365760" y="3383280"/>
            <a:ext cx="50292" cy="10058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548640" y="352044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🔗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143000" y="345643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Chaining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43000" y="382219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Можна нанизувати фільтри: .filter().exclude().order_by() — кожен повертає новий QuerySet.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349240" y="1005840"/>
            <a:ext cx="3520440" cy="2816352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0" name="Shape 18"/>
          <p:cNvSpPr/>
          <p:nvPr/>
        </p:nvSpPr>
        <p:spPr>
          <a:xfrm>
            <a:off x="5303520" y="1005840"/>
            <a:ext cx="45719" cy="2816352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5417820" y="1289304"/>
            <a:ext cx="3383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qs = Course.objects.filter(is_test=False)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База ще НЕ викликана!</a:t>
            </a:r>
            <a:endParaRPr lang="en-US" sz="1150" dirty="0"/>
          </a:p>
          <a:p>
            <a:pPr marL="0" indent="0" algn="l">
              <a:buNone/>
            </a:pP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Тільки тут виконується SQL: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course in qs:          # ітерація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print(course.name)</a:t>
            </a:r>
            <a:endParaRPr lang="en-US" sz="1150" dirty="0"/>
          </a:p>
          <a:p>
            <a:pPr marL="0" indent="0" algn="l">
              <a:buNone/>
            </a:pP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</a:t>
            </a:r>
            <a:r>
              <a:rPr lang="uk-UA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Або</a:t>
            </a: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list(qs)                # явна оцінка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len(qs)                 # теж оцінює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all() і filter() — найчастіші методи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11480" y="704088"/>
            <a:ext cx="8321040" cy="274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4023360" cy="1911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45720" cy="191109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D737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all()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Повертає QuerySet з усіма записами таблиці. Аналог SELECT * FROM courses.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276856"/>
            <a:ext cx="4023360" cy="594360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365760" y="2276856"/>
            <a:ext cx="45720" cy="594360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548640" y="2455803"/>
            <a:ext cx="3767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courses = Course.objects.all()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960120"/>
            <a:ext cx="4023360" cy="1911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2" name="Shape 10"/>
          <p:cNvSpPr/>
          <p:nvPr/>
        </p:nvSpPr>
        <p:spPr>
          <a:xfrm>
            <a:off x="4663440" y="960120"/>
            <a:ext cx="45720" cy="1911096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4846320" y="10058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A9A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filter(**kwargs)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46320" y="141732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Повертає QuerySet тільки з тими записами, що відповідають умовам. Аналог WHERE у SQL.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663440" y="2276856"/>
            <a:ext cx="4023360" cy="594360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6" name="Shape 14"/>
          <p:cNvSpPr/>
          <p:nvPr/>
        </p:nvSpPr>
        <p:spPr>
          <a:xfrm>
            <a:off x="4663440" y="2276856"/>
            <a:ext cx="45720" cy="594360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4814316" y="2309499"/>
            <a:ext cx="35981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courses = Course.objects.filter(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is_test=False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3063240"/>
            <a:ext cx="8412480" cy="1554480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9" name="Shape 17"/>
          <p:cNvSpPr/>
          <p:nvPr/>
        </p:nvSpPr>
        <p:spPr>
          <a:xfrm>
            <a:off x="365760" y="3063240"/>
            <a:ext cx="45720" cy="1554480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530352" y="3154680"/>
            <a:ext cx="81564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Можна комбінувати кілька умов (AND):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courses = Course.objects.filter(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is_test=False,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name="Python Basics"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Сортування — теж QuerySet: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courses = Course.objects.all().order_by("-created_at")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ORM Lookups — гнучкі умови фільтрації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11480" y="704088"/>
            <a:ext cx="8321040" cy="274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8412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50292" cy="7132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548640" y="1088136"/>
            <a:ext cx="1371600" cy="292608"/>
          </a:xfrm>
          <a:prstGeom prst="rect">
            <a:avLst/>
          </a:prstGeom>
          <a:solidFill>
            <a:srgbClr val="0F172A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548640" y="10881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6C9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__icontains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057400" y="1088136"/>
            <a:ext cx="1371600" cy="292608"/>
          </a:xfrm>
          <a:prstGeom prst="rect">
            <a:avLst/>
          </a:prstGeom>
          <a:solidFill>
            <a:srgbClr val="0D7377">
              <a:alpha val="20000"/>
            </a:srgbClr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2057400" y="10881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ILIKE '%...%'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566160" y="10698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 підрядка без урахування регістру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217920" y="108813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4A9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filter(name__icontains="python")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1755648"/>
            <a:ext cx="8412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3" name="Shape 11"/>
          <p:cNvSpPr/>
          <p:nvPr/>
        </p:nvSpPr>
        <p:spPr>
          <a:xfrm>
            <a:off x="365760" y="1755648"/>
            <a:ext cx="50292" cy="7132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Shape 12"/>
          <p:cNvSpPr/>
          <p:nvPr/>
        </p:nvSpPr>
        <p:spPr>
          <a:xfrm>
            <a:off x="548640" y="1883664"/>
            <a:ext cx="1371600" cy="292608"/>
          </a:xfrm>
          <a:prstGeom prst="rect">
            <a:avLst/>
          </a:prstGeom>
          <a:solidFill>
            <a:srgbClr val="0F172A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548640" y="188366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6C9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__lte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057400" y="1883664"/>
            <a:ext cx="1371600" cy="292608"/>
          </a:xfrm>
          <a:prstGeom prst="rect">
            <a:avLst/>
          </a:prstGeom>
          <a:solidFill>
            <a:srgbClr val="0D7377">
              <a:alpha val="20000"/>
            </a:srgbClr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2057400" y="188366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&lt;= value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566160" y="1865376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Менше або рівно (less than or equal)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217920" y="1883664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4A9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filter(id__lte=10)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2551176"/>
            <a:ext cx="8412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1" name="Shape 19"/>
          <p:cNvSpPr/>
          <p:nvPr/>
        </p:nvSpPr>
        <p:spPr>
          <a:xfrm>
            <a:off x="365760" y="2551176"/>
            <a:ext cx="50292" cy="7132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2" name="Shape 20"/>
          <p:cNvSpPr/>
          <p:nvPr/>
        </p:nvSpPr>
        <p:spPr>
          <a:xfrm>
            <a:off x="548640" y="2679192"/>
            <a:ext cx="1371600" cy="292608"/>
          </a:xfrm>
          <a:prstGeom prst="rect">
            <a:avLst/>
          </a:prstGeom>
          <a:solidFill>
            <a:srgbClr val="0F172A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548640" y="267919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6C9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__gte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2057400" y="2679192"/>
            <a:ext cx="1371600" cy="292608"/>
          </a:xfrm>
          <a:prstGeom prst="rect">
            <a:avLst/>
          </a:prstGeom>
          <a:solidFill>
            <a:srgbClr val="0D7377">
              <a:alpha val="20000"/>
            </a:srgbClr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Text 23"/>
          <p:cNvSpPr/>
          <p:nvPr/>
        </p:nvSpPr>
        <p:spPr>
          <a:xfrm>
            <a:off x="2057400" y="267919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 value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566160" y="266090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Більше або рівно (greater than or equal)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217920" y="2679192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4A9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filter(id__gte=5)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3346704"/>
            <a:ext cx="8412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9" name="Shape 27"/>
          <p:cNvSpPr/>
          <p:nvPr/>
        </p:nvSpPr>
        <p:spPr>
          <a:xfrm>
            <a:off x="365760" y="3346704"/>
            <a:ext cx="50292" cy="7132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0" name="Shape 28"/>
          <p:cNvSpPr/>
          <p:nvPr/>
        </p:nvSpPr>
        <p:spPr>
          <a:xfrm>
            <a:off x="548640" y="3474720"/>
            <a:ext cx="1371600" cy="292608"/>
          </a:xfrm>
          <a:prstGeom prst="rect">
            <a:avLst/>
          </a:prstGeom>
          <a:solidFill>
            <a:srgbClr val="0F172A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1" name="Text 29"/>
          <p:cNvSpPr/>
          <p:nvPr/>
        </p:nvSpPr>
        <p:spPr>
          <a:xfrm>
            <a:off x="548640" y="34747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6C9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__exact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2057400" y="3474720"/>
            <a:ext cx="1371600" cy="292608"/>
          </a:xfrm>
          <a:prstGeom prst="rect">
            <a:avLst/>
          </a:prstGeom>
          <a:solidFill>
            <a:srgbClr val="0D7377">
              <a:alpha val="20000"/>
            </a:srgbClr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3" name="Text 31"/>
          <p:cNvSpPr/>
          <p:nvPr/>
        </p:nvSpPr>
        <p:spPr>
          <a:xfrm>
            <a:off x="2057400" y="34747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value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566160" y="34564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Точне співпадіння (за замовчуванням)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217920" y="3474720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4A9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filter(is_test__exact=False)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5760" y="4142232"/>
            <a:ext cx="8412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37" name="Shape 35"/>
          <p:cNvSpPr/>
          <p:nvPr/>
        </p:nvSpPr>
        <p:spPr>
          <a:xfrm>
            <a:off x="365760" y="4142232"/>
            <a:ext cx="50292" cy="7132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8" name="Shape 36"/>
          <p:cNvSpPr/>
          <p:nvPr/>
        </p:nvSpPr>
        <p:spPr>
          <a:xfrm>
            <a:off x="548640" y="4270248"/>
            <a:ext cx="1371600" cy="292608"/>
          </a:xfrm>
          <a:prstGeom prst="rect">
            <a:avLst/>
          </a:prstGeom>
          <a:solidFill>
            <a:srgbClr val="0F172A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9" name="Text 37"/>
          <p:cNvSpPr/>
          <p:nvPr/>
        </p:nvSpPr>
        <p:spPr>
          <a:xfrm>
            <a:off x="548640" y="427024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6C9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__startswith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2057400" y="4270248"/>
            <a:ext cx="1371600" cy="292608"/>
          </a:xfrm>
          <a:prstGeom prst="rect">
            <a:avLst/>
          </a:prstGeom>
          <a:solidFill>
            <a:srgbClr val="0D7377">
              <a:alpha val="20000"/>
            </a:srgbClr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1" name="Text 39"/>
          <p:cNvSpPr/>
          <p:nvPr/>
        </p:nvSpPr>
        <p:spPr>
          <a:xfrm>
            <a:off x="2057400" y="427024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LIKE '...%'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566160" y="42519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Починається з підрядка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6217920" y="427024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4A9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filter(name__startswith="Intro")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get() і get_object_or_404() — один запис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11480" y="704088"/>
            <a:ext cx="8321040" cy="274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40233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50292" cy="3291840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48640" y="102412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53E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⚠️  get()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1444752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Повертає рівно один об'єкт. Якщо не знайдено — кидає DoesNotExist. Якщо знайдено більше одного — MultipleObjectsReturned.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423160"/>
            <a:ext cx="4023360" cy="1554480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365760" y="2423160"/>
            <a:ext cx="45720" cy="1554480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530352" y="2514600"/>
            <a:ext cx="37673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course = Course.objects.get(pk=1)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Course.DoesNotExist: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треба обробляти вручну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HttpResponse(404)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960120"/>
            <a:ext cx="40233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2" name="Shape 10"/>
          <p:cNvSpPr/>
          <p:nvPr/>
        </p:nvSpPr>
        <p:spPr>
          <a:xfrm>
            <a:off x="4663440" y="960120"/>
            <a:ext cx="50292" cy="32918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4846320" y="102412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✅  get_object_or_404()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846320" y="1444752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саме, що get(), але при відсутності запису автоматично повертає 404-сторінку. Саме це ми використовуємо у view для деталей.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663440" y="2423160"/>
            <a:ext cx="4023360" cy="1554480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6" name="Shape 14"/>
          <p:cNvSpPr/>
          <p:nvPr/>
        </p:nvSpPr>
        <p:spPr>
          <a:xfrm>
            <a:off x="4663440" y="2423160"/>
            <a:ext cx="45720" cy="1554480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4828032" y="2514600"/>
            <a:ext cx="37673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django.shortcuts import (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get_object_or_404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Просто і безпечно: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course = get_object_or_404(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Course, pk=pk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5760" y="4453128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i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👉  </a:t>
            </a:r>
            <a:r>
              <a:rPr lang="uk-UA" sz="1350" b="1" i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Краще</a:t>
            </a:r>
            <a:r>
              <a:rPr lang="en-US" sz="1350" b="1" i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50" b="1" i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використовувати</a:t>
            </a:r>
            <a:r>
              <a:rPr lang="en-US" sz="1350" b="1" i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get_object_or_404() у view для сторінки деталей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A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920240"/>
            <a:ext cx="9144000" cy="1005840"/>
          </a:xfrm>
          <a:prstGeom prst="rect">
            <a:avLst/>
          </a:prstGeom>
          <a:solidFill>
            <a:srgbClr val="0D7377">
              <a:alpha val="85000"/>
            </a:srgbClr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Text 1"/>
          <p:cNvSpPr/>
          <p:nvPr/>
        </p:nvSpPr>
        <p:spPr>
          <a:xfrm>
            <a:off x="457200" y="20345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Частина 2 — View → Template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96990" y="297180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Передаємо дані і рендеримо HTML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URL → View → context: список курсів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11480" y="704088"/>
            <a:ext cx="8321040" cy="274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4206240" cy="2103120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45720" cy="2103120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30352" y="1005840"/>
            <a:ext cx="4389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courses/urls.py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django.urls import path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. import views</a:t>
            </a:r>
            <a:endParaRPr lang="en-US" sz="1100" dirty="0"/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urlpatterns = [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path("", views.course_list, name="course-list"),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path("&lt;int:pk&gt;/", views.course_detail, </a:t>
            </a:r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		name="course-detail"),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914400"/>
            <a:ext cx="4023360" cy="2560320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4754880" y="914400"/>
            <a:ext cx="45720" cy="2560320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4919472" y="1005840"/>
            <a:ext cx="3792266" cy="2415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courses/views.py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django.shortcuts import render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.models import Course</a:t>
            </a:r>
            <a:endParaRPr lang="en-US" sz="1100" dirty="0"/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course_list(request):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courses = Course.objects.all().order_by(</a:t>
            </a:r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"-created_at”</a:t>
            </a:r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)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context = {"courses": courses}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render(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request,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"courses/course_list.html",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context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3712464"/>
            <a:ext cx="1920240" cy="475488"/>
          </a:xfrm>
          <a:prstGeom prst="rect">
            <a:avLst/>
          </a:prstGeom>
          <a:solidFill>
            <a:srgbClr val="0F2A3F"/>
          </a:solidFill>
          <a:ln w="12700">
            <a:solidFill>
              <a:srgbClr val="0D737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1" name="Shape 9"/>
          <p:cNvSpPr/>
          <p:nvPr/>
        </p:nvSpPr>
        <p:spPr>
          <a:xfrm>
            <a:off x="365760" y="3712464"/>
            <a:ext cx="50292" cy="47548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502920" y="3712464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6C9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urls.py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689487" y="3758184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7377"/>
                </a:solidFill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3683497" y="3712464"/>
            <a:ext cx="1920240" cy="475488"/>
          </a:xfrm>
          <a:prstGeom prst="rect">
            <a:avLst/>
          </a:prstGeom>
          <a:solidFill>
            <a:srgbClr val="0F2A3F"/>
          </a:solidFill>
          <a:ln w="12700">
            <a:solidFill>
              <a:srgbClr val="0D737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5" name="Shape 13"/>
          <p:cNvSpPr/>
          <p:nvPr/>
        </p:nvSpPr>
        <p:spPr>
          <a:xfrm>
            <a:off x="3683497" y="3712464"/>
            <a:ext cx="50292" cy="47548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3820657" y="3712464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6C9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views.py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930811" y="3758184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7377"/>
                </a:solidFill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6837218" y="3712464"/>
            <a:ext cx="1920240" cy="475488"/>
          </a:xfrm>
          <a:prstGeom prst="rect">
            <a:avLst/>
          </a:prstGeom>
          <a:solidFill>
            <a:srgbClr val="0F2A3F"/>
          </a:solidFill>
          <a:ln w="12700">
            <a:solidFill>
              <a:srgbClr val="0D737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9" name="Shape 17"/>
          <p:cNvSpPr/>
          <p:nvPr/>
        </p:nvSpPr>
        <p:spPr>
          <a:xfrm>
            <a:off x="6837218" y="3712464"/>
            <a:ext cx="50292" cy="47548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6974378" y="3712464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6C9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template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4361688"/>
            <a:ext cx="8412480" cy="475488"/>
          </a:xfrm>
          <a:prstGeom prst="rect">
            <a:avLst/>
          </a:prstGeom>
          <a:solidFill>
            <a:srgbClr val="0D7377">
              <a:alpha val="12000"/>
            </a:srgbClr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2" name="Text 20"/>
          <p:cNvSpPr/>
          <p:nvPr/>
        </p:nvSpPr>
        <p:spPr>
          <a:xfrm>
            <a:off x="685800" y="4398264"/>
            <a:ext cx="8138160" cy="3885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— це Python-словник, де ключ стає змінною у шаблоні. "courses" у context → {{ courses }} у HTML.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Template: цикл {% for %} і {% empty %}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11480" y="704088"/>
            <a:ext cx="8321040" cy="274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4937760" cy="3749040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45720" cy="3749040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30352" y="1005840"/>
            <a:ext cx="468172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{# courses/templates/courses/course_list.html #}</a:t>
            </a:r>
            <a:endParaRPr lang="en-US" sz="1150" dirty="0"/>
          </a:p>
          <a:p>
            <a:pPr marL="0" indent="0" algn="l">
              <a:buNone/>
            </a:pP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&lt;h1&gt;Курси&lt;/h1&gt;</a:t>
            </a:r>
            <a:endParaRPr lang="en-US" sz="1150" dirty="0"/>
          </a:p>
          <a:p>
            <a:pPr marL="0" indent="0" algn="l">
              <a:buNone/>
            </a:pP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&lt;ul&gt;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{% for course in courses %}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&lt;li&gt;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&lt;a href="{% url 'course-detail' course.pk %}"&gt;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{{ course.name }}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&lt;/a&gt;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{% if course.is_test %}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&lt;span class="badge"&gt;Тест&lt;/span&gt;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{% endif %}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&lt;/li&gt;</a:t>
            </a:r>
            <a:endParaRPr lang="en-US" sz="1150" dirty="0"/>
          </a:p>
          <a:p>
            <a:pPr marL="0" indent="0" algn="l">
              <a:buNone/>
            </a:pP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{% empty %}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&lt;li&gt;Поки що немає жодного курсу.&lt;/li&gt;</a:t>
            </a:r>
            <a:endParaRPr lang="en-US" sz="1150" dirty="0"/>
          </a:p>
          <a:p>
            <a:pPr marL="0" indent="0" algn="l">
              <a:buNone/>
            </a:pP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{% endfor %}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&lt;/ul&gt;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0" y="1298448"/>
            <a:ext cx="32918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5486400" y="1298448"/>
            <a:ext cx="50292" cy="438912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5669280" y="131673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Ітеруємо QuerySet так само, як Python-список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0" y="1920240"/>
            <a:ext cx="32918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1" name="Shape 9"/>
          <p:cNvSpPr/>
          <p:nvPr/>
        </p:nvSpPr>
        <p:spPr>
          <a:xfrm>
            <a:off x="5486400" y="1920240"/>
            <a:ext cx="50292" cy="438912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5669280" y="1938528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Доступаємось до полів через крапку: course.name, course.pk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0" y="2651760"/>
            <a:ext cx="32918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4" name="Shape 12"/>
          <p:cNvSpPr/>
          <p:nvPr/>
        </p:nvSpPr>
        <p:spPr>
          <a:xfrm>
            <a:off x="5486400" y="2651760"/>
            <a:ext cx="50292" cy="438912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5669280" y="2670048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{% url %} генерує посилання за name з urls.py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0" y="3246120"/>
            <a:ext cx="32918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7" name="Shape 15"/>
          <p:cNvSpPr/>
          <p:nvPr/>
        </p:nvSpPr>
        <p:spPr>
          <a:xfrm>
            <a:off x="5486400" y="3246120"/>
            <a:ext cx="50292" cy="438912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5669280" y="3264408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{% if %} — умова всередині циклу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0" y="3749040"/>
            <a:ext cx="32918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0" name="Shape 18"/>
          <p:cNvSpPr/>
          <p:nvPr/>
        </p:nvSpPr>
        <p:spPr>
          <a:xfrm>
            <a:off x="5486400" y="3749040"/>
            <a:ext cx="50292" cy="438912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5669280" y="3767328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{% empty %} — виконується, якщо QuerySet порожній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View деталей: pk з URL → один об'єкт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11480" y="704088"/>
            <a:ext cx="8321040" cy="274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4206240" cy="32004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45720" cy="3200400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395020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courses/views.py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django.shortcuts import (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render, get_object_or_404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.models import Course</a:t>
            </a:r>
            <a:endParaRPr lang="en-US" sz="1150" dirty="0"/>
          </a:p>
          <a:p>
            <a:pPr marL="0" indent="0" algn="l">
              <a:buNone/>
            </a:pP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course_detail(request, pk):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course = get_object_or_404(Course, pk=pk)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context = {"course": course}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render(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request,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"courses/course_detail.html",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context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54880" y="914400"/>
            <a:ext cx="4023360" cy="36576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4754880" y="914400"/>
            <a:ext cx="45720" cy="3657600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4873752" y="971182"/>
            <a:ext cx="39044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{# courses/templates/courses/course_detail.html #}</a:t>
            </a:r>
            <a:endParaRPr lang="en-US" sz="1100" dirty="0"/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&lt;h1&gt;{{ course.name }}&lt;/h1&gt;</a:t>
            </a:r>
            <a:endParaRPr lang="en-US" sz="1100" dirty="0"/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&lt;p&gt;{{ course.description }}&lt;/p&gt;</a:t>
            </a:r>
            <a:endParaRPr lang="en-US" sz="1100" dirty="0"/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Статус: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{% if course.is_test %}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Тестовий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{% else %}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Основний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{% endif %}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&lt;/p&gt;</a:t>
            </a:r>
            <a:endParaRPr lang="en-US" sz="1100" dirty="0"/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&lt;p&gt;Створено: {{ course.created_at|date:"d.m.Y" }}&lt;/p&gt;</a:t>
            </a:r>
            <a:endParaRPr lang="en-US" sz="1100" dirty="0"/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&lt;a href="{% url 'course-list' %}"&gt;← Назад до списку&lt;/a&gt;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4297680"/>
            <a:ext cx="4206240" cy="548640"/>
          </a:xfrm>
          <a:prstGeom prst="rect">
            <a:avLst/>
          </a:prstGeom>
          <a:solidFill>
            <a:srgbClr val="0D7377">
              <a:alpha val="12000"/>
            </a:srgbClr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502920" y="4315968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автоматично повернe 404,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якщо запису з таким pk не існує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2A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04660"/>
            <a:ext cx="9144000" cy="1168739"/>
          </a:xfrm>
          <a:prstGeom prst="rect">
            <a:avLst/>
          </a:prstGeom>
          <a:solidFill>
            <a:srgbClr val="0D7377">
              <a:alpha val="85000"/>
            </a:srgbClr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Text 1"/>
          <p:cNvSpPr/>
          <p:nvPr/>
        </p:nvSpPr>
        <p:spPr>
          <a:xfrm>
            <a:off x="70338" y="1965960"/>
            <a:ext cx="90033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Частина 3 — Зв'язки між моделями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2998977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ForeignKey, on_delete та міграція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ForeignKey — один-до-багатьох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11480" y="704088"/>
            <a:ext cx="8321040" cy="274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37490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50292" cy="23774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D737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💡  Аналогія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викладач → багато курсів.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курс → багато </a:t>
            </a:r>
            <a:r>
              <a:rPr lang="uk-UA" sz="13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модулів</a:t>
            </a:r>
            <a:r>
              <a:rPr lang="en-US" sz="13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ForeignKey — це посилання з «дочірньої» таблиці на «батьківську». В базі це звичайна колонка teacher_id з числом.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97680" y="960120"/>
            <a:ext cx="4572000" cy="3520440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4297680" y="960120"/>
            <a:ext cx="45720" cy="3520440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4462272" y="1051560"/>
            <a:ext cx="431596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courses/models.py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django.db import models</a:t>
            </a:r>
            <a:endParaRPr lang="en-US" sz="1100" dirty="0"/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Teacher(models.Model):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  = models.CharField(max_length=100)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email = models.EmailField(unique=True)</a:t>
            </a:r>
            <a:endParaRPr lang="en-US" sz="1100" dirty="0"/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__str__(self):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self.name</a:t>
            </a:r>
            <a:endParaRPr lang="en-US" sz="1100" dirty="0"/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Course(models.Model):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    = models.CharField(max_length=200)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teacher = models.ForeignKey(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Teacher,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on_delete=models.CASCADE,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related_name="courses",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created_at = models.DateTimeField(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auto_now_add=True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3520440"/>
            <a:ext cx="3749040" cy="960120"/>
          </a:xfrm>
          <a:prstGeom prst="rect">
            <a:avLst/>
          </a:prstGeom>
          <a:solidFill>
            <a:srgbClr val="0F2A3F"/>
          </a:solidFill>
          <a:ln w="12700">
            <a:solidFill>
              <a:srgbClr val="0D737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502920" y="35661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6C90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on_delete — що робити при видаленні батька: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391363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4A9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CASCADE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737360" y="391363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видалити і дочірні записи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" y="409651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4A9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SET_NULL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737360" y="409651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поставити NULL (потрібен null=True)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" y="427939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4A9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PROTECT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737360" y="42793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заборонити видалення parent-a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Міграція та реальні приклади зв'язків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11480" y="704088"/>
            <a:ext cx="8321040" cy="274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84124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50292" cy="749808"/>
          </a:xfrm>
          <a:prstGeom prst="rect">
            <a:avLst/>
          </a:prstGeom>
          <a:solidFill>
            <a:srgbClr val="F6C90E"/>
          </a:solidFill>
          <a:ln w="12700">
            <a:solidFill>
              <a:srgbClr val="F6C90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48640" y="112014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Після кожної зміни моделей — два кроки: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931920" y="1033272"/>
            <a:ext cx="2286000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4005072" y="1033272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4A9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manage.py makemigrations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195060" y="1097280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7377"/>
                </a:solidFill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033272"/>
            <a:ext cx="2286000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6473952" y="1033272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4A9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manage.py migrate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65760" y="1901952"/>
            <a:ext cx="2788920" cy="2852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3" name="Shape 11"/>
          <p:cNvSpPr/>
          <p:nvPr/>
        </p:nvSpPr>
        <p:spPr>
          <a:xfrm>
            <a:off x="365760" y="1901952"/>
            <a:ext cx="50292" cy="285292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530352" y="19385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Курс → Викладач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578608" y="1984248"/>
            <a:ext cx="475488" cy="237744"/>
          </a:xfrm>
          <a:prstGeom prst="rect">
            <a:avLst/>
          </a:prstGeom>
          <a:solidFill>
            <a:srgbClr val="0D7377">
              <a:alpha val="25000"/>
            </a:srgbClr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2578608" y="1984248"/>
            <a:ext cx="475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edu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65760" y="2331720"/>
            <a:ext cx="2788920" cy="1691640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8" name="Shape 16"/>
          <p:cNvSpPr/>
          <p:nvPr/>
        </p:nvSpPr>
        <p:spPr>
          <a:xfrm>
            <a:off x="365760" y="2331720"/>
            <a:ext cx="45720" cy="1691640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530352" y="2423160"/>
            <a:ext cx="253288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Course(models.Model):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teacher = models.ForeignKey(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Teacher,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on_delete=models.CASCADE,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related_name="courses",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75488" y="4059936"/>
            <a:ext cx="25786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Видаляємо викладача → всі його курси теж зникають (CASCADE)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310128" y="1901952"/>
            <a:ext cx="2788920" cy="2852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2" name="Shape 20"/>
          <p:cNvSpPr/>
          <p:nvPr/>
        </p:nvSpPr>
        <p:spPr>
          <a:xfrm>
            <a:off x="3310128" y="1901952"/>
            <a:ext cx="50292" cy="2852928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3474720" y="19385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Урок → Курс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22976" y="1984248"/>
            <a:ext cx="475488" cy="237744"/>
          </a:xfrm>
          <a:prstGeom prst="rect">
            <a:avLst/>
          </a:prstGeom>
          <a:solidFill>
            <a:srgbClr val="14A9AD">
              <a:alpha val="25000"/>
            </a:srgbClr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Text 23"/>
          <p:cNvSpPr/>
          <p:nvPr/>
        </p:nvSpPr>
        <p:spPr>
          <a:xfrm>
            <a:off x="5522976" y="1984248"/>
            <a:ext cx="475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4A9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edu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310128" y="2331720"/>
            <a:ext cx="2788920" cy="1691640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7" name="Shape 25"/>
          <p:cNvSpPr/>
          <p:nvPr/>
        </p:nvSpPr>
        <p:spPr>
          <a:xfrm>
            <a:off x="3310128" y="2331720"/>
            <a:ext cx="45720" cy="1691640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8" name="Text 26"/>
          <p:cNvSpPr/>
          <p:nvPr/>
        </p:nvSpPr>
        <p:spPr>
          <a:xfrm>
            <a:off x="3474720" y="2423160"/>
            <a:ext cx="253288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Lesson(models.Model):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course = models.ForeignKey(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Course,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on_delete=models.CASCADE,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related_name="lessons",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title = models.CharField(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max_length=200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419856" y="4059936"/>
            <a:ext cx="25786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курс має багато уроків. related_name дозволяє: course.lessons.all()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254496" y="1901952"/>
            <a:ext cx="2788920" cy="2852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31" name="Shape 29"/>
          <p:cNvSpPr/>
          <p:nvPr/>
        </p:nvSpPr>
        <p:spPr>
          <a:xfrm>
            <a:off x="6254496" y="1901952"/>
            <a:ext cx="50292" cy="28529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2" name="Text 30"/>
          <p:cNvSpPr/>
          <p:nvPr/>
        </p:nvSpPr>
        <p:spPr>
          <a:xfrm>
            <a:off x="6419088" y="19385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Гравець → Команда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467344" y="1984248"/>
            <a:ext cx="475488" cy="237744"/>
          </a:xfrm>
          <a:prstGeom prst="rect">
            <a:avLst/>
          </a:prstGeom>
          <a:solidFill>
            <a:srgbClr val="10B981">
              <a:alpha val="25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4" name="Text 32"/>
          <p:cNvSpPr/>
          <p:nvPr/>
        </p:nvSpPr>
        <p:spPr>
          <a:xfrm>
            <a:off x="8467344" y="1984248"/>
            <a:ext cx="475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pet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254496" y="2331720"/>
            <a:ext cx="2788920" cy="1691640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36" name="Shape 34"/>
          <p:cNvSpPr/>
          <p:nvPr/>
        </p:nvSpPr>
        <p:spPr>
          <a:xfrm>
            <a:off x="6254496" y="2331720"/>
            <a:ext cx="45720" cy="1691640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7" name="Text 35"/>
          <p:cNvSpPr/>
          <p:nvPr/>
        </p:nvSpPr>
        <p:spPr>
          <a:xfrm>
            <a:off x="6419088" y="2423160"/>
            <a:ext cx="253288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Player(models.Model):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team = models.ForeignKey(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Team,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on_delete=models.SET_NULL,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null=True,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blank=True,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related_name="players",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364224" y="4059936"/>
            <a:ext cx="25786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Гравець може бути без команди (SET_NULL + null=True)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2A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🏠  Домашнє завдання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8412480" cy="749808"/>
          </a:xfrm>
          <a:prstGeom prst="rect">
            <a:avLst/>
          </a:prstGeom>
          <a:solidFill>
            <a:srgbClr val="1A3A52"/>
          </a:solidFill>
          <a:ln w="12700">
            <a:solidFill>
              <a:srgbClr val="0D737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420624" cy="42062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475488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24128" y="1143000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Реалізувати сторінку списку через ORM (Course.objects.all()), а не через список у коді.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65760" y="1938528"/>
            <a:ext cx="8412480" cy="749808"/>
          </a:xfrm>
          <a:prstGeom prst="rect">
            <a:avLst/>
          </a:prstGeom>
          <a:solidFill>
            <a:srgbClr val="1A3A52"/>
          </a:solidFill>
          <a:ln w="12700">
            <a:solidFill>
              <a:srgbClr val="0D737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475488" y="2093976"/>
            <a:ext cx="420624" cy="42062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475488" y="20939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24128" y="2029968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Реалізувати сторінку деталей через pk і get_object_or_404().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365760" y="2825496"/>
            <a:ext cx="8412480" cy="749808"/>
          </a:xfrm>
          <a:prstGeom prst="rect">
            <a:avLst/>
          </a:prstGeom>
          <a:solidFill>
            <a:srgbClr val="1A3A52"/>
          </a:solidFill>
          <a:ln w="12700">
            <a:solidFill>
              <a:srgbClr val="0D737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3" name="Shape 11"/>
          <p:cNvSpPr/>
          <p:nvPr/>
        </p:nvSpPr>
        <p:spPr>
          <a:xfrm>
            <a:off x="475488" y="2980944"/>
            <a:ext cx="420624" cy="42062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475488" y="29809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24128" y="2916936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Додати посилання зі списку на детальну сторінку через {% url 'course-detail' course.pk %}.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365760" y="3712464"/>
            <a:ext cx="8412480" cy="749808"/>
          </a:xfrm>
          <a:prstGeom prst="rect">
            <a:avLst/>
          </a:prstGeom>
          <a:solidFill>
            <a:srgbClr val="1A3A52"/>
          </a:solidFill>
          <a:ln w="12700">
            <a:solidFill>
              <a:srgbClr val="0D737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7" name="Shape 15"/>
          <p:cNvSpPr/>
          <p:nvPr/>
        </p:nvSpPr>
        <p:spPr>
          <a:xfrm>
            <a:off x="475488" y="3867912"/>
            <a:ext cx="420624" cy="42062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475488" y="38679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24128" y="3803904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Переконатися: на обох сторінках відображаються записи, створені через адмін-панель.</a:t>
            </a:r>
            <a:endParaRPr lang="en-US" sz="1350" dirty="0"/>
          </a:p>
        </p:txBody>
      </p:sp>
      <p:sp>
        <p:nvSpPr>
          <p:cNvPr id="24" name="Shape 18">
            <a:extLst>
              <a:ext uri="{FF2B5EF4-FFF2-40B4-BE49-F238E27FC236}">
                <a16:creationId xmlns:a16="http://schemas.microsoft.com/office/drawing/2014/main" id="{37479D98-48DE-CC7A-7E08-D2A7F093D77A}"/>
              </a:ext>
            </a:extLst>
          </p:cNvPr>
          <p:cNvSpPr/>
          <p:nvPr/>
        </p:nvSpPr>
        <p:spPr>
          <a:xfrm>
            <a:off x="365760" y="4572000"/>
            <a:ext cx="8412480" cy="438912"/>
          </a:xfrm>
          <a:prstGeom prst="rect">
            <a:avLst/>
          </a:prstGeom>
          <a:solidFill>
            <a:srgbClr val="0F2A3F"/>
          </a:solidFill>
          <a:ln w="12700">
            <a:solidFill>
              <a:srgbClr val="0D737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5" name="Shape 19">
            <a:extLst>
              <a:ext uri="{FF2B5EF4-FFF2-40B4-BE49-F238E27FC236}">
                <a16:creationId xmlns:a16="http://schemas.microsoft.com/office/drawing/2014/main" id="{D7383737-DDF1-5B7F-BF82-74C4A32EF408}"/>
              </a:ext>
            </a:extLst>
          </p:cNvPr>
          <p:cNvSpPr/>
          <p:nvPr/>
        </p:nvSpPr>
        <p:spPr>
          <a:xfrm>
            <a:off x="365760" y="4572000"/>
            <a:ext cx="50292" cy="438912"/>
          </a:xfrm>
          <a:prstGeom prst="rect">
            <a:avLst/>
          </a:prstGeom>
          <a:solidFill>
            <a:srgbClr val="F6C90E"/>
          </a:solidFill>
          <a:ln w="12700">
            <a:solidFill>
              <a:srgbClr val="F6C90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Text 20">
            <a:extLst>
              <a:ext uri="{FF2B5EF4-FFF2-40B4-BE49-F238E27FC236}">
                <a16:creationId xmlns:a16="http://schemas.microsoft.com/office/drawing/2014/main" id="{70B5E318-29DE-171B-AB70-B1BA59CFC8B1}"/>
              </a:ext>
            </a:extLst>
          </p:cNvPr>
          <p:cNvSpPr/>
          <p:nvPr/>
        </p:nvSpPr>
        <p:spPr>
          <a:xfrm>
            <a:off x="548640" y="459028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6C90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⭐  Додатково: </a:t>
            </a:r>
            <a:endParaRPr lang="en-US" sz="1300" dirty="0"/>
          </a:p>
        </p:txBody>
      </p:sp>
      <p:sp>
        <p:nvSpPr>
          <p:cNvPr id="27" name="Text 21">
            <a:extLst>
              <a:ext uri="{FF2B5EF4-FFF2-40B4-BE49-F238E27FC236}">
                <a16:creationId xmlns:a16="http://schemas.microsoft.com/office/drawing/2014/main" id="{6D362B38-0818-C257-74E2-60DB392BE2ED}"/>
              </a:ext>
            </a:extLst>
          </p:cNvPr>
          <p:cNvSpPr/>
          <p:nvPr/>
        </p:nvSpPr>
        <p:spPr>
          <a:xfrm>
            <a:off x="2057400" y="4590288"/>
            <a:ext cx="6492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Додати ForeignKey до своєї моделі і зробити міграцію.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Що ми сьогодні вивчили?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11480" y="704088"/>
            <a:ext cx="8321040" cy="274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333787" y="101767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333787" y="1017670"/>
            <a:ext cx="50292" cy="173736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470947" y="1182262"/>
            <a:ext cx="594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000000"/>
                </a:solidFill>
              </a:rPr>
              <a:t>🗄️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111027" y="115483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ORM = Python замість SQL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11027" y="1584598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Model.objects — точка входу. QuerySet — ледачий набір записів.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3787" y="298363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0" name="Shape 8"/>
          <p:cNvSpPr/>
          <p:nvPr/>
        </p:nvSpPr>
        <p:spPr>
          <a:xfrm>
            <a:off x="333787" y="2983630"/>
            <a:ext cx="50292" cy="173736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470947" y="3148222"/>
            <a:ext cx="594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000000"/>
                </a:solidFill>
              </a:rPr>
              <a:t>🔍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111027" y="312079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Запити до бази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11027" y="3550558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all(), filter(), get(), get_object_or_404(). Lookups: __icontains, __lte, __gte.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768627" y="101767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5" name="Shape 13"/>
          <p:cNvSpPr/>
          <p:nvPr/>
        </p:nvSpPr>
        <p:spPr>
          <a:xfrm>
            <a:off x="4768627" y="1017670"/>
            <a:ext cx="50292" cy="173736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4905787" y="1182262"/>
            <a:ext cx="594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000000"/>
                </a:solidFill>
              </a:rPr>
              <a:t>🌐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5545867" y="115483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View → Template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545867" y="1584598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context-словник передає дані. {% for %}...{% empty %}{% endfor %} у шаблоні.</a:t>
            </a:r>
            <a:endParaRPr lang="en-US" sz="1250" dirty="0"/>
          </a:p>
        </p:txBody>
      </p:sp>
      <p:sp>
        <p:nvSpPr>
          <p:cNvPr id="26" name="Shape 17">
            <a:extLst>
              <a:ext uri="{FF2B5EF4-FFF2-40B4-BE49-F238E27FC236}">
                <a16:creationId xmlns:a16="http://schemas.microsoft.com/office/drawing/2014/main" id="{4A5FA346-8C08-1F16-5F31-21530A0F137F}"/>
              </a:ext>
            </a:extLst>
          </p:cNvPr>
          <p:cNvSpPr/>
          <p:nvPr/>
        </p:nvSpPr>
        <p:spPr>
          <a:xfrm>
            <a:off x="4768627" y="298363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7" name="Shape 18">
            <a:extLst>
              <a:ext uri="{FF2B5EF4-FFF2-40B4-BE49-F238E27FC236}">
                <a16:creationId xmlns:a16="http://schemas.microsoft.com/office/drawing/2014/main" id="{6D6056BA-AA7D-4E26-3FE5-8BFF6F5B9CCB}"/>
              </a:ext>
            </a:extLst>
          </p:cNvPr>
          <p:cNvSpPr/>
          <p:nvPr/>
        </p:nvSpPr>
        <p:spPr>
          <a:xfrm>
            <a:off x="4768627" y="2983630"/>
            <a:ext cx="50292" cy="173736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8" name="Text 19">
            <a:extLst>
              <a:ext uri="{FF2B5EF4-FFF2-40B4-BE49-F238E27FC236}">
                <a16:creationId xmlns:a16="http://schemas.microsoft.com/office/drawing/2014/main" id="{297F0EAD-8A17-95E9-AC22-47D6831B65BF}"/>
              </a:ext>
            </a:extLst>
          </p:cNvPr>
          <p:cNvSpPr/>
          <p:nvPr/>
        </p:nvSpPr>
        <p:spPr>
          <a:xfrm>
            <a:off x="4905787" y="3148222"/>
            <a:ext cx="594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000000"/>
                </a:solidFill>
              </a:rPr>
              <a:t>🔗</a:t>
            </a:r>
            <a:endParaRPr lang="en-US" sz="2600" dirty="0"/>
          </a:p>
        </p:txBody>
      </p:sp>
      <p:sp>
        <p:nvSpPr>
          <p:cNvPr id="29" name="Text 20">
            <a:extLst>
              <a:ext uri="{FF2B5EF4-FFF2-40B4-BE49-F238E27FC236}">
                <a16:creationId xmlns:a16="http://schemas.microsoft.com/office/drawing/2014/main" id="{E99DAB58-A97A-E70D-9C56-4B415DB996F4}"/>
              </a:ext>
            </a:extLst>
          </p:cNvPr>
          <p:cNvSpPr/>
          <p:nvPr/>
        </p:nvSpPr>
        <p:spPr>
          <a:xfrm>
            <a:off x="5545867" y="312079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ForeignKey — зв'язки</a:t>
            </a:r>
            <a:endParaRPr lang="en-US" sz="1300" dirty="0"/>
          </a:p>
        </p:txBody>
      </p:sp>
      <p:sp>
        <p:nvSpPr>
          <p:cNvPr id="30" name="Text 21">
            <a:extLst>
              <a:ext uri="{FF2B5EF4-FFF2-40B4-BE49-F238E27FC236}">
                <a16:creationId xmlns:a16="http://schemas.microsoft.com/office/drawing/2014/main" id="{B3C7A43D-B4E7-C8C5-1249-E893B70296A4}"/>
              </a:ext>
            </a:extLst>
          </p:cNvPr>
          <p:cNvSpPr/>
          <p:nvPr/>
        </p:nvSpPr>
        <p:spPr>
          <a:xfrm>
            <a:off x="5545867" y="3550558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Один-до-багатьох. on_delete: CASCADE / SET_NULL / PROTECT. Після змін — makemigrations + migrate.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6926</TotalTime>
  <Words>1957</Words>
  <Application>Microsoft Macintosh PowerPoint</Application>
  <PresentationFormat>On-screen Show (16:9)</PresentationFormat>
  <Paragraphs>351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Arial Black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Django ORM: основи, шаблони і CBV</dc:title>
  <dc:subject>PptxGenJS Presentation</dc:subject>
  <dc:creator>PptxGenJS</dc:creator>
  <cp:lastModifiedBy>Штефан Дмитро</cp:lastModifiedBy>
  <cp:revision>10</cp:revision>
  <dcterms:created xsi:type="dcterms:W3CDTF">2026-05-02T18:52:27Z</dcterms:created>
  <dcterms:modified xsi:type="dcterms:W3CDTF">2026-05-07T14:29:13Z</dcterms:modified>
</cp:coreProperties>
</file>