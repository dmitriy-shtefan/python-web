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11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5943600" y="-182880"/>
            <a:ext cx="3657600" cy="5669280"/>
          </a:xfrm>
          <a:prstGeom prst="rect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4A9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Django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ORM, Шаблони та </a:t>
            </a:r>
            <a:r>
              <a:rPr lang="uk-UA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звʼязки між моделями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200400" cy="3657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запису у базі — до HTML-сторінки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24028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97764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71500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edu_platform / courses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Як дані потрапляють з бази до браузера?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2468880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База даних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3113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42032" y="96012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542032" y="960120"/>
            <a:ext cx="50292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633472" y="1051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33472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Django ORM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33472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Python-об'єкти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18304" y="96012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718304" y="960120"/>
            <a:ext cx="50292" cy="246888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09744" y="1051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09744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9744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+ context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94576" y="96012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6894576" y="960120"/>
            <a:ext cx="50292" cy="2468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986016" y="1051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86016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86016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HTML-сторінка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48640" y="376732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ніколи</a:t>
            </a: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пишемо SQL вручну. ORM перетворює Python-код у запити до бази автоматично.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Наша модель: Course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56168" y="1106233"/>
            <a:ext cx="4978908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56168" y="1106233"/>
            <a:ext cx="45720" cy="301752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75040" y="1177659"/>
            <a:ext cx="4864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courses/models.py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Course(models.Model):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 = models.CharField(max_length=200)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models.TextField(blank=True)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     = models.BooleanField(default=False)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 = models.DateTimeField(auto_now_add=True)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updated_at  = models.DateTimeField(auto_now=True)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85368" y="1151953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385368" y="1151953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568248" y="1170241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31288" y="1243393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031288" y="124339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85368" y="1718881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385368" y="1718881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568248" y="1737169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31288" y="1810321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031288" y="181032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85368" y="2285809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385368" y="2285809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568248" y="2304097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31288" y="2377249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031288" y="2377249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BooleanField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85368" y="2852737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385368" y="2852737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568248" y="2871025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31288" y="2944177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7031288" y="2944177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DateTimeField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85368" y="3419665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385368" y="3419665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568248" y="3437953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31288" y="3511105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031288" y="351110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DateTimeField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072342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2067791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Частина 1 — Django 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1751" y="318761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Model.objects, QuerySet, фільтри, lookup-и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Model.objects — точка входу до всіх запитів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3200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Аналогія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 Course.objects як пошуковика по таблиці курсів. Ви «запитуєте» у нього: дай мені всі курси, дай тільки активні, дай один конкретний.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Course.objects — це Manager,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вбудований у кожну модель Django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5720" cy="320040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28032" y="1051560"/>
            <a:ext cx="3858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 або view.py: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Отримати всі курси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Course.objects.all()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Відфільтрувати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Course.objects.filter(is_test=False)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Один запис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Course.objects.get(pk=1)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Кількість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Course.objects.count()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QuerySet — набір об'єктів з бази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800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Що це?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об'єктів моделі, отриманих за запитом. Схожий на звичайний Python-список, але «ледачий».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800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5029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Lazy evaluation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33472"/>
            <a:ext cx="3921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QuerySet не йде в базу відразу. Запит виконується тільки коли ви ітеруєте або виводите результат.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800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5029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456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8221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нанизувати фільтри: .filter().exclude().order_by() — кожен повертає новий QuerySet.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005840"/>
            <a:ext cx="3520440" cy="2816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303520" y="1005840"/>
            <a:ext cx="45719" cy="281635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417820" y="1289304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 = Course.objects.filter(is_test=False)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База ще НЕ викликана!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Тільки тут виконується SQL: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course in qs:          # ітерація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print(course.name)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uk-UA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Або</a:t>
            </a: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list(qs)                # явна оцінка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len(qs)                 # теж оцінює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all() і filter() — найчастіші методи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" cy="19110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QuerySet з усіма записами таблиці. Аналог SELECT * FROM courses.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76856"/>
            <a:ext cx="40233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65760" y="2276856"/>
            <a:ext cx="45720" cy="59436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48640" y="2455803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= Course.objects.all()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5720" cy="1911096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4632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A9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filter(**kwargs)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QuerySet тільки з тими записами, що відповідають умовам. Аналог WHERE у SQL.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276856"/>
            <a:ext cx="40233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663440" y="2276856"/>
            <a:ext cx="45720" cy="59436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14316" y="2309499"/>
            <a:ext cx="3598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= Course.objects.filter(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is_test=False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841248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5720" cy="155448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30352" y="3154680"/>
            <a:ext cx="8156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Можна комбінувати кілька умов (AND):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= Course.objects.filter(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is_test=False,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name="Python Basics"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Сортування — теж QuerySet: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= Course.objects.all().order_by("-created_at")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ORM Lookups — гнучкі умови фільтрації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48640" y="1088136"/>
            <a:ext cx="1371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088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__icontains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57400" y="1088136"/>
            <a:ext cx="1371600" cy="29260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057400" y="1088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ILIKE '%...%'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0" y="1069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підрядка без урахування регістру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1088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filter(name__icontains="python")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1755648"/>
            <a:ext cx="5029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48640" y="1883664"/>
            <a:ext cx="1371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4864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__lte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57400" y="1883664"/>
            <a:ext cx="1371600" cy="29260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05740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value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1865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або рівно (less than or equal)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1883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filter(id__lte=10)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5117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2551176"/>
            <a:ext cx="5029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48640" y="2679192"/>
            <a:ext cx="1371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48640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57400" y="2679192"/>
            <a:ext cx="1371600" cy="29260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2057400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value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66160" y="2660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або рівно (greater than or equal)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2679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filter(id__gte=5)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365760" y="3346704"/>
            <a:ext cx="5029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1371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48640" y="3474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__exact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057400" y="3474720"/>
            <a:ext cx="1371600" cy="29260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2057400" y="3474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value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6616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 співпадіння (за замовчуванням)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217920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filter(is_test__exact=False)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4223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365760" y="4142232"/>
            <a:ext cx="5029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548640" y="4270248"/>
            <a:ext cx="1371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548640" y="4270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__startswith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057400" y="4270248"/>
            <a:ext cx="1371600" cy="29260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2057400" y="4270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'...%'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56616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Починається з підрядка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217920" y="4270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filter(name__startswith="Intro")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get() і get_object_or_404() — один запис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32918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get()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рівно один об'єкт. Якщо не знайдено — кидає DoesNotExist. Якщо знайдено більше одного — MultipleObjectsReturned.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0233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5720" cy="155448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30352" y="2514600"/>
            <a:ext cx="3767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 = Course.objects.get(pk=1)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Course.DoesNotExist: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треба обробляти вручну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HttpResponse(404)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50292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4632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get_object_or_404()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46320" y="14447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саме, що get(), але при відсутності запису автоматично повертає 404-сторінку. Саме це ми використовуємо у view для деталей.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40233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5720" cy="155448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28032" y="2514600"/>
            <a:ext cx="3767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get_object_or_404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Просто і безпечно: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= get_object_or_404(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Course, pk=pk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53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</a:t>
            </a:r>
            <a:r>
              <a:rPr lang="uk-UA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Краще</a:t>
            </a:r>
            <a:r>
              <a:rPr lang="en-US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використовувати</a:t>
            </a:r>
            <a:r>
              <a:rPr lang="en-US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get_object_or_404() у view для сторінки деталей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005840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20345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Частина 2 — View → Template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699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Передаємо дані і рендеримо HTML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→ View → context: список курсів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" cy="210312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courses/urls.py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path("", views.course_list, name="course-list"),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path("&lt;int:pk&gt;/", views.course_detail,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	name="course-detail"),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5720" cy="256032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919472" y="1005840"/>
            <a:ext cx="3792266" cy="241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courses/views.py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render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Course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course_list(request):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courses = Course.objects.all().order_by(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"-created_at”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{"courses": courses}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"courses/course_list.html",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12464"/>
            <a:ext cx="1920240" cy="475488"/>
          </a:xfrm>
          <a:prstGeom prst="rect">
            <a:avLst/>
          </a:prstGeom>
          <a:solidFill>
            <a:srgbClr val="0F2A3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65760" y="3712464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89487" y="37581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83497" y="3712464"/>
            <a:ext cx="1920240" cy="475488"/>
          </a:xfrm>
          <a:prstGeom prst="rect">
            <a:avLst/>
          </a:prstGeom>
          <a:solidFill>
            <a:srgbClr val="0F2A3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683497" y="3712464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820657" y="37124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30811" y="37581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837218" y="3712464"/>
            <a:ext cx="1920240" cy="475488"/>
          </a:xfrm>
          <a:prstGeom prst="rect">
            <a:avLst/>
          </a:prstGeom>
          <a:solidFill>
            <a:srgbClr val="0F2A3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837218" y="3712464"/>
            <a:ext cx="5029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974378" y="37124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361688"/>
            <a:ext cx="8412480" cy="475488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85800" y="4398264"/>
            <a:ext cx="8138160" cy="38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це Python-словник, де ключ стає змінною у шаблоні. "courses" у context → {{ courses }} у HTML.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Template: цикл {% for %} і {% empty %}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93776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" cy="37490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46817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courses/templates/courses/course_list.html #}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&lt;h1&gt;Курси&lt;/h1&gt;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course in courses %}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href="{% url 'course-detail' course.pk %}"&gt;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{{ course.name }}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if course.is_test %}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 class="badge"&gt;Тест&lt;/span&gt;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endif %}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empty %}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&lt;li&gt;Поки що немає жодного курсу.&lt;/li&gt;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0" y="129844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486400" y="1298448"/>
            <a:ext cx="50292" cy="43891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669280" y="13167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Ітеруємо QuerySet так само, як Python-список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19202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486400" y="1920240"/>
            <a:ext cx="50292" cy="43891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669280" y="19385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Доступаємось до полів через крапку: course.name, course.pk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0" y="265176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486400" y="2651760"/>
            <a:ext cx="50292" cy="43891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66928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url %} генерує посилання за name з urls.py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324612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486400" y="3246120"/>
            <a:ext cx="50292" cy="43891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669280" y="3264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if %} — умова всередині циклу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37490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486400" y="3749040"/>
            <a:ext cx="50292" cy="438912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669280" y="37673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empty %} — виконується, якщо QuerySet порожній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 деталей: pk з URL → один об'єкт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" cy="320040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39502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courses/views.py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render, get_object_or_404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Course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course_detail(request, pk):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 = get_object_or_404(Course, pk=pk)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{"course": course}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"courses/course_detail.html",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5720" cy="365760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73752" y="971182"/>
            <a:ext cx="39044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courses/templates/courses/course_detail.html #}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&lt;h1&gt;{{ course.name }}&lt;/h1&gt;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&lt;p&gt;{{ course.description }}&lt;/p&gt;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Статус: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if course.is_test %}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Тестовий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else %}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Основний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endif %}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&lt;p&gt;Створено: {{ course.created_at|date:"d.m.Y" }}&lt;/p&gt;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href="{% url 'course-list' %}"&gt;← Назад до списку&lt;/a&gt;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4206240" cy="54864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автоматично повернe 404,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запису з таким pk не існує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04660"/>
            <a:ext cx="9144000" cy="1168739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70338" y="1965960"/>
            <a:ext cx="90033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Частина 3 — Зв'язки між моделями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98977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ForeignKey, on_delete та міграція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ForeignKey — один-до-багатьох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Аналогія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викладач → багато курсів.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курс → багато уроків.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— це посилання з «дочірньої» таблиці на «батьківську». В базі це звичайна колонка teacher_id з числом.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457200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45720" cy="35204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462272" y="1051560"/>
            <a:ext cx="4315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courses/models.py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Teacher(models.Model):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models.CharField(max_length=100)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= models.EmailField(unique=True)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self.name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Course(models.Model):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= models.CharField(max_length=200)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teacher = models.ForeignKey(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Teacher,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on_delete=models.CASCADE,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related_name="courses",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= models.DateTimeField(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auto_now_add=True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3749040" cy="960120"/>
          </a:xfrm>
          <a:prstGeom prst="rect">
            <a:avLst/>
          </a:prstGeom>
          <a:solidFill>
            <a:srgbClr val="0F2A3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6C9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on_delete — що робити при видаленні батька: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913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видалити і дочірні записи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SET_NULL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4096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поставити NULL (потрібен null=True)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79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заборонити видалення parent-a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Міграція та реальні приклади зв'язків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7498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Після кожної зміни моделей — два кроки: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033272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005072" y="10332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makemigrations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95060" y="10972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033272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473952" y="10332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27889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50292" cy="2852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30352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Курс → Викладач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78608" y="1984248"/>
            <a:ext cx="475488" cy="237744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2578608" y="198424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278892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5720" cy="16916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30352" y="2423160"/>
            <a:ext cx="2532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Course(models.Model):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teacher = models.ForeignKey(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Teacher,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on_delete=models.CASCADE,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related_name="courses",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40599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Видаляємо викладача → всі його курси теж зникають (CASCADE)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1901952"/>
            <a:ext cx="27889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3310128" y="1901952"/>
            <a:ext cx="50292" cy="2852928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474720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Урок → Курс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22976" y="1984248"/>
            <a:ext cx="475488" cy="237744"/>
          </a:xfrm>
          <a:prstGeom prst="rect">
            <a:avLst/>
          </a:prstGeom>
          <a:solidFill>
            <a:srgbClr val="14A9AD">
              <a:alpha val="25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522976" y="198424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A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2331720"/>
            <a:ext cx="278892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3310128" y="2331720"/>
            <a:ext cx="45720" cy="16916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3474720" y="2423160"/>
            <a:ext cx="2532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Lesson(models.Model):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 = models.ForeignKey(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on_delete=models.CASCADE,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related_name="lessons",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models.CharField(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max_length=200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19856" y="40599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курс має багато уроків. related_name дозволяє: course.lessons.all()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1901952"/>
            <a:ext cx="27889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6254496" y="1901952"/>
            <a:ext cx="50292" cy="2852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41908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Гравець → Команда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67344" y="1984248"/>
            <a:ext cx="475488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8467344" y="198424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54496" y="2331720"/>
            <a:ext cx="278892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6254496" y="2331720"/>
            <a:ext cx="45720" cy="16916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6419088" y="2423160"/>
            <a:ext cx="2532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Player(models.Model):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team = models.ForeignKey(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Team,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on_delete=models.SET_NULL,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null=True,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blank=True,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related_name="players",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64224" y="40599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може бути без команди (SET_NULL + null=True)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 Домашнє завдання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1A3A5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сторінку списку через ORM (Course.objects.all()), а не через список у коді.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8412480" cy="749808"/>
          </a:xfrm>
          <a:prstGeom prst="rect">
            <a:avLst/>
          </a:prstGeom>
          <a:solidFill>
            <a:srgbClr val="1A3A5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75488" y="2093976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5488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02996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сторінку деталей через pk і get_object_or_404().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8412480" cy="749808"/>
          </a:xfrm>
          <a:prstGeom prst="rect">
            <a:avLst/>
          </a:prstGeom>
          <a:solidFill>
            <a:srgbClr val="1A3A5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75488" y="2980944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7548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91693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посилання зі списку на детальну сторінку через {% url 'course-detail' course.pk %}.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8412480" cy="749808"/>
          </a:xfrm>
          <a:prstGeom prst="rect">
            <a:avLst/>
          </a:prstGeom>
          <a:solidFill>
            <a:srgbClr val="1A3A5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75488" y="386791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75488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8039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Переконатися: на обох сторінках відображаються записи, створені через адмін-панель.</a:t>
            </a:r>
            <a:endParaRPr lang="en-US" sz="13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37479D98-48DE-CC7A-7E08-D2A7F093D77A}"/>
              </a:ext>
            </a:extLst>
          </p:cNvPr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0F2A3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7383737-DDF1-5B7F-BF82-74C4A32EF408}"/>
              </a:ext>
            </a:extLst>
          </p:cNvPr>
          <p:cNvSpPr/>
          <p:nvPr/>
        </p:nvSpPr>
        <p:spPr>
          <a:xfrm>
            <a:off x="365760" y="4572000"/>
            <a:ext cx="50292" cy="43891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0B5E318-29DE-171B-AB70-B1BA59CFC8B1}"/>
              </a:ext>
            </a:extLst>
          </p:cNvPr>
          <p:cNvSpPr/>
          <p:nvPr/>
        </p:nvSpPr>
        <p:spPr>
          <a:xfrm>
            <a:off x="548640" y="4590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C9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 Додатково: </a:t>
            </a:r>
            <a:endParaRPr lang="en-US" sz="13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D362B38-0818-C257-74E2-60DB392BE2ED}"/>
              </a:ext>
            </a:extLst>
          </p:cNvPr>
          <p:cNvSpPr/>
          <p:nvPr/>
        </p:nvSpPr>
        <p:spPr>
          <a:xfrm>
            <a:off x="2057400" y="4590288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ForeignKey до своєї моделі і зробити міграцію.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Що ми сьогодні вивчили?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33787" y="101767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33787" y="1017670"/>
            <a:ext cx="50292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70947" y="118226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1027" y="115483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ORM = Python замість 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1027" y="158459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Model.objects — точка входу. QuerySet — ледачий набір записів.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87" y="298363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33787" y="2983630"/>
            <a:ext cx="50292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70947" y="314822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11027" y="312079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Запити до бази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1027" y="355055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all(), filter(), get(), get_object_or_404(). Lookups: __icontains, __lte, __gte.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68627" y="101767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768627" y="1017670"/>
            <a:ext cx="50292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05787" y="118226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45867" y="115483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 → Template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45867" y="158459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context-словник передає дані. {% for %}...{% empty %}{% endfor %} у шаблоні.</a:t>
            </a:r>
            <a:endParaRPr lang="en-US" sz="125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A5FA346-8C08-1F16-5F31-21530A0F137F}"/>
              </a:ext>
            </a:extLst>
          </p:cNvPr>
          <p:cNvSpPr/>
          <p:nvPr/>
        </p:nvSpPr>
        <p:spPr>
          <a:xfrm>
            <a:off x="4768627" y="298363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6D6056BA-AA7D-4E26-3FE5-8BFF6F5B9CCB}"/>
              </a:ext>
            </a:extLst>
          </p:cNvPr>
          <p:cNvSpPr/>
          <p:nvPr/>
        </p:nvSpPr>
        <p:spPr>
          <a:xfrm>
            <a:off x="4768627" y="2983630"/>
            <a:ext cx="50292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97F0EAD-8A17-95E9-AC22-47D6831B65BF}"/>
              </a:ext>
            </a:extLst>
          </p:cNvPr>
          <p:cNvSpPr/>
          <p:nvPr/>
        </p:nvSpPr>
        <p:spPr>
          <a:xfrm>
            <a:off x="4905787" y="314822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99DAB58-A97A-E70D-9C56-4B415DB996F4}"/>
              </a:ext>
            </a:extLst>
          </p:cNvPr>
          <p:cNvSpPr/>
          <p:nvPr/>
        </p:nvSpPr>
        <p:spPr>
          <a:xfrm>
            <a:off x="5545867" y="312079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ForeignKey — зв'язки</a:t>
            </a:r>
            <a:endParaRPr lang="en-US" sz="13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B3C7A43D-B4E7-C8C5-1249-E893B70296A4}"/>
              </a:ext>
            </a:extLst>
          </p:cNvPr>
          <p:cNvSpPr/>
          <p:nvPr/>
        </p:nvSpPr>
        <p:spPr>
          <a:xfrm>
            <a:off x="5545867" y="355055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Один-до-багатьох. on_delete: CASCADE / SET_NULL / PROTECT. Після змін — makemigrations + migrate.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6902</TotalTime>
  <Words>1958</Words>
  <Application>Microsoft Macintosh PowerPoint</Application>
  <PresentationFormat>On-screen Show (16:9)</PresentationFormat>
  <Paragraphs>351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ORM: основи, шаблони і CBV</dc:title>
  <dc:subject>PptxGenJS Presentation</dc:subject>
  <dc:creator>PptxGenJS</dc:creator>
  <cp:lastModifiedBy>Штефан Дмитро</cp:lastModifiedBy>
  <cp:revision>5</cp:revision>
  <dcterms:created xsi:type="dcterms:W3CDTF">2026-05-02T18:52:27Z</dcterms:created>
  <dcterms:modified xsi:type="dcterms:W3CDTF">2026-05-07T14:05:53Z</dcterms:modified>
</cp:coreProperties>
</file>