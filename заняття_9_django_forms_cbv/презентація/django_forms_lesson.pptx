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8"/>
    <p:restoredTop sz="94610"/>
  </p:normalViewPr>
  <p:slideViewPr>
    <p:cSldViewPr snapToGrid="0" snapToObjects="1">
      <p:cViewPr varScale="1">
        <p:scale>
          <a:sx n="200" d="100"/>
          <a:sy n="200" d="100"/>
        </p:scale>
        <p:origin x="20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808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1E3A8A">
              <a:alpha val="40000"/>
            </a:srgbClr>
          </a:solidFill>
          <a:ln w="12700">
            <a:solidFill>
              <a:srgbClr val="1E3A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3152" cy="2286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68680" y="14401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Forms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2631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POST · CSRF · Валідація · Помилки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4160520"/>
            <a:ext cx="844906" cy="256032"/>
          </a:xfrm>
          <a:prstGeom prst="roundRect">
            <a:avLst>
              <a:gd name="adj" fmla="val 17857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84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forms.py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84248" y="41605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1984248" y="4160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is_valid()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21685" y="4160520"/>
            <a:ext cx="1166774" cy="256032"/>
          </a:xfrm>
          <a:prstGeom prst="roundRect">
            <a:avLst>
              <a:gd name="adj" fmla="val 17857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3421685" y="4160520"/>
            <a:ext cx="11667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cleaned_data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0056" y="4160520"/>
            <a:ext cx="1488643" cy="256032"/>
          </a:xfrm>
          <a:prstGeom prst="roundRect">
            <a:avLst>
              <a:gd name="adj" fmla="val 17857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020056" y="4160520"/>
            <a:ext cx="14886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csrf_token %}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40296" y="4160520"/>
            <a:ext cx="1408176" cy="256032"/>
          </a:xfrm>
          <a:prstGeom prst="roundRect">
            <a:avLst>
              <a:gd name="adj" fmla="val 17857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940296" y="416052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clean_&lt;field&gt;()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розберемо сьогодні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4069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438912" cy="43891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70432" y="10789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як контрольований ввід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44475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 vs Django Form, GET vs POST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4069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438912" cy="43891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4048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Анатомія Django 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27706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forms.py, поля, widgets, bound/unbound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4069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438912" cy="43891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0432" y="37307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обробка GET і POST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09651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запит → форма → відповідь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914400"/>
            <a:ext cx="4069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983480" y="1234440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983480" y="1234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13832" y="10789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{% csrf_token %}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13832" y="144475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Безпека, відображення форми і помилок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240280"/>
            <a:ext cx="4069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4983480" y="2560320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983480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13832" y="24048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Валідація і clean_()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13832" y="27706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is_valid(), cleaned_data, кастомні перевірки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566160"/>
            <a:ext cx="4069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4983480" y="3886200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983480" y="3886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13832" y="37307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+ Домашнє завдання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13832" y="409651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Пишемо CourseForm для edu_platform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 vs Django 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3886200" cy="3794760"/>
          </a:xfrm>
          <a:prstGeom prst="rect">
            <a:avLst/>
          </a:prstGeom>
          <a:solidFill>
            <a:srgbClr val="FFF7F0"/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388620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🔴  Голий HTML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444752"/>
            <a:ext cx="3703320" cy="1371600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722376" y="1536192"/>
            <a:ext cx="3447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name="name" type="text"&gt;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name="email" type="email"&gt;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type="submit"&gt;Save&lt;/button&gt;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29260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Валідацію пишете вручну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26440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914400" y="3218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Немає захисту від CSRF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360273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914400" y="3557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Типи даних — лише рядки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94106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914400" y="38953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Помилки показувати самостійно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427939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914400" y="4233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Повторення коду у кожному 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3977640" cy="3794760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39776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754880" y="10058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🟢  Django Form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444752"/>
            <a:ext cx="3794760" cy="1371600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882896" y="1536192"/>
            <a:ext cx="3538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CourseForm(forms.Form):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= forms.CharField()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 = forms.EmailField()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у view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= CourseForm(request.POST)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form.is_valid():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form.cleaned_data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9260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056632" y="28803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Валідація — вбудована + кастомна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2644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056632" y="3218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CSRF-токен — один тег у шаблоні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60273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5056632" y="35570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cleaned_data → Python-типи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394106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5056632" y="38953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Помилки — автоматично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42793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5056632" y="42336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Повторне використання форми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і POST: коли що використовувати?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3840480" cy="3200400"/>
          </a:xfrm>
          <a:prstGeom prst="rect">
            <a:avLst/>
          </a:prstGeom>
          <a:solidFill>
            <a:srgbClr val="EFF6FF"/>
          </a:solidFill>
          <a:ln w="6350">
            <a:solidFill>
              <a:srgbClr val="1E3A8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384048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94360" y="9875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GET  —  запит даних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3611880" cy="822960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722376" y="1554480"/>
            <a:ext cx="3355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/courses/?q=python&amp;page=2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Параметри видно в URL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Можна зберегти як закладку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164592" cy="16459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Пошук, фільтрація, пагінація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2807208"/>
            <a:ext cx="164592" cy="16459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914400" y="2761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Форма не змінює дані на сервері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3191256"/>
            <a:ext cx="164592" cy="16459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914400" y="31455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Безпечний для кешування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575304"/>
            <a:ext cx="164592" cy="16459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914400" y="352958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Повторний запит — нешкідливий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987552"/>
            <a:ext cx="3840480" cy="3200400"/>
          </a:xfrm>
          <a:prstGeom prst="rect">
            <a:avLst/>
          </a:prstGeom>
          <a:solidFill>
            <a:srgbClr val="FFF7ED"/>
          </a:solidFill>
          <a:ln w="635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800600" y="987552"/>
            <a:ext cx="384048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892040" y="9875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  —  надсилання даних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1463040"/>
            <a:ext cx="3611880" cy="822960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020056" y="1554480"/>
            <a:ext cx="3355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/courses/create/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Тіло запиту — не в URL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CSRF-токен обов'язковий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Django: request.POST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56048" y="2423160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212080" y="2377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Створення / редагування запису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56048" y="2807208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212080" y="2761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Надсилання форми з даними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56048" y="3191256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212080" y="31455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Завантаження файлів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56048" y="3575304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5212080" y="352958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Дія, яка змінює стан системи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4343400"/>
            <a:ext cx="8229600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685800" y="43708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Правило: форма зі змінами даних — POST + csrf_token. Пошук — GET.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Життєвий цикл Django 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835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463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8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46304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50876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GET-запит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8928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Браузер → /courses/create/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47088" y="182880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2276856" y="1737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1051560"/>
            <a:ext cx="1463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2011680" y="1051560"/>
            <a:ext cx="146304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2011680" y="1051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75688" y="150876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Unbound 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75688" y="18928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CourseForm() без даних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93008" y="182880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3922776" y="1737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0" y="1051560"/>
            <a:ext cx="1463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3657600" y="1051560"/>
            <a:ext cx="146304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3657600" y="1051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21608" y="150876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Render template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21608" y="18928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Порожня форма у браузері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38928" y="182880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568696" y="1737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03520" y="1051560"/>
            <a:ext cx="1463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5303520" y="1051560"/>
            <a:ext cx="146304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303520" y="1051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67528" y="150876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POST-запит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67528" y="18928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Користувач → submit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84848" y="182880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7214616" y="1737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49440" y="1051560"/>
            <a:ext cx="1463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6949440" y="1051560"/>
            <a:ext cx="146304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6949440" y="1051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13448" y="150876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Bound Form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13448" y="18928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CourseForm(request.POST)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174361" y="2880360"/>
            <a:ext cx="1463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9" name="Shape 37"/>
          <p:cNvSpPr/>
          <p:nvPr/>
        </p:nvSpPr>
        <p:spPr>
          <a:xfrm>
            <a:off x="1174361" y="2880360"/>
            <a:ext cx="14630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38"/>
          <p:cNvSpPr/>
          <p:nvPr/>
        </p:nvSpPr>
        <p:spPr>
          <a:xfrm>
            <a:off x="1174361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38369" y="333756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is_valid()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238369" y="37216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Запускає всю валідацію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55689" y="365760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Text 42"/>
          <p:cNvSpPr/>
          <p:nvPr/>
        </p:nvSpPr>
        <p:spPr>
          <a:xfrm>
            <a:off x="3085457" y="3566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820281" y="2880360"/>
            <a:ext cx="1463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6" name="Shape 44"/>
          <p:cNvSpPr/>
          <p:nvPr/>
        </p:nvSpPr>
        <p:spPr>
          <a:xfrm>
            <a:off x="2820281" y="2880360"/>
            <a:ext cx="146304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7" name="Text 45"/>
          <p:cNvSpPr/>
          <p:nvPr/>
        </p:nvSpPr>
        <p:spPr>
          <a:xfrm>
            <a:off x="2820281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884289" y="333756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cleaned_data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884289" y="37216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Python-типи, готові до роботи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01609" y="365760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1" name="Text 49"/>
          <p:cNvSpPr/>
          <p:nvPr/>
        </p:nvSpPr>
        <p:spPr>
          <a:xfrm>
            <a:off x="4731377" y="3566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466201" y="2880360"/>
            <a:ext cx="1463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3" name="Shape 51"/>
          <p:cNvSpPr/>
          <p:nvPr/>
        </p:nvSpPr>
        <p:spPr>
          <a:xfrm>
            <a:off x="4466201" y="2880360"/>
            <a:ext cx="146304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4" name="Text 52"/>
          <p:cNvSpPr/>
          <p:nvPr/>
        </p:nvSpPr>
        <p:spPr>
          <a:xfrm>
            <a:off x="4466201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530209" y="333756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Помилки?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30209" y="37216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form.errors → template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47529" y="365760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8" name="Text 56"/>
          <p:cNvSpPr/>
          <p:nvPr/>
        </p:nvSpPr>
        <p:spPr>
          <a:xfrm>
            <a:off x="6377297" y="3566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112121" y="2880360"/>
            <a:ext cx="1463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0" name="Shape 58"/>
          <p:cNvSpPr/>
          <p:nvPr/>
        </p:nvSpPr>
        <p:spPr>
          <a:xfrm>
            <a:off x="6112121" y="2880360"/>
            <a:ext cx="146304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1" name="Text 59"/>
          <p:cNvSpPr/>
          <p:nvPr/>
        </p:nvSpPr>
        <p:spPr>
          <a:xfrm>
            <a:off x="6112121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176129" y="333756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Redirect / Save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176129" y="37216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POST → redirect, GET show form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forms.py — перша форма для CourseForm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4846320" cy="3886200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12648" y="10058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courses/forms.py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30936" y="1197864"/>
            <a:ext cx="4590288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courses/forms.py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 import forms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CourseForm(forms.Form):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forms.CharField(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max_length=200,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label="Назва курсу",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help_text="Максимум 200 символів",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widget=forms.TextInput(attrs={"placeholder": "Python для початківців"}),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 = forms.CharField(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required=False,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label="Опис",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widget=forms.Textarea(attrs={"rows": 4}),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is_test = forms.BooleanField(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required=False,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label="Тестовий курс",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help_text="Позначте, якщо курс ще в розробці",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40680" y="1600200"/>
            <a:ext cx="3291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5440680" y="1600200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5532120" y="1723644"/>
            <a:ext cx="882396" cy="201168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532120" y="1723644"/>
            <a:ext cx="882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CharField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60236" y="1636776"/>
            <a:ext cx="2226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Рядки — найчастіший тип. max_length — ліміт символів.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0680" y="2331720"/>
            <a:ext cx="3291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440680" y="2331720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5532120" y="2453728"/>
            <a:ext cx="571500" cy="201168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532120" y="2453728"/>
            <a:ext cx="571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49340" y="2368296"/>
            <a:ext cx="2537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Що побачить користувач замість імені поля.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2880360"/>
            <a:ext cx="3291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5440680" y="2880360"/>
            <a:ext cx="54864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5532120" y="3024359"/>
            <a:ext cx="882396" cy="201168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532120" y="3033503"/>
            <a:ext cx="882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help_text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60236" y="2916936"/>
            <a:ext cx="2226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Підказка під полем у шаблоні.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3429000"/>
            <a:ext cx="3291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5440680" y="3429000"/>
            <a:ext cx="54864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5532120" y="3602736"/>
            <a:ext cx="649224" cy="201168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532120" y="3602736"/>
            <a:ext cx="649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27064" y="346557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Який HTML-елемент згенерувати.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TextInput → &lt;input&gt;, Textarea → &lt;textarea&gt;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4142232"/>
            <a:ext cx="3291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5440680" y="4142232"/>
            <a:ext cx="54864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5545836" y="4323752"/>
            <a:ext cx="1271016" cy="201168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5545836" y="432375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required=False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848856" y="417880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За замовчуванням усі поля обов'язкові.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required=False — робить поле необов'язковим.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 форми і Widgets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Довідник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2236" y="704088"/>
            <a:ext cx="1627632" cy="438912"/>
          </a:xfrm>
          <a:prstGeom prst="rect">
            <a:avLst/>
          </a:prstGeom>
          <a:solidFill>
            <a:srgbClr val="1E3A8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85388" y="70408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Django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876" y="704088"/>
            <a:ext cx="1627632" cy="438912"/>
          </a:xfrm>
          <a:prstGeom prst="rect">
            <a:avLst/>
          </a:prstGeom>
          <a:solidFill>
            <a:srgbClr val="1E3A8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2177028" y="70408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Python-тип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95516" y="704088"/>
            <a:ext cx="2029968" cy="438912"/>
          </a:xfrm>
          <a:prstGeom prst="rect">
            <a:avLst/>
          </a:prstGeom>
          <a:solidFill>
            <a:srgbClr val="1E3A8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3868668" y="7040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за замовч.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8636" y="704088"/>
            <a:ext cx="2743200" cy="438912"/>
          </a:xfrm>
          <a:prstGeom prst="rect">
            <a:avLst/>
          </a:prstGeom>
          <a:solidFill>
            <a:srgbClr val="1E3A8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971788" y="704088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 атрибута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2236" y="1143000"/>
            <a:ext cx="162763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5388" y="1143000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CharField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876" y="1143000"/>
            <a:ext cx="162763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2177028" y="1143000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95516" y="1143000"/>
            <a:ext cx="20299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3868668" y="11430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type=text&gt;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8636" y="114300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971788" y="1143000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max_length=100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2236" y="1581912"/>
            <a:ext cx="1627632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85388" y="1581912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EmailField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03876" y="1581912"/>
            <a:ext cx="1627632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2177028" y="1581912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(email)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95516" y="1581912"/>
            <a:ext cx="2029968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3868668" y="158191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type=email&gt;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98636" y="1581912"/>
            <a:ext cx="27432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971788" y="158191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2236" y="2020824"/>
            <a:ext cx="162763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5388" y="2020824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IntegerField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03876" y="2020824"/>
            <a:ext cx="162763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2177028" y="2020824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95516" y="2020824"/>
            <a:ext cx="20299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3868668" y="20208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type=number&gt;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98636" y="2020824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5971788" y="2020824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min_value=0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2236" y="2459736"/>
            <a:ext cx="1627632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Text 36"/>
          <p:cNvSpPr/>
          <p:nvPr/>
        </p:nvSpPr>
        <p:spPr>
          <a:xfrm>
            <a:off x="485388" y="245973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BooleanField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03876" y="2459736"/>
            <a:ext cx="1627632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38"/>
          <p:cNvSpPr/>
          <p:nvPr/>
        </p:nvSpPr>
        <p:spPr>
          <a:xfrm>
            <a:off x="2177028" y="245973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795516" y="2459736"/>
            <a:ext cx="2029968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2" name="Text 40"/>
          <p:cNvSpPr/>
          <p:nvPr/>
        </p:nvSpPr>
        <p:spPr>
          <a:xfrm>
            <a:off x="3868668" y="24597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type=checkbox&gt;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98636" y="2459736"/>
            <a:ext cx="27432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Text 42"/>
          <p:cNvSpPr/>
          <p:nvPr/>
        </p:nvSpPr>
        <p:spPr>
          <a:xfrm>
            <a:off x="5971788" y="2459736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required=False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236" y="2898648"/>
            <a:ext cx="162763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6" name="Text 44"/>
          <p:cNvSpPr/>
          <p:nvPr/>
        </p:nvSpPr>
        <p:spPr>
          <a:xfrm>
            <a:off x="485388" y="289864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DateField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103876" y="2898648"/>
            <a:ext cx="162763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8" name="Text 46"/>
          <p:cNvSpPr/>
          <p:nvPr/>
        </p:nvSpPr>
        <p:spPr>
          <a:xfrm>
            <a:off x="2177028" y="289864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795516" y="2898648"/>
            <a:ext cx="20299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0" name="Text 48"/>
          <p:cNvSpPr/>
          <p:nvPr/>
        </p:nvSpPr>
        <p:spPr>
          <a:xfrm>
            <a:off x="3868668" y="28986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type=text&gt;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898636" y="2898648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2" name="Text 50"/>
          <p:cNvSpPr/>
          <p:nvPr/>
        </p:nvSpPr>
        <p:spPr>
          <a:xfrm>
            <a:off x="5971788" y="2898648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widget=DateInput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2236" y="3337560"/>
            <a:ext cx="1627632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4" name="Text 52"/>
          <p:cNvSpPr/>
          <p:nvPr/>
        </p:nvSpPr>
        <p:spPr>
          <a:xfrm>
            <a:off x="485388" y="3337560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ChoiceField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103876" y="3337560"/>
            <a:ext cx="1627632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6" name="Text 54"/>
          <p:cNvSpPr/>
          <p:nvPr/>
        </p:nvSpPr>
        <p:spPr>
          <a:xfrm>
            <a:off x="2177028" y="3337560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795516" y="3337560"/>
            <a:ext cx="2029968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8" name="Text 56"/>
          <p:cNvSpPr/>
          <p:nvPr/>
        </p:nvSpPr>
        <p:spPr>
          <a:xfrm>
            <a:off x="3868668" y="33375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&lt;select&gt;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898636" y="3337560"/>
            <a:ext cx="27432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0" name="Text 58"/>
          <p:cNvSpPr/>
          <p:nvPr/>
        </p:nvSpPr>
        <p:spPr>
          <a:xfrm>
            <a:off x="5971788" y="3337560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choices=STATUS_CHOICES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12236" y="3794760"/>
            <a:ext cx="8229600" cy="1291118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2" name="Text 60"/>
          <p:cNvSpPr/>
          <p:nvPr/>
        </p:nvSpPr>
        <p:spPr>
          <a:xfrm>
            <a:off x="540252" y="3886200"/>
            <a:ext cx="8339328" cy="1152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Widget контролює ТІЛЬКИ HTML-</a:t>
            </a:r>
            <a:r>
              <a:rPr lang="uk-UA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вигляд,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uk-UA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 не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логіку валідації!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forms.CharField(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widget=forms.Textarea(attrs={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"rows": 3,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"class": "border rounded px-3 py-2 w-full",   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Tailwind CSS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"placeholder": "Введіть назву",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і Unbound форма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5499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Ключова концепція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53018" y="848443"/>
            <a:ext cx="3840480" cy="2103120"/>
          </a:xfrm>
          <a:prstGeom prst="rect">
            <a:avLst/>
          </a:prstGeom>
          <a:solidFill>
            <a:srgbClr val="F5F3FF"/>
          </a:solidFill>
          <a:ln w="635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53018" y="848443"/>
            <a:ext cx="384048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44458" y="848443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UNBOUND  —  порожня форма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458" y="1305643"/>
            <a:ext cx="3611880" cy="1508760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72474" y="1397083"/>
            <a:ext cx="3355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= CourseForm()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Немає даних → is_valid() — не викликати!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Відображаємо порожні поля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form.is_bound → False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50698" y="848443"/>
            <a:ext cx="3840480" cy="2103120"/>
          </a:xfrm>
          <a:prstGeom prst="rect">
            <a:avLst/>
          </a:prstGeom>
          <a:solidFill>
            <a:srgbClr val="FFF7ED"/>
          </a:solidFill>
          <a:ln w="635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650698" y="848443"/>
            <a:ext cx="384048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742138" y="848443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BOUND  —  форма з даними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42138" y="1305643"/>
            <a:ext cx="3611880" cy="1508760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70154" y="1397083"/>
            <a:ext cx="3355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= CourseForm(request.POST)</a:t>
            </a:r>
            <a:endParaRPr lang="en-US" sz="950" dirty="0"/>
          </a:p>
          <a:p>
            <a:pPr marL="0" indent="0">
              <a:buNone/>
            </a:pP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Дані прив'язані → можна валідувати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form.is_bound → True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form.is_valid() → запускає валідацію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8738" y="3088723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Важливо запам'ятати: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3018" y="3454483"/>
            <a:ext cx="843796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353018" y="3454483"/>
            <a:ext cx="54864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444458" y="3536779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44458" y="3536779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93098" y="3481915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При GET-запиті → завжди unbound: CourseForm()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3018" y="3929971"/>
            <a:ext cx="843796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353018" y="3929971"/>
            <a:ext cx="54864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444458" y="4003123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44458" y="4003123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93098" y="3957403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При POST-запиті → завжди bound: CourseForm(request.POST)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3018" y="4405459"/>
            <a:ext cx="843796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353018" y="4405459"/>
            <a:ext cx="54864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444458" y="4466844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44458" y="44668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93098" y="4432891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is_valid() на unbound формі поверне False без валідації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обробка GET і POST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5394960" cy="3273552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12648" y="10058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courses/views.py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30936" y="1197864"/>
            <a:ext cx="5138928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courses/views.py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django.shortcuts import render, redirect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.forms import CourseForm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course_create(request):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request.method == "POST":                    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 POST-гілка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form = CourseForm(request.POST)             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 Bound form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form.is_valid():                         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 Валідація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 = form.cleaned_data["name"]        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④  Python-дані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збереження у БД ...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redirect("</a:t>
            </a:r>
            <a:r>
              <a:rPr lang="en-US" sz="9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courses_list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         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⑤  Redirect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                                          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⑥  GET-гілка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form = CourseForm()                         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⑦  Unbound form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render(request, "courses/form.html",     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⑧  Рендер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{"form": form})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89320" y="1170432"/>
            <a:ext cx="274320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6053328" y="1261872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6053328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①②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0" y="12070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POST: створюємо Bound form з даних запиту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1645920"/>
            <a:ext cx="274320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6053328" y="1737360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053328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③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0" y="16824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is_valid() = запускає всі перевірки, заповнює cleaned_data або errors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9320" y="2148840"/>
            <a:ext cx="274320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6053328" y="2240280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605332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④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0" y="21854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cleaned_data — словник з Python-типами (str, int, bool...)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89320" y="2651760"/>
            <a:ext cx="274320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6053328" y="2743200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6053328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⑤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0" y="268833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Redirect після POST — шаблон PRG (Post/Redirect/Get)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89320" y="3154680"/>
            <a:ext cx="274320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6053328" y="3246120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6053328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⑥⑦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0" y="31912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GET: порожня unbound форма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89320" y="3657600"/>
            <a:ext cx="274320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6053328" y="3749040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6053328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⑧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0" y="36941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render() — у шаблон завжди передаємо form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4480560"/>
            <a:ext cx="8229600" cy="411480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630936" y="4572000"/>
            <a:ext cx="7973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courses/urls.py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path("create/", views.course_create, name="create"),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форми та {% csrf_token %}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20370" y="795020"/>
            <a:ext cx="502920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30098" y="8407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courses/form.html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386" y="1032764"/>
            <a:ext cx="4773168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accent3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courses/templates/courses/form.html #}</a:t>
            </a:r>
            <a:endParaRPr lang="en-US" sz="900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csrf_token %}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{{ form.as_p }}        </a:t>
            </a:r>
            <a:r>
              <a:rPr lang="en-US" sz="900" dirty="0">
                <a:solidFill>
                  <a:schemeClr val="accent3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або вручну: #}</a:t>
            </a:r>
            <a:endParaRPr lang="en-US" sz="900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900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accent3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{# РУЧНЕ відображення #}</a:t>
            </a:r>
            <a:endParaRPr lang="en-US" sz="900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&lt;label for="{{ form.name.id_for_label }}"&gt;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{{ form.name.label }}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&lt;/label&gt;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{{ form.name }}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{% if form.name.errors %}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&lt;ul class="errors"&gt;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{% for error in form.name.errors %}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&lt;li&gt;{{ error }}&lt;/li&gt;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{% endfor %}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&lt;/ul&gt;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{% endif %}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&lt;small&gt;{{ form.name.help_text }}&lt;/small&gt;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type="submit"&gt;Зберегти&lt;/button&gt;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41010" y="795020"/>
            <a:ext cx="3108960" cy="1645920"/>
          </a:xfrm>
          <a:prstGeom prst="rect">
            <a:avLst/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5541010" y="795020"/>
            <a:ext cx="310896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632450" y="7950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🛡  CSRF — що це?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05018" y="1252220"/>
            <a:ext cx="2999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Cross-Site Request Forgery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Зловмисник змушує браузер жертви надіслати POST до вашого сайту від її імені.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{% csrf_token %} додає схований &lt;input&gt; з унікальним токеном сесії. Django відхиляє POST без валідного токена.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41010" y="2532380"/>
            <a:ext cx="3108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605018" y="25963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Що виводить форма в template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05018" y="29712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form.as_p }}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88682" y="29712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Усі поля у &lt;p&gt;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05018" y="32913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form.as_table }}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88682" y="329133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Усі поля у &lt;tr&gt;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05018" y="36113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form.as_ul }}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88682" y="361137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Усі поля у &lt;li&gt;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05018" y="393141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form.name }}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88682" y="393141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Лише поле name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05018" y="425145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form.name.errors }}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88682" y="42514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Помилки поля name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05018" y="45714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form.errors }}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88682" y="45714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Всі помилки форми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is_valid() і cleaned_data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9281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Валідація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5029200" cy="2926080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12648" y="10058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30936" y="1197864"/>
            <a:ext cx="4773168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= CourseForm(request.POST)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form.is_valid():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cleaned_data — словник Python-об'єктів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  = form.cleaned_data["name"]        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is_test = form.cleaned_data["is_test"]     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bool  (не рядок "on"!)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print(type(name))     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'str'&gt;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print(type(is_test))  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'bool'&gt;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form.errors — словник {field: [errors]}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print(form.errors)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{'name': ['Це поле обов'язкове.']}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3977640"/>
            <a:ext cx="5029200" cy="1005840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9436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Що робить is_valid() всередині: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" y="457200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804672" y="41788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1. Викликає full_clean()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" y="473659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804672" y="4352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2. Для кожного поля: to_python() → validate() → run_validators()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0641" y="422452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804672" y="45262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3. Потім clean_&lt;fieldname&gt;() → clean()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9490" y="440740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804672" y="47000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4. Якщо помилок нема → заповнює cleaned_data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960120"/>
            <a:ext cx="3017520" cy="292608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760720" y="1024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cleaned_data vs request.POST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1399032"/>
            <a:ext cx="2834640" cy="1645920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888736" y="1490472"/>
            <a:ext cx="2578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request.POST — сирі рядки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request.POST["is_test"]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"on" або ""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cleaned_data — Python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form.cleaned_data["is_test"]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True або False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760720" y="3108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Завжди беріть дані з cleaned_data!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3977640"/>
            <a:ext cx="3017520" cy="1005840"/>
          </a:xfrm>
          <a:prstGeom prst="rect">
            <a:avLst/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760720" y="4023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⚠  is_valid() на unbound form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43159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Не викликайте is_valid() до перевірки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request.method == 'POST'!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Помилки форми у template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5029200" cy="3831336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12648" y="9601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form.html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30936" y="1152144"/>
            <a:ext cx="4773168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Варіант 1: Вивести помилки всього поля #}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form.name.errors }}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Варіант 2: Ітерація по помилках поля #}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if form.name.errors %}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for error in form.name.errors %}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 class="error"&gt;{{ error }}&lt;/p&gt;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endfor %}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endif %}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Варіант 3: Всі не-field помилки (non_field_errors) #}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form.non_field_errors }}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Варіант 4: Глобальний блок помилок (bootstrap-стиль) #}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if form.errors %}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class="alert alert-danger"&gt;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Будь ласка, виправте помилки нижче.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endif %}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23560" y="914400"/>
            <a:ext cx="3108960" cy="3831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715000" y="987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Як це виглядає: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15000" y="1325880"/>
            <a:ext cx="2926080" cy="246888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788152" y="13258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</a:rPr>
              <a:t>⚠  Виправте помилки нижче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1783080"/>
            <a:ext cx="29260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715000" y="15727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Назва курсу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15000" y="1783080"/>
            <a:ext cx="2926080" cy="2743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8064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15000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 Це поле обов'язкове.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15000" y="2487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Опис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15000" y="2715768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806440" y="27157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Курс для початківців...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15000" y="3337560"/>
            <a:ext cx="29260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71500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Зберегти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Кастомна валідація: clean_&lt;field&gt;()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5303520" cy="4046220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12648" y="9784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courses/forms.py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30936" y="1170432"/>
            <a:ext cx="5047488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courses/forms.py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 import forms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CourseForm(forms.Form):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forms.CharField(max_length=200, label="Назва курсу")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 = forms.CharField(required=False, label="Опис")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is_test = forms.BooleanField(required=False, label="Тестовий")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clean_name(self):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clean_&lt;fieldname&gt; викликається автоматично в is_valid().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Повертає очищене значення АБО підіймає ValidationError.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 = self.cleaned_data["name"]   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вже пройшло базову перевірку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len(name) &lt; 3: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forms.ValidationError(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"Назва курсу має бути не менше 3 символів."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name.lower().startswith("test"):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forms.ValidationError(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"Назва не може починатися зі слова 'test'."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name.strip()   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⬅ обов'язково повернути значення!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0" y="932688"/>
            <a:ext cx="2788920" cy="1691640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6035040" y="987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Правила clean_&lt;field&gt;()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373886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208776" y="129844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Метод = clean_ + ім'я поля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666494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208776" y="15910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Дані беремо з self.cleaned_data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95910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208776" y="18836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Підіймаємо ValidationError → помилка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225171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208776" y="21762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Обов'язково повертаємо значення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0" y="2697480"/>
            <a:ext cx="2788920" cy="1593166"/>
          </a:xfrm>
          <a:prstGeom prst="rect">
            <a:avLst/>
          </a:prstGeom>
          <a:solidFill>
            <a:srgbClr val="EFF6FF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035040" y="27523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</a:rPr>
              <a:t>clean() — крос-польова перевірка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3090672"/>
            <a:ext cx="2697480" cy="1065276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6035040" y="3140964"/>
            <a:ext cx="2697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clean(self):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= super().clean()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d.get("is_test"):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d.get("description"):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forms.ValidationError(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"Тестовий курс потребує опису."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43600" y="4357596"/>
            <a:ext cx="2788920" cy="502920"/>
          </a:xfrm>
          <a:prstGeom prst="rect">
            <a:avLst/>
          </a:prstGeom>
          <a:solidFill>
            <a:srgbClr val="FFFBEB"/>
          </a:solidFill>
          <a:ln w="63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035040" y="43575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</a:rPr>
              <a:t>⚠  Забути return value — поширена помилка! Поле стане None.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Збираємо все разом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65513" y="630936"/>
            <a:ext cx="1938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edu_platform / courses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834640" cy="3200400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21208" y="9784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forms.py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9496" y="1170432"/>
            <a:ext cx="257860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forms.py</a:t>
            </a:r>
            <a:endParaRPr lang="en-US" sz="8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CourseForm(forms.Form):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forms.CharField(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max_length=200, label="Назва")</a:t>
            </a:r>
            <a:endParaRPr lang="uk-UA" sz="85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 = forms.CharField(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required=False, label="Опис",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widget=forms.Textarea(attrs={"rows":3}))</a:t>
            </a:r>
            <a:endParaRPr lang="uk-UA" sz="85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is_test = forms.BooleanField(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required=False, label="Тестовий")</a:t>
            </a:r>
            <a:endParaRPr lang="en-US" sz="850" dirty="0"/>
          </a:p>
          <a:p>
            <a:pPr marL="0" indent="0">
              <a:buNone/>
            </a:pPr>
            <a:endParaRPr lang="uk-UA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clean_name(self):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 = self.cleaned_data["name"]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len(v) &lt; 3: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forms.ValidationError(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"Мінімум 3 символи")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v.strip()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37560" y="932688"/>
            <a:ext cx="2834640" cy="3200400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3447288" y="9784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views.py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65576" y="1170432"/>
            <a:ext cx="257860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views.py</a:t>
            </a:r>
            <a:endParaRPr lang="en-US" sz="8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course_create(request):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request.method == "POST":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 = CourseForm(request.POST)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form.is_valid():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 = form.cleaned_data["name"]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desc = form.cleaned_data["description"]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is_t = form.cleaned_data["is_test"]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Course.objects.create(...)</a:t>
            </a:r>
            <a:endParaRPr lang="en-US" sz="8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redirect("courses:list")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 = CourseForm()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render(request,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"courses/form.html", {"form":form})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63640" y="932688"/>
            <a:ext cx="2468880" cy="3200400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373368" y="9784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form.html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391656" y="1170432"/>
            <a:ext cx="221284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form.html #}</a:t>
            </a:r>
            <a:endParaRPr lang="en-US" sz="8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{% csrf_token %}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{{ form.name.label_tag }}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{{ form.name }}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{{ form.name.errors }}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{{ form.description.label_tag }}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{{ form.description }}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{{ form.is_test.label_tag }}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{{ form.is_test }}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&lt;button&gt;Зберегти&lt;/button&gt;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4251960"/>
            <a:ext cx="107899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11480" y="4251960"/>
            <a:ext cx="1078992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11480" y="435254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/create/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90472" y="434340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00200" y="4251960"/>
            <a:ext cx="116128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1600200" y="4251960"/>
            <a:ext cx="1161288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1600200" y="4352544"/>
            <a:ext cx="116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CourseForm()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52344" y="4352544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62072" y="4251960"/>
            <a:ext cx="116128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2862072" y="4251960"/>
            <a:ext cx="1161288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2862072" y="4352544"/>
            <a:ext cx="116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render(form)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23360" y="4352544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33088" y="4251960"/>
            <a:ext cx="116128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133088" y="4251960"/>
            <a:ext cx="1161288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133088" y="4352544"/>
            <a:ext cx="116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/create/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94376" y="4352544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7137" y="4256314"/>
            <a:ext cx="116128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Shape 29"/>
          <p:cNvSpPr/>
          <p:nvPr/>
        </p:nvSpPr>
        <p:spPr>
          <a:xfrm>
            <a:off x="5397137" y="4256314"/>
            <a:ext cx="1161288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5397137" y="4356898"/>
            <a:ext cx="116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CourseForm(POST)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60820" y="4352544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63799" y="4251960"/>
            <a:ext cx="1104247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Shape 33"/>
          <p:cNvSpPr/>
          <p:nvPr/>
        </p:nvSpPr>
        <p:spPr>
          <a:xfrm>
            <a:off x="6663799" y="4251960"/>
            <a:ext cx="1104247" cy="1005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6663799" y="4352544"/>
            <a:ext cx="116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is_valid()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68482" y="434340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873420" y="4251960"/>
            <a:ext cx="10572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Shape 37"/>
          <p:cNvSpPr/>
          <p:nvPr/>
        </p:nvSpPr>
        <p:spPr>
          <a:xfrm>
            <a:off x="7873420" y="4251960"/>
            <a:ext cx="10572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38"/>
          <p:cNvSpPr/>
          <p:nvPr/>
        </p:nvSpPr>
        <p:spPr>
          <a:xfrm>
            <a:off x="7873420" y="4352544"/>
            <a:ext cx="10572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redirect()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9816</TotalTime>
  <Words>2549</Words>
  <Application>Microsoft Macintosh PowerPoint</Application>
  <PresentationFormat>On-screen Show (16:9)</PresentationFormat>
  <Paragraphs>481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Forms: GET/POST, CSRF, validation, errors</dc:title>
  <dc:subject>PptxGenJS Presentation</dc:subject>
  <dc:creator>PptxGenJS</dc:creator>
  <cp:lastModifiedBy>Штефан Дмитро</cp:lastModifiedBy>
  <cp:revision>12</cp:revision>
  <dcterms:created xsi:type="dcterms:W3CDTF">2026-05-03T15:11:25Z</dcterms:created>
  <dcterms:modified xsi:type="dcterms:W3CDTF">2026-05-15T20:26:38Z</dcterms:modified>
</cp:coreProperties>
</file>