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73" r:id="rId3"/>
    <p:sldId id="270" r:id="rId4"/>
    <p:sldId id="271" r:id="rId5"/>
    <p:sldId id="27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/>
    <p:restoredTop sz="94610"/>
  </p:normalViewPr>
  <p:slideViewPr>
    <p:cSldViewPr snapToGrid="0" snapToObjects="1">
      <p:cViewPr>
        <p:scale>
          <a:sx n="185" d="100"/>
          <a:sy n="185" d="100"/>
        </p:scale>
        <p:origin x="200" y="-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115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5943600" y="-182880"/>
            <a:ext cx="3657600" cy="5669280"/>
          </a:xfrm>
          <a:prstGeom prst="rect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4A9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Django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CBV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200400" cy="36576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02920" y="23042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 та DetailView — рефакторинг без магії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0280" y="2926080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240280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77640" y="2926080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977640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0" y="2926080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0D7377">
              <a:alpha val="70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715000" y="2944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edu_platform / courses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mplateView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01168"/>
            <a:ext cx="8321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uk-UA" sz="24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TemplateView</a:t>
            </a:r>
            <a:r>
              <a:rPr lang="uk-UA" sz="18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— </a:t>
            </a:r>
            <a:r>
              <a:rPr lang="uk-UA" sz="20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статичні сторінки без зайвого коду</a:t>
            </a:r>
            <a:endParaRPr lang="uk-UA" sz="1800" b="1" dirty="0">
              <a:solidFill>
                <a:srgbClr val="0F2A3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</p:txBody>
      </p:sp>
      <p:sp>
        <p:nvSpPr>
          <p:cNvPr id="3" name="AccentBar"/>
          <p:cNvSpPr/>
          <p:nvPr/>
        </p:nvSpPr>
        <p:spPr>
          <a:xfrm>
            <a:off x="411480" y="761723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Code_BG"/>
          <p:cNvSpPr/>
          <p:nvPr/>
        </p:nvSpPr>
        <p:spPr>
          <a:xfrm>
            <a:off x="366000" y="1009451"/>
            <a:ext cx="4343400" cy="3066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Code_Stripe"/>
          <p:cNvSpPr/>
          <p:nvPr/>
        </p:nvSpPr>
        <p:spPr>
          <a:xfrm>
            <a:off x="366000" y="1009451"/>
            <a:ext cx="45720" cy="3066480"/>
          </a:xfrm>
          <a:prstGeom prst="rect">
            <a:avLst/>
          </a:prstGeom>
          <a:solidFill>
            <a:srgbClr val="14A9AD"/>
          </a:solidFill>
          <a:ln w="0"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6" name="Code_Text"/>
          <p:cNvSpPr/>
          <p:nvPr/>
        </p:nvSpPr>
        <p:spPr>
          <a:xfrm>
            <a:off x="457440" y="1055171"/>
            <a:ext cx="4206960" cy="2966760"/>
          </a:xfrm>
          <a:prstGeom prst="rect">
            <a:avLst/>
          </a:prstGeom>
          <a:noFill/>
          <a:ln/>
        </p:spPr>
        <p:txBody>
          <a:bodyPr wrap="square" lIns="45720" tIns="4572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</a:rPr>
              <a:t># views.py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</a:rPr>
              <a:t>from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django.views.generic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</a:rPr>
              <a:t>import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TemplateView</a:t>
            </a:r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</a:rPr>
              <a:t>class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AboutView(TemplateView):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   template_name = </a:t>
            </a:r>
            <a:r>
              <a:rPr lang="en-US" sz="10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</a:rPr>
              <a:t>"pages/about.html"</a:t>
            </a:r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</a:rPr>
              <a:t># Передати дані в шаблон: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</a:rPr>
              <a:t>class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HomeView(TemplateView):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   template_name = </a:t>
            </a:r>
            <a:r>
              <a:rPr lang="en-US" sz="10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</a:rPr>
              <a:t>"pages/home.html"</a:t>
            </a:r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  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</a:rPr>
              <a:t>def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get_context_data(self, **kwargs):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       ctx = super().get_context_data(**kwargs)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       ctx[</a:t>
            </a:r>
            <a:r>
              <a:rPr lang="en-US" sz="10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</a:rPr>
              <a:t>"featured"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] = Course.objects.first()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       </a:t>
            </a:r>
            <a:r>
              <a:rPr lang="en-US" sz="1050" dirty="0">
                <a:solidFill>
                  <a:schemeClr val="accent2"/>
                </a:solidFill>
                <a:latin typeface="Consolas" pitchFamily="34" charset="0"/>
              </a:rPr>
              <a:t>return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 ctx</a:t>
            </a:r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</a:rPr>
              <a:t># urls.py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path(</a:t>
            </a:r>
            <a:r>
              <a:rPr lang="en-US" sz="10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</a:rPr>
              <a:t>"about/"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, AboutView.as_view(), name=</a:t>
            </a:r>
            <a:r>
              <a:rPr lang="en-US" sz="10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</a:rPr>
              <a:t>"about"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),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path(</a:t>
            </a:r>
            <a:r>
              <a:rPr lang="en-US" sz="10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</a:rPr>
              <a:t>""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, HomeView.as_view(), name=</a:t>
            </a:r>
            <a:r>
              <a:rPr lang="en-US" sz="105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</a:rPr>
              <a:t>"home"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</a:rPr>
              <a:t>),</a:t>
            </a:r>
          </a:p>
        </p:txBody>
      </p:sp>
      <p:sp>
        <p:nvSpPr>
          <p:cNvPr id="7" name="Card1_BG"/>
          <p:cNvSpPr/>
          <p:nvPr/>
        </p:nvSpPr>
        <p:spPr>
          <a:xfrm>
            <a:off x="4846560" y="1009451"/>
            <a:ext cx="3886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Card1_Stripe"/>
          <p:cNvSpPr/>
          <p:nvPr/>
        </p:nvSpPr>
        <p:spPr>
          <a:xfrm>
            <a:off x="4846560" y="1009451"/>
            <a:ext cx="50292" cy="86868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9" name="Card1_Text"/>
          <p:cNvSpPr/>
          <p:nvPr/>
        </p:nvSpPr>
        <p:spPr>
          <a:xfrm>
            <a:off x="4941720" y="1054451"/>
            <a:ext cx="3791040" cy="778680"/>
          </a:xfrm>
          <a:prstGeom prst="rect">
            <a:avLst/>
          </a:prstGeom>
          <a:noFill/>
          <a:ln/>
        </p:spPr>
        <p:txBody>
          <a:bodyPr wrap="square" lIns="45720" tIns="22860" rIns="45720" bIns="0" rtlCol="0" anchor="ctr"/>
          <a:lstStyle/>
          <a:p>
            <a:pPr marL="0" indent="0" algn="l">
              <a:buNone/>
            </a:pPr>
            <a:r>
              <a:rPr lang="uk-UA" sz="1150" b="1" dirty="0">
                <a:solidFill>
                  <a:srgbClr val="0F2A3F"/>
                </a:solidFill>
                <a:latin typeface="Arial Black" pitchFamily="34" charset="0"/>
              </a:rPr>
              <a:t>Що це?</a:t>
            </a:r>
          </a:p>
          <a:p>
            <a:pPr marL="0" indent="0" algn="l">
              <a:buNone/>
            </a:pPr>
            <a:r>
              <a:rPr lang="uk-UA" sz="1100" dirty="0">
                <a:solidFill>
                  <a:srgbClr val="334155"/>
                </a:solidFill>
                <a:latin typeface="Calibri" pitchFamily="34" charset="0"/>
              </a:rPr>
              <a:t>CBV, що просто рендерить шаблон. Не потрібна модель — тільки HTML та context.</a:t>
            </a:r>
          </a:p>
        </p:txBody>
      </p:sp>
      <p:sp>
        <p:nvSpPr>
          <p:cNvPr id="10" name="Card2_BG"/>
          <p:cNvSpPr/>
          <p:nvPr/>
        </p:nvSpPr>
        <p:spPr>
          <a:xfrm>
            <a:off x="4846560" y="1924931"/>
            <a:ext cx="3886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Card2_Stripe"/>
          <p:cNvSpPr/>
          <p:nvPr/>
        </p:nvSpPr>
        <p:spPr>
          <a:xfrm>
            <a:off x="4846560" y="1924931"/>
            <a:ext cx="50292" cy="86868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2" name="Card2_Text"/>
          <p:cNvSpPr/>
          <p:nvPr/>
        </p:nvSpPr>
        <p:spPr>
          <a:xfrm>
            <a:off x="4941720" y="1969931"/>
            <a:ext cx="3791040" cy="778680"/>
          </a:xfrm>
          <a:prstGeom prst="rect">
            <a:avLst/>
          </a:prstGeom>
          <a:noFill/>
          <a:ln/>
        </p:spPr>
        <p:txBody>
          <a:bodyPr wrap="square" lIns="45720" tIns="22860" rIns="45720" bIns="0" rtlCol="0" anchor="ctr"/>
          <a:lstStyle/>
          <a:p>
            <a:pPr marL="0" indent="0" algn="l">
              <a:buNone/>
            </a:pPr>
            <a:r>
              <a:rPr lang="uk-UA" sz="1150" b="1" dirty="0">
                <a:solidFill>
                  <a:srgbClr val="0F2A3F"/>
                </a:solidFill>
                <a:latin typeface="Arial Black" pitchFamily="34" charset="0"/>
              </a:rPr>
              <a:t>Коли використовувати?</a:t>
            </a:r>
          </a:p>
          <a:p>
            <a:pPr marL="0" indent="0" algn="l">
              <a:buNone/>
            </a:pPr>
            <a:r>
              <a:rPr lang="uk-UA" sz="1100" dirty="0">
                <a:solidFill>
                  <a:srgbClr val="334155"/>
                </a:solidFill>
                <a:latin typeface="Calibri" pitchFamily="34" charset="0"/>
              </a:rPr>
              <a:t>Головна сторінка, About, FAQ, Landing page, умови використання.</a:t>
            </a:r>
          </a:p>
        </p:txBody>
      </p:sp>
      <p:sp>
        <p:nvSpPr>
          <p:cNvPr id="13" name="Card3_BG"/>
          <p:cNvSpPr/>
          <p:nvPr/>
        </p:nvSpPr>
        <p:spPr>
          <a:xfrm>
            <a:off x="4846560" y="2840411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Card3_Stripe"/>
          <p:cNvSpPr/>
          <p:nvPr/>
        </p:nvSpPr>
        <p:spPr>
          <a:xfrm>
            <a:off x="4846560" y="2840411"/>
            <a:ext cx="50292" cy="100584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5" name="Card3_Text"/>
          <p:cNvSpPr/>
          <p:nvPr/>
        </p:nvSpPr>
        <p:spPr>
          <a:xfrm>
            <a:off x="4941720" y="2885411"/>
            <a:ext cx="3791040" cy="915840"/>
          </a:xfrm>
          <a:prstGeom prst="rect">
            <a:avLst/>
          </a:prstGeom>
          <a:noFill/>
          <a:ln/>
        </p:spPr>
        <p:txBody>
          <a:bodyPr wrap="square" lIns="45720" tIns="22860" rIns="45720" bIns="0" rtlCol="0" anchor="ctr"/>
          <a:lstStyle/>
          <a:p>
            <a:pPr marL="0" indent="0" algn="l">
              <a:buNone/>
            </a:pPr>
            <a:r>
              <a:rPr lang="uk-UA" sz="1150" b="1" dirty="0">
                <a:solidFill>
                  <a:srgbClr val="0F2A3F"/>
                </a:solidFill>
                <a:latin typeface="Arial Black" pitchFamily="34" charset="0"/>
              </a:rPr>
              <a:t>Як додати дані?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14A9AD"/>
                </a:solidFill>
                <a:latin typeface="Consolas" pitchFamily="34" charset="0"/>
              </a:rPr>
              <a:t>get_context_data()</a:t>
            </a:r>
          </a:p>
          <a:p>
            <a:pPr marL="0" indent="0" algn="l">
              <a:buNone/>
            </a:pPr>
            <a:r>
              <a:rPr lang="uk-UA" sz="1100" dirty="0">
                <a:solidFill>
                  <a:srgbClr val="334155"/>
                </a:solidFill>
                <a:latin typeface="Calibri" pitchFamily="34" charset="0"/>
              </a:rPr>
              <a:t>Перевизначаємо метод, викликаємо super() і додаємо свої ключі в словник.</a:t>
            </a:r>
          </a:p>
        </p:txBody>
      </p:sp>
      <p:sp>
        <p:nvSpPr>
          <p:cNvPr id="16" name="Bottom_Banner_BG"/>
          <p:cNvSpPr/>
          <p:nvPr/>
        </p:nvSpPr>
        <p:spPr>
          <a:xfrm>
            <a:off x="366000" y="4122251"/>
            <a:ext cx="8366520" cy="4561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7" name="Bottom_Banner_Text"/>
          <p:cNvSpPr/>
          <p:nvPr/>
        </p:nvSpPr>
        <p:spPr>
          <a:xfrm>
            <a:off x="366000" y="4122251"/>
            <a:ext cx="8366520" cy="456120"/>
          </a:xfrm>
          <a:prstGeom prst="rect">
            <a:avLst/>
          </a:prstGeom>
          <a:noFill/>
          <a:ln/>
        </p:spPr>
        <p:txBody>
          <a:bodyPr wrap="square" lIns="182880" tIns="0" rIns="0" bIns="0" rtlCol="0" anchor="ctr"/>
          <a:lstStyle/>
          <a:p>
            <a:pPr marL="0" indent="0" algn="l">
              <a:buNone/>
            </a:pPr>
            <a:r>
              <a:rPr lang="uk-UA" sz="1100" b="1" dirty="0">
                <a:solidFill>
                  <a:srgbClr val="14A9AD"/>
                </a:solidFill>
                <a:latin typeface="Calibri" pitchFamily="34" charset="0"/>
              </a:rPr>
              <a:t>Запам'ятай: </a:t>
            </a:r>
            <a:r>
              <a:rPr lang="uk-UA" sz="1100" b="0" dirty="0">
                <a:solidFill>
                  <a:srgbClr val="E2E8F0"/>
                </a:solidFill>
                <a:latin typeface="Calibri" pitchFamily="34" charset="0"/>
              </a:rPr>
              <a:t>TemplateView не читає БД сам — для цього є ListView/DetailView. Але get_context_data() дає повний контроль над даними.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ListView: </a:t>
            </a:r>
            <a:r>
              <a:rPr lang="en-US" sz="20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той самий результат, менше коду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" cy="3566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Function-Based View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9319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5720" cy="192024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30352" y="1508760"/>
            <a:ext cx="3675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course_list(request):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courses = 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Course.objects.all()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.order_by(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"-created_at"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render(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"courses/course_list.html"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"courses"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courses},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401568"/>
            <a:ext cx="3657600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Явно: ми самі пишемо queryset, рендеримо, передаємо context. Добре для розуміння механіки.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7377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846320" y="960120"/>
            <a:ext cx="50292" cy="3566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02920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Class-Based View (ListView)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1417320"/>
            <a:ext cx="39319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45720" cy="192024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010912" y="1508760"/>
            <a:ext cx="3675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django.views.generic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ListView</a:t>
            </a:r>
          </a:p>
          <a:p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django.views.generic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DetailView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CourseListView(ListView):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Course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template_name =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"courses/course_list.html"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context_object_name =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"courses"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ordering = [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"-created_at"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3401568"/>
            <a:ext cx="3657600" cy="100584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074920" y="3429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робить all() і передачу context автоматично. Шаблон — той самий. URL — майже той самий.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CBV DetailView та urls.py для класів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98349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5720" cy="237744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3733757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courses/views.py</a:t>
            </a:r>
            <a:endParaRPr lang="en-US" sz="1100" dirty="0">
              <a:solidFill>
                <a:schemeClr val="accent3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django.views.generic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DetailView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.models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Course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CourseDetailView(DetailView):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Course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template_name =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"courses/course_detail.html"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context_object_name =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"course"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pk береться з URL автоматично!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2981" y="905256"/>
            <a:ext cx="4349539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382982" y="905256"/>
            <a:ext cx="45720" cy="2377440"/>
          </a:xfrm>
          <a:prstGeom prst="rect">
            <a:avLst/>
          </a:prstGeom>
          <a:solidFill>
            <a:srgbClr val="14A9AD"/>
          </a:solidFill>
          <a:ln w="12700">
            <a:solidFill>
              <a:srgbClr val="14A9A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547573" y="996696"/>
            <a:ext cx="40660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courses/urls.py</a:t>
            </a:r>
            <a:endParaRPr lang="en-US" sz="1100" dirty="0">
              <a:solidFill>
                <a:schemeClr val="accent3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django.urls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.views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CourseListView, CourseDetailView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CourseListView.as_view(),</a:t>
            </a:r>
            <a:r>
              <a:rPr lang="en-US" sz="1100" dirty="0"/>
              <a:t>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name=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"course-list"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"&lt;int:pk&gt;/"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CourseDetailView.as_view(),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name=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"course-detail"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365760" y="3520440"/>
            <a:ext cx="50292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" y="35661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boilerplate коду — Django бере на себе fetch і render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75973" y="3529584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175973" y="3529584"/>
            <a:ext cx="50292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313133" y="357530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16053" y="357530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розширювати — перевизначаємо get_queryset(), get_context_data()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6186" y="3538728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986186" y="3538728"/>
            <a:ext cx="50292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123346" y="358444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6266" y="35844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для більших проєктів — AddView, UpdateView, DeleteView…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45948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Шаблони залишаються незмінними при переході від FBV до CBV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BV vs CBV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uk-UA" sz="1800" b="1" dirty="0">
                <a:solidFill>
                  <a:srgbClr val="0F2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FBV vs CBV — коли що обрати в реальному проєкті?</a:t>
            </a:r>
          </a:p>
        </p:txBody>
      </p:sp>
      <p:sp>
        <p:nvSpPr>
          <p:cNvPr id="3" name="AccentBar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FBV_Header_BG"/>
          <p:cNvSpPr/>
          <p:nvPr/>
        </p:nvSpPr>
        <p:spPr>
          <a:xfrm>
            <a:off x="365760" y="795528"/>
            <a:ext cx="4069080" cy="3429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5" name="FBV_Header_Text"/>
          <p:cNvSpPr/>
          <p:nvPr/>
        </p:nvSpPr>
        <p:spPr>
          <a:xfrm>
            <a:off x="365760" y="795528"/>
            <a:ext cx="4069080" cy="342900"/>
          </a:xfrm>
          <a:prstGeom prst="rect">
            <a:avLst/>
          </a:prstGeom>
          <a:noFill/>
          <a:ln/>
        </p:spPr>
        <p:txBody>
          <a:bodyPr wrap="square" lIns="91440" tIns="4572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5F3FC"/>
                </a:solidFill>
                <a:latin typeface="Arial Black" pitchFamily="34" charset="0"/>
              </a:rPr>
              <a:t>FBV</a:t>
            </a:r>
            <a:r>
              <a:rPr lang="uk-UA" sz="1100" b="0" dirty="0">
                <a:solidFill>
                  <a:srgbClr val="94A3B8"/>
                </a:solidFill>
                <a:latin typeface="Calibri" pitchFamily="34" charset="0"/>
              </a:rPr>
              <a:t>  (Function-Based View)</a:t>
            </a:r>
          </a:p>
        </p:txBody>
      </p:sp>
      <p:sp>
        <p:nvSpPr>
          <p:cNvPr id="6" name="FBV_Content_BG"/>
          <p:cNvSpPr/>
          <p:nvPr/>
        </p:nvSpPr>
        <p:spPr>
          <a:xfrm>
            <a:off x="365760" y="1138428"/>
            <a:ext cx="40690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FBV_Stripe"/>
          <p:cNvSpPr/>
          <p:nvPr/>
        </p:nvSpPr>
        <p:spPr>
          <a:xfrm>
            <a:off x="365760" y="1138428"/>
            <a:ext cx="45720" cy="3200400"/>
          </a:xfrm>
          <a:prstGeom prst="rect">
            <a:avLst/>
          </a:prstGeom>
          <a:solidFill>
            <a:srgbClr val="14A9AD"/>
          </a:solidFill>
          <a:ln w="0"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8" name="FBV_Content_Text"/>
          <p:cNvSpPr/>
          <p:nvPr/>
        </p:nvSpPr>
        <p:spPr>
          <a:xfrm>
            <a:off x="457200" y="1184148"/>
            <a:ext cx="3932640" cy="3109680"/>
          </a:xfrm>
          <a:prstGeom prst="rect">
            <a:avLst/>
          </a:prstGeom>
          <a:noFill/>
          <a:ln/>
        </p:spPr>
        <p:txBody>
          <a:bodyPr wrap="square" lIns="45720" tIns="45720" rIns="45720" bIns="0" rtlCol="0" anchor="t"/>
          <a:lstStyle/>
          <a:p>
            <a:pPr marL="0" indent="0" algn="l">
              <a:buNone/>
            </a:pPr>
            <a:r>
              <a:rPr lang="uk-UA" sz="1400" b="1" dirty="0">
                <a:solidFill>
                  <a:srgbClr val="059669"/>
                </a:solidFill>
                <a:latin typeface="Calibri" pitchFamily="34" charset="0"/>
              </a:rPr>
              <a:t>Обирай FBV коли:</a:t>
            </a:r>
          </a:p>
          <a:p>
            <a:pPr marL="182880" indent="-182880" algn="l">
              <a:buNone/>
            </a:pPr>
            <a:r>
              <a:rPr lang="uk-UA" sz="1400" dirty="0">
                <a:solidFill>
                  <a:srgbClr val="0F2A3F"/>
                </a:solidFill>
                <a:latin typeface="Calibri" pitchFamily="34" charset="0"/>
              </a:rPr>
              <a:t>+ Одноразова нестандартна логіка</a:t>
            </a:r>
          </a:p>
          <a:p>
            <a:pPr marL="182880" indent="-182880" algn="l">
              <a:buNone/>
            </a:pPr>
            <a:r>
              <a:rPr lang="uk-UA" sz="1400" dirty="0">
                <a:solidFill>
                  <a:srgbClr val="0F2A3F"/>
                </a:solidFill>
                <a:latin typeface="Calibri" pitchFamily="34" charset="0"/>
              </a:rPr>
              <a:t>+ Навчання та пояснення механіки Django</a:t>
            </a:r>
          </a:p>
          <a:p>
            <a:pPr marL="182880" indent="-182880" algn="l">
              <a:buNone/>
            </a:pPr>
            <a:r>
              <a:rPr lang="uk-UA" sz="1400" dirty="0">
                <a:solidFill>
                  <a:srgbClr val="0F2A3F"/>
                </a:solidFill>
                <a:latin typeface="Calibri" pitchFamily="34" charset="0"/>
              </a:rPr>
              <a:t>+ Команда ще не знає CBV</a:t>
            </a:r>
          </a:p>
          <a:p>
            <a:pPr marL="0" indent="0" algn="l">
              <a:buNone/>
            </a:pPr>
            <a:endParaRPr lang="uk-UA" sz="1100" dirty="0"/>
          </a:p>
          <a:p>
            <a:pPr marL="0" indent="0" algn="l">
              <a:buNone/>
            </a:pPr>
            <a:r>
              <a:rPr lang="uk-UA" sz="1400" b="1" dirty="0">
                <a:solidFill>
                  <a:srgbClr val="DC2626"/>
                </a:solidFill>
                <a:latin typeface="Calibri" pitchFamily="34" charset="0"/>
              </a:rPr>
              <a:t>Складніше з FBV:</a:t>
            </a:r>
          </a:p>
          <a:p>
            <a:pPr marL="182880" indent="-182880" algn="l">
              <a:buNone/>
            </a:pPr>
            <a:r>
              <a:rPr lang="uk-UA" sz="1400" dirty="0">
                <a:solidFill>
                  <a:srgbClr val="475569"/>
                </a:solidFill>
                <a:latin typeface="Calibri" pitchFamily="34" charset="0"/>
              </a:rPr>
              <a:t>- Дублювання коду при схожих CRUD-views</a:t>
            </a:r>
          </a:p>
          <a:p>
            <a:pPr marL="182880" indent="-182880" algn="l">
              <a:buNone/>
            </a:pPr>
            <a:r>
              <a:rPr lang="uk-UA" sz="1400" dirty="0">
                <a:solidFill>
                  <a:srgbClr val="475569"/>
                </a:solidFill>
                <a:latin typeface="Calibri" pitchFamily="34" charset="0"/>
              </a:rPr>
              <a:t>- Важко перевикористовувати логіку між views</a:t>
            </a:r>
          </a:p>
          <a:p>
            <a:pPr marL="0" indent="0" algn="l">
              <a:buNone/>
            </a:pPr>
            <a:endParaRPr lang="uk-UA" sz="1100" dirty="0"/>
          </a:p>
          <a:p>
            <a:pPr marL="0" indent="0" algn="l">
              <a:buNone/>
            </a:pPr>
            <a:r>
              <a:rPr lang="uk-UA" sz="1200" b="1" i="1" dirty="0">
                <a:solidFill>
                  <a:srgbClr val="0D7377"/>
                </a:solidFill>
                <a:latin typeface="Calibri" pitchFamily="34" charset="0"/>
              </a:rPr>
              <a:t>Приклад: OAuth callback, імпорт CSV, custom login</a:t>
            </a:r>
            <a:endParaRPr lang="uk-UA" sz="950" b="1" i="1" dirty="0">
              <a:solidFill>
                <a:srgbClr val="0D7377"/>
              </a:solidFill>
              <a:latin typeface="Calibri" pitchFamily="34" charset="0"/>
            </a:endParaRPr>
          </a:p>
        </p:txBody>
      </p:sp>
      <p:sp>
        <p:nvSpPr>
          <p:cNvPr id="9" name="CBV_Header_BG"/>
          <p:cNvSpPr/>
          <p:nvPr/>
        </p:nvSpPr>
        <p:spPr>
          <a:xfrm>
            <a:off x="4549020" y="800255"/>
            <a:ext cx="4229220" cy="342900"/>
          </a:xfrm>
          <a:prstGeom prst="rect">
            <a:avLst/>
          </a:prstGeom>
          <a:solidFill>
            <a:srgbClr val="0D4A52"/>
          </a:solidFill>
          <a:ln w="0"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0" name="CBV_Header_Text"/>
          <p:cNvSpPr/>
          <p:nvPr/>
        </p:nvSpPr>
        <p:spPr>
          <a:xfrm>
            <a:off x="4549020" y="800255"/>
            <a:ext cx="4069080" cy="342900"/>
          </a:xfrm>
          <a:prstGeom prst="rect">
            <a:avLst/>
          </a:prstGeom>
          <a:noFill/>
          <a:ln/>
        </p:spPr>
        <p:txBody>
          <a:bodyPr wrap="square" lIns="91440" tIns="4572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A9AD"/>
                </a:solidFill>
                <a:latin typeface="Arial Black" pitchFamily="34" charset="0"/>
              </a:rPr>
              <a:t>CBV</a:t>
            </a:r>
            <a:r>
              <a:rPr lang="uk-UA" sz="1100" b="0" dirty="0">
                <a:solidFill>
                  <a:srgbClr val="94A3B8"/>
                </a:solidFill>
                <a:latin typeface="Calibri" pitchFamily="34" charset="0"/>
              </a:rPr>
              <a:t>  (Class-Based View)</a:t>
            </a:r>
          </a:p>
        </p:txBody>
      </p:sp>
      <p:sp>
        <p:nvSpPr>
          <p:cNvPr id="11" name="CBV_Content_BG"/>
          <p:cNvSpPr/>
          <p:nvPr/>
        </p:nvSpPr>
        <p:spPr>
          <a:xfrm>
            <a:off x="4572000" y="1138428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CBV_Stripe"/>
          <p:cNvSpPr/>
          <p:nvPr/>
        </p:nvSpPr>
        <p:spPr>
          <a:xfrm>
            <a:off x="4549020" y="1143155"/>
            <a:ext cx="45720" cy="3200400"/>
          </a:xfrm>
          <a:prstGeom prst="rect">
            <a:avLst/>
          </a:prstGeom>
          <a:solidFill>
            <a:srgbClr val="0D7377"/>
          </a:solidFill>
          <a:ln w="0"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3" name="CBV_Content_Text"/>
          <p:cNvSpPr/>
          <p:nvPr/>
        </p:nvSpPr>
        <p:spPr>
          <a:xfrm>
            <a:off x="4640460" y="1188875"/>
            <a:ext cx="4229220" cy="3109680"/>
          </a:xfrm>
          <a:prstGeom prst="rect">
            <a:avLst/>
          </a:prstGeom>
          <a:noFill/>
          <a:ln/>
        </p:spPr>
        <p:txBody>
          <a:bodyPr wrap="square" lIns="45720" tIns="45720" rIns="45720" bIns="0" rtlCol="0" anchor="t"/>
          <a:lstStyle/>
          <a:p>
            <a:pPr marL="0" indent="0" algn="l">
              <a:buNone/>
            </a:pPr>
            <a:r>
              <a:rPr lang="uk-UA" sz="1400" b="1" dirty="0">
                <a:solidFill>
                  <a:srgbClr val="059669"/>
                </a:solidFill>
                <a:latin typeface="Calibri" pitchFamily="34" charset="0"/>
              </a:rPr>
              <a:t>Обирай CBV коли:</a:t>
            </a:r>
          </a:p>
          <a:p>
            <a:pPr marL="182880" indent="-182880" algn="l">
              <a:buNone/>
            </a:pPr>
            <a:r>
              <a:rPr lang="uk-UA" sz="1400" dirty="0">
                <a:solidFill>
                  <a:srgbClr val="0F2A3F"/>
                </a:solidFill>
                <a:latin typeface="Calibri" pitchFamily="34" charset="0"/>
              </a:rPr>
              <a:t>+ Стандартні CRUD операції (list, detail, create, update)</a:t>
            </a:r>
          </a:p>
          <a:p>
            <a:pPr marL="182880" indent="-182880" algn="l">
              <a:buNone/>
            </a:pPr>
            <a:r>
              <a:rPr lang="uk-UA" sz="1400" dirty="0">
                <a:solidFill>
                  <a:srgbClr val="0F2A3F"/>
                </a:solidFill>
                <a:latin typeface="Calibri" pitchFamily="34" charset="0"/>
              </a:rPr>
              <a:t>+ Потрібне перевикористання логіки через mixin-и</a:t>
            </a:r>
          </a:p>
          <a:p>
            <a:pPr marL="182880" indent="-182880" algn="l">
              <a:buNone/>
            </a:pPr>
            <a:r>
              <a:rPr lang="uk-UA" sz="1400" dirty="0">
                <a:solidFill>
                  <a:srgbClr val="0F2A3F"/>
                </a:solidFill>
                <a:latin typeface="Calibri" pitchFamily="34" charset="0"/>
              </a:rPr>
              <a:t>+ Середній або великий проєкт з кількома схожими views</a:t>
            </a:r>
          </a:p>
          <a:p>
            <a:pPr marL="182880" indent="-182880" algn="l">
              <a:buNone/>
            </a:pPr>
            <a:r>
              <a:rPr lang="uk-UA" sz="1400" dirty="0">
                <a:solidFill>
                  <a:srgbClr val="0F2A3F"/>
                </a:solidFill>
                <a:latin typeface="Calibri" pitchFamily="34" charset="0"/>
              </a:rPr>
              <a:t>+ Команда вже знає патерни CBV</a:t>
            </a:r>
          </a:p>
          <a:p>
            <a:pPr marL="0" indent="0" algn="l">
              <a:buNone/>
            </a:pPr>
            <a:endParaRPr lang="uk-UA" sz="1100" dirty="0"/>
          </a:p>
          <a:p>
            <a:pPr marL="0" indent="0" algn="l">
              <a:buNone/>
            </a:pPr>
            <a:r>
              <a:rPr lang="uk-UA" sz="1400" b="1" dirty="0">
                <a:solidFill>
                  <a:srgbClr val="DC2626"/>
                </a:solidFill>
                <a:latin typeface="Calibri" pitchFamily="34" charset="0"/>
              </a:rPr>
              <a:t>Складніше з CBV:</a:t>
            </a:r>
          </a:p>
          <a:p>
            <a:pPr marL="182880" indent="-182880" algn="l">
              <a:buNone/>
            </a:pPr>
            <a:r>
              <a:rPr lang="uk-UA" sz="1400" dirty="0">
                <a:solidFill>
                  <a:srgbClr val="475569"/>
                </a:solidFill>
                <a:latin typeface="Calibri" pitchFamily="34" charset="0"/>
              </a:rPr>
              <a:t>- Треба знати MRO та порядок mixin-ів</a:t>
            </a:r>
          </a:p>
          <a:p>
            <a:pPr marL="182880" indent="-182880" algn="l">
              <a:buNone/>
            </a:pPr>
            <a:r>
              <a:rPr lang="uk-UA" sz="1400" dirty="0">
                <a:solidFill>
                  <a:srgbClr val="475569"/>
                </a:solidFill>
                <a:latin typeface="Calibri" pitchFamily="34" charset="0"/>
              </a:rPr>
              <a:t>- Важче дебажити: логіка схована у батьківських класах</a:t>
            </a:r>
          </a:p>
          <a:p>
            <a:pPr marL="0" indent="0" algn="l">
              <a:buNone/>
            </a:pPr>
            <a:endParaRPr lang="uk-UA" sz="1100" dirty="0"/>
          </a:p>
          <a:p>
            <a:pPr marL="0" indent="0" algn="l">
              <a:buNone/>
            </a:pPr>
            <a:r>
              <a:rPr lang="uk-UA" sz="1200" b="1" i="1" dirty="0">
                <a:solidFill>
                  <a:srgbClr val="0D7377"/>
                </a:solidFill>
                <a:latin typeface="Calibri" pitchFamily="34" charset="0"/>
              </a:rPr>
              <a:t>Приклад: ListView курсів, DetailView статті, CreateView форми</a:t>
            </a:r>
          </a:p>
        </p:txBody>
      </p:sp>
      <p:sp>
        <p:nvSpPr>
          <p:cNvPr id="14" name="Bottom_Banner_BG"/>
          <p:cNvSpPr/>
          <p:nvPr/>
        </p:nvSpPr>
        <p:spPr>
          <a:xfrm>
            <a:off x="365760" y="4430028"/>
            <a:ext cx="8366520" cy="4561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5" name="Bottom_Banner_Text"/>
          <p:cNvSpPr/>
          <p:nvPr/>
        </p:nvSpPr>
        <p:spPr>
          <a:xfrm>
            <a:off x="365760" y="4430028"/>
            <a:ext cx="8366520" cy="456120"/>
          </a:xfrm>
          <a:prstGeom prst="rect">
            <a:avLst/>
          </a:prstGeom>
          <a:noFill/>
          <a:ln/>
        </p:spPr>
        <p:txBody>
          <a:bodyPr wrap="square" lIns="182880" tIns="0" rIns="0" bIns="0" rtlCol="0" anchor="ctr"/>
          <a:lstStyle/>
          <a:p>
            <a:pPr marL="0" indent="0" algn="l">
              <a:buNone/>
            </a:pPr>
            <a:r>
              <a:rPr lang="uk-UA" sz="1100" b="1" dirty="0">
                <a:solidFill>
                  <a:srgbClr val="14A9AD"/>
                </a:solidFill>
                <a:latin typeface="Calibri" pitchFamily="34" charset="0"/>
              </a:rPr>
              <a:t>Правило: </a:t>
            </a:r>
            <a:r>
              <a:rPr lang="uk-UA" sz="1100" b="0" dirty="0">
                <a:solidFill>
                  <a:srgbClr val="E2E8F0"/>
                </a:solidFill>
                <a:latin typeface="Calibri" pitchFamily="34" charset="0"/>
              </a:rPr>
              <a:t>починай з FBV - це допомагає зрозуміти механіку. У реальному проєкті: CBV для CRUD, FBV для специфічної логіки.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732</Words>
  <Application>Microsoft Macintosh PowerPoint</Application>
  <PresentationFormat>On-screen Show (16:9)</PresentationFormat>
  <Paragraphs>114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ORM: основи, шаблони і CBV</dc:title>
  <dc:subject>PptxGenJS Presentation</dc:subject>
  <dc:creator>PptxGenJS</dc:creator>
  <cp:lastModifiedBy>Штефан Дмитро</cp:lastModifiedBy>
  <cp:revision>4</cp:revision>
  <dcterms:created xsi:type="dcterms:W3CDTF">2026-05-02T18:52:27Z</dcterms:created>
  <dcterms:modified xsi:type="dcterms:W3CDTF">2026-05-09T20:27:52Z</dcterms:modified>
</cp:coreProperties>
</file>