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0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4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1F3D">
              <a:alpha val="80000"/>
            </a:srgbClr>
          </a:solidFill>
          <a:ln w="12700">
            <a:solidFill>
              <a:srgbClr val="001F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Сучасний Python веб-фреймворк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2640"/>
          </a:solidFill>
          <a:ln w="1270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21408" y="411480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2640"/>
          </a:solidFill>
          <a:ln w="1270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2121408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APIRouter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85616" y="411480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2640"/>
          </a:solidFill>
          <a:ln w="1270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3785616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9824" y="411480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2640"/>
          </a:solidFill>
          <a:ln w="1270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5449824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14032" y="411480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2640"/>
          </a:solidFill>
          <a:ln w="1270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7114032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 доповідача:</a:t>
            </a:r>
            <a:endParaRPr lang="en-US" sz="100" dirty="0"/>
          </a:p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Привітайте студентів. Скажіть, що сьогодні вони напишуть повноцінне API з авторизацією — з нуля, крок за кроком. FastAPI — це не просто фреймворк, це новий стандарт для Python API. Орієнтовна тривалість: 2-3 академічні години.</a:t>
            </a:r>
            <a:endParaRPr lang="en-US" sz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FastAPI, якщо є Django REST?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74904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481328"/>
            <a:ext cx="2377440" cy="1828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457200" y="16002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Повний стек 'з коробки'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ORM, адмінка, міграції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7889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Важкий для мікросервісів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3832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Повільніший старт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651760" cy="3749040"/>
          </a:xfrm>
          <a:prstGeom prst="rect">
            <a:avLst/>
          </a:prstGeom>
          <a:solidFill>
            <a:srgbClr val="1E2640"/>
          </a:solidFill>
          <a:ln w="254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972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37560" y="1481328"/>
            <a:ext cx="2377440" cy="1828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3337560" y="16002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Мінімалістичний і швидкий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37560" y="21945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Автодокументація /docs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37560" y="27889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Async-first з asyncio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37560" y="33832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Ідеальний для API/мікросервісів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005840"/>
            <a:ext cx="2651760" cy="374904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09728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що?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17920" y="1481328"/>
            <a:ext cx="2377440" cy="1828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0"/>
          <p:cNvSpPr/>
          <p:nvPr/>
        </p:nvSpPr>
        <p:spPr>
          <a:xfrm>
            <a:off x="6217920" y="16002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DRF → великий монолітний продукт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217920" y="21945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FastAPI → чисте API / ML-сервіс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217920" y="27889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FastAPI → мікросервісна архітектура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217920" y="33832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FastAPI → навчання сучасного Python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Запитайте студентів — хто вже чув про FastAPI? Поясніть: DRF — це Rolls-Royce, FastAPI — це спорткар. Різні інструменти для різних задач. Ми будемо будувати API-сервіс, де FastAPI — ідеальний вибір.</a:t>
            </a:r>
            <a:endParaRPr lang="en-US" sz="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простими словами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Найпростіший застосунок: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754880" cy="1965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54864" cy="19659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408176"/>
            <a:ext cx="452628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read_root():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{"hello": "world"}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uvicorn main:app --reload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1005840"/>
            <a:ext cx="3474720" cy="96012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11556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Застосунок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1389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= FastAPI() — ваш веб-сервер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94960" y="2121408"/>
            <a:ext cx="3474720" cy="96012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231136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0" y="25054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@app.get('/') — URL + метод HTTP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394960" y="3236976"/>
            <a:ext cx="3474720" cy="740664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34670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0" y="3328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JSON-відповідь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94360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{...} → автоматично у JSON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4178808"/>
            <a:ext cx="8321040" cy="685800"/>
          </a:xfrm>
          <a:prstGeom prst="rect">
            <a:avLst/>
          </a:prstGeom>
          <a:solidFill>
            <a:srgbClr val="001A2E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976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24281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Запустіть uvicorn — і одразу відкривайте /docs. Там Swagger UI, де можна тестувати API прямо в браузері!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Наберіть цей код разом зі студентами. Запустіть — нехай вони побачать /docs у браузері. Скажіть: 'Ось і все — перше API готове за 5 рядків.' Це 'вау-момент' на початку заняття.</a:t>
            </a:r>
            <a:endParaRPr lang="en-US" sz="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Класична структура FastAPI-проєкту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файлів: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1480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54864" cy="256032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408176"/>
            <a:ext cx="38862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my_project/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main.py        ← точка входу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courses.py ← APIRouter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schemas.py     ← Pydantic-схеми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dependencies.py ← Depends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.env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09728" cy="5943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956048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56048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входу. Створює app, підключає роутери через app.include_router()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755648"/>
            <a:ext cx="109728" cy="59436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956048" y="1773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routers/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56048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з APIRouter-файлами. Кожен файл = окрема група endpoints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505456"/>
            <a:ext cx="109728" cy="5943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56048" y="2523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schemas.py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56048" y="2761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Pydantic-класи для валідації тіла запиту й форми відповіді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3255264"/>
            <a:ext cx="109728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56048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dependencies.py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56048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Спільна логіка (авторизація, get_or_404) через Depends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Принцип: один роутер = одна сутність (courses, users, orders). Так проєкт залишається читабельним.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Покажіть структуру і запитайте — 'Де бачите схожість з Django? (urls.py = routers, serializers.py = schemas)'. Аналогії з Django допоможуть студентам прив'язати нове до вже відомого.</a:t>
            </a:r>
            <a:endParaRPr lang="en-US" sz="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і APIRouter: чому виносити endpoint-и?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app/main.py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" cy="19202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7947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app.routers import courses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FastAPI(title="Courses API")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app.include_router(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courses.router,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prefix="/courses",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tags=["courses"]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app/routers/courses.py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54864" cy="19202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00600" y="1389888"/>
            <a:ext cx="38862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APIRouter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= APIRouter()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courses_db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@router.get("/{course_id}")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get_course(course_id: int):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2606040" cy="82296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639312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" y="3438144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у коді — кожна сутність окремо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1840" y="3401568"/>
            <a:ext cx="2606040" cy="82296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640207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67328" y="3438144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prefix= задає /courses автоматично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3401568"/>
            <a:ext cx="2606040" cy="82296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63931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01968" y="3438144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tags= групує у /docs по розділах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Покажіть 'антипатерн' — усі endpoint-и в main.py. Запитайте: 'Що станеться, коли їх буде 50?' Студенти самі дійдуть до висновку, що потрібна структура.</a:t>
            </a:r>
            <a:endParaRPr lang="en-US" sz="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Тимчасові дані та Pydantic-схеми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замість бази даних: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02336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17373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Наші 'дані' — простий список у пам'яті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courses_db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1, "title": "Python Basics",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"level": "beginner", "price": 0},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2, "title": "FastAPI Pro",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"level": "advanced", "price": 499},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Pydantic-схеми: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1480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54864" cy="17373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886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CourseCreate(BaseModel):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level: str = "beginner"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price: float = 0.0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CourseOut(CourseCreate):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606040" cy="914400"/>
          </a:xfrm>
          <a:prstGeom prst="rect">
            <a:avLst/>
          </a:prstGeom>
          <a:solidFill>
            <a:srgbClr val="1E2640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Автовалідація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price='abc' → 422 Unprocessable Entity автоматично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3200400"/>
            <a:ext cx="2606040" cy="914400"/>
          </a:xfrm>
          <a:prstGeom prst="rect">
            <a:avLst/>
          </a:prstGeom>
          <a:solidFill>
            <a:srgbClr val="1E264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42900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Документація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547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Схеми з'являються у /docs як JSON Schema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3200400"/>
            <a:ext cx="2606040" cy="914400"/>
          </a:xfrm>
          <a:prstGeom prst="rect">
            <a:avLst/>
          </a:prstGeom>
          <a:solidFill>
            <a:srgbClr val="1E264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26364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Автоперетворення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547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price='5.99' (рядок) → 5.99 (float) автоматично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Поясніть аналогію — Pydantic як Django serializers, але простіший і потужніший. Покажіть живий приклад: надішліть неправильний тип у /docs і покажіть автоматичну 422 помилку.</a:t>
            </a:r>
            <a:endParaRPr lang="en-US" sz="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CRUD-мінімум: GET і POST endpoint-и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321040" cy="32186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4864" cy="321868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80924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APIRouter, HTTPException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app.schemas import CourseCreate, CourseOut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= APIRouter()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/courses — повний список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@router.get("/", response_model=list[CourseOut])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get_courses():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courses_db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/courses/{course_id} — один об'єкт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@router.get("/{course_id}", response_model=CourseOut)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get_course(course_id: int):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courses_db: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c["id"] == course_id: return 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HTTPException(404, "Курс не знайдено")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 /courses — створити новий (status_code=201)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@router.post("/", response_model=CourseOut, status_code=201)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create_course(course: CourseCreate):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new_id = max(c["id"] for c in courses_db) + 1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new_course = {"id": new_id, **course.dict()}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courses_db.append(new_course); return new_course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4407408"/>
            <a:ext cx="54864" cy="3200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40080" y="4407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response_model= фільтрує відповідь через схему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4407408"/>
            <a:ext cx="54864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474720" y="4407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status_code=201 для POST (Created)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4407408"/>
            <a:ext cx="54864" cy="3200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309360" y="4407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HTTPException(404) → JSON-помилка автоматично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Пишемо разом! Спершу GET /courses, запускаємо, дивимось у /docs. Потім GET/{id} — спробуйте id=999 і покажіть 404. Нарешті POST — створіть курс і одразу зробіть GET щоб довести що він додався.</a:t>
            </a:r>
            <a:endParaRPr lang="en-US" sz="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Path-параметри і Query-параметри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Path-параметр  /courses/{id}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02336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148132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/courses/1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@router.get("/{course_id}")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get_course(course_id: int):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FastAPI автоматично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конвертує "1" →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Query-параметр  /search?level=beginner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1480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54864" cy="148132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/search?level=beginner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@router.get("/search")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search_courses(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level: str = "beginner",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max_price: float = None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[c for c in courses_db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c["level"] == level]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8321040" cy="347472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15184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у URL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даних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48272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Обов'язковий?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15184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/courses/{id}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81728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str, uuid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48272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6941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15184" y="36941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/search?level=...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36941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bool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48272" y="36941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без default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8321040" cy="347472"/>
          </a:xfrm>
          <a:prstGeom prst="rect">
            <a:avLst/>
          </a:prstGeom>
          <a:solidFill>
            <a:srgbClr val="181F3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57200" y="3675888"/>
            <a:ext cx="8321040" cy="347472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5184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/courses/{id}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81728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str, uuid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48272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675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15184" y="3675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/search?level=...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81728" y="3675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bool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48272" y="3675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без default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879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Якщо параметр є у URL-шляху — він path. Якщо після ? — він query. FastAPI визначає це автоматично по імені аргументу функції.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Запитайте студентів — 'Коли ми шукаємо за ID і коли фільтруємо?' Якщо я точно знаю що хочу → path. Якщо шукаю/фільтрую → query. Це ключова різниця!</a:t>
            </a:r>
            <a:endParaRPr lang="en-US" sz="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навіщо потрібен Depends?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033272"/>
            <a:ext cx="8321040" cy="402336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332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один і той самий пошук курсу + 404 ми дублюємо в кожному endpoint-і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27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Без Depends (дублювання)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01952"/>
            <a:ext cx="402336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57200" y="1901952"/>
            <a:ext cx="54864" cy="21488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594360" y="2011680"/>
            <a:ext cx="379476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@router.get("/{id}")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get_course(id: int):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courses_db: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c["id"] == id: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@router.put("/{id}")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update_course(id: int, ...):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courses_db:   # ← знову!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c["id"] == id: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63440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З Depends (спільна логіка)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901952"/>
            <a:ext cx="411480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4663440" y="1901952"/>
            <a:ext cx="54864" cy="21488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4800600" y="2011680"/>
            <a:ext cx="3886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dependencies.py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get_course_or_404(id: int):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courses_db: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c["id"] == id: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routers/courses.py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Depends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@router.get("/{id}")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get_course(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course=Depends(get_course_or_404)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course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Поясніть аналогію — Depends як mixin у Python або middleware у Django, але для окремого endpoint-а. FastAPI сам викличе функцію та передасть результат. Це DRY-принцип у дії.</a:t>
            </a:r>
            <a:endParaRPr lang="en-US" sz="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JWT-авторизація: /login → Bearer Token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E2640"/>
          </a:solidFill>
          <a:ln w="254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34416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03120" y="10058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E2640"/>
          </a:solidFill>
          <a:ln w="254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210312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03120" y="1261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103120" y="1517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7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344168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40480" y="10058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E2640"/>
          </a:solidFill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/>
          <p:nvPr/>
        </p:nvSpPr>
        <p:spPr>
          <a:xfrm>
            <a:off x="384048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840480" y="1261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840480" y="1517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access_token</a:t>
            </a:r>
            <a:endParaRPr lang="en-US" sz="7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344168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577840" y="10058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E2640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6"/>
          <p:cNvSpPr/>
          <p:nvPr/>
        </p:nvSpPr>
        <p:spPr>
          <a:xfrm>
            <a:off x="557784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577840" y="1261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/courses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577840" y="1517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...</a:t>
            </a:r>
            <a:endParaRPr lang="en-US" sz="7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344168"/>
            <a:ext cx="182880" cy="1828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15200" y="10058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E2640"/>
          </a:solidFill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0"/>
          <p:cNvSpPr/>
          <p:nvPr/>
        </p:nvSpPr>
        <p:spPr>
          <a:xfrm>
            <a:off x="731520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315200" y="1261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Дозволено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315200" y="1517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457200" y="1993392"/>
            <a:ext cx="8321040" cy="309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4"/>
          <p:cNvSpPr/>
          <p:nvPr/>
        </p:nvSpPr>
        <p:spPr>
          <a:xfrm>
            <a:off x="457200" y="1993392"/>
            <a:ext cx="45720" cy="30901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5"/>
          <p:cNvSpPr/>
          <p:nvPr/>
        </p:nvSpPr>
        <p:spPr>
          <a:xfrm>
            <a:off x="594360" y="2103120"/>
            <a:ext cx="809244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fastapi.security import OAuth2PasswordBearer, OAuth2PasswordRequestForm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jose import jwt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Depends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oauth2_scheme = OAuth2PasswordBearer(tokenUrl="/login")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SECRET_KEY = "super-secret"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@app.post("/login")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login(form: OAuth2PasswordRequestForm = Depends()):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form.username != "admin" or form.password != "1234":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HTTPException(401, "Невірні дані")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 = jwt.encode({"sub": form.username}, SECRET_KEY)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{"access_token": token, "token_type": "bearer"}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get_current_user(token: str = Depends(oauth2_scheme)):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jwt.decode(token, SECRET_KEY, algorithms=["HS256"])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payload["sub"]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@router.post("/courses", status_code=201)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create_course(course: CourseCreate,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user=Depends(get_current_user)):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Тільки авторизовані можуть створювати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Покажіть кнопку Authorize у /docs — студенти люблять цей момент! Спершу спробуйте POST /courses без токена (401), потім залогіньтесь і повторіть (201). Відмінність відчутна.</a:t>
            </a:r>
            <a:endParaRPr lang="en-US" sz="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через /docs — живий Swagger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361188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solidFill>
            <a:srgbClr val="141822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 localhost:8000/docs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484632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1A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344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/courses/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484632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94360" y="246888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94360" y="24688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1A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3444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/courses/{course_id}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484632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94360" y="297180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94360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9C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3444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/courses/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484632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94360" y="347472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94360" y="3474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1A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34440" y="3474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484632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594360" y="397764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94360" y="39776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9C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3444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1005840"/>
            <a:ext cx="3108960" cy="77724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09728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17220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Відкрийте /docs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806440" y="1353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генерується автоматично з вашого коду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669280" y="1892808"/>
            <a:ext cx="3108960" cy="77724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984248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7220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кнопка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80644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Натисніть — введіть credentials → отримайте Bearer token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669280" y="2779776"/>
            <a:ext cx="3108960" cy="77724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871216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17220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5806440" y="3127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Розгорніть endpoint → 'Try it out' → 'Execute'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5669280" y="3666744"/>
            <a:ext cx="3108960" cy="777240"/>
          </a:xfrm>
          <a:prstGeom prst="rect">
            <a:avLst/>
          </a:prstGeom>
          <a:solidFill>
            <a:srgbClr val="1E2640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758184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172200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Перевірте відповідь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5806440" y="401421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code, JSON response body, curl-команда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Відкрийте /docs в браузері прямо зараз! Нехай кожен студент протестує свій endpoint. Swagger UI — це вбудований клієнт для API, і студенти мають відчути це самостійно.</a:t>
            </a:r>
            <a:endParaRPr lang="en-US" sz="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71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1188720"/>
          </a:xfrm>
          <a:prstGeom prst="rect">
            <a:avLst/>
          </a:prstGeom>
          <a:solidFill>
            <a:srgbClr val="1E2640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566928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274320" y="1051560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1124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FastAPI-застосунок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43560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Створіть один файл main.py.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Встановіть fastapi та uvicorn.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Запустіть сервер командою uvicorn main:app --reload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166360" y="1143000"/>
            <a:ext cx="34747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5166360" y="1143000"/>
            <a:ext cx="54864" cy="10058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5303520" y="1252728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ваші endpoint-и тут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" y="2350008"/>
            <a:ext cx="8595360" cy="1188720"/>
          </a:xfrm>
          <a:prstGeom prst="rect">
            <a:avLst/>
          </a:prstGeom>
          <a:solidFill>
            <a:srgbClr val="1E264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274320" y="2350008"/>
            <a:ext cx="566928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274320" y="235000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6012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GET /items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273405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Поверніть список із 3-5 об'єктів.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об'єкт має мати хоча б id та name.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Перевірте через /docs.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166360" y="2441448"/>
            <a:ext cx="34747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5166360" y="2441448"/>
            <a:ext cx="54864" cy="10058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5303520" y="2551176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@app.get("/items")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get_items():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items_db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648456"/>
            <a:ext cx="8595360" cy="1188720"/>
          </a:xfrm>
          <a:prstGeom prst="rect">
            <a:avLst/>
          </a:prstGeom>
          <a:solidFill>
            <a:srgbClr val="1E264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19"/>
          <p:cNvSpPr/>
          <p:nvPr/>
        </p:nvSpPr>
        <p:spPr>
          <a:xfrm>
            <a:off x="274320" y="3648456"/>
            <a:ext cx="566928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0"/>
          <p:cNvSpPr/>
          <p:nvPr/>
        </p:nvSpPr>
        <p:spPr>
          <a:xfrm>
            <a:off x="274320" y="3648456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0120" y="3721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GET /items/{item_id}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0120" y="403250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Поверніть один об'єкт за id.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не знайдено → HTTPException(404).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Перевірте id що існує і id що не існує.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66360" y="3739896"/>
            <a:ext cx="34747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4"/>
          <p:cNvSpPr/>
          <p:nvPr/>
        </p:nvSpPr>
        <p:spPr>
          <a:xfrm>
            <a:off x="5166360" y="3739896"/>
            <a:ext cx="54864" cy="10058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5"/>
          <p:cNvSpPr/>
          <p:nvPr/>
        </p:nvSpPr>
        <p:spPr>
          <a:xfrm>
            <a:off x="5303520" y="3849624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@app.get("/items/{item_id}")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get_item(item_id: int):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7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Мінімум: main.py + 2 endpoint-и + тестування через /docs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50749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Дайте студентам 5 хвилин щоб прочитати завдання. Нагадайте: не треба бази даних — просто список у пам'яті. Основна мета — впевнено запустити свій перший FastAPI-сервер самостійно.</a:t>
            </a:r>
            <a:endParaRPr lang="en-US" sz="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5486400" cy="5486400"/>
          </a:xfrm>
          <a:prstGeom prst="ellipse">
            <a:avLst/>
          </a:prstGeom>
          <a:solidFill>
            <a:srgbClr val="003344">
              <a:alpha val="70000"/>
            </a:srgbClr>
          </a:solidFill>
          <a:ln w="12700">
            <a:solidFill>
              <a:srgbClr val="0033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вивчили сьогодні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64008" cy="7498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88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601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vs DRF — де і коли використовувати кожен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73736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365760" y="1737360"/>
            <a:ext cx="64008" cy="7498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828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проєкту: main.py, routers/, schemas.py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60604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9"/>
          <p:cNvSpPr/>
          <p:nvPr/>
        </p:nvSpPr>
        <p:spPr>
          <a:xfrm>
            <a:off x="365760" y="2606040"/>
            <a:ext cx="64008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697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endpoint-и: GET /items, GET /items/{id}, POST /items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347472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2"/>
          <p:cNvSpPr/>
          <p:nvPr/>
        </p:nvSpPr>
        <p:spPr>
          <a:xfrm>
            <a:off x="365760" y="3474720"/>
            <a:ext cx="64008" cy="7498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69417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5661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та query параметри — різниця та застосування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800600" y="86868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5"/>
          <p:cNvSpPr/>
          <p:nvPr/>
        </p:nvSpPr>
        <p:spPr>
          <a:xfrm>
            <a:off x="4800600" y="868680"/>
            <a:ext cx="64008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108813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9601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Pydantic-схеми для валідації та документації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800600" y="173736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18"/>
          <p:cNvSpPr/>
          <p:nvPr/>
        </p:nvSpPr>
        <p:spPr>
          <a:xfrm>
            <a:off x="4800600" y="1737360"/>
            <a:ext cx="64008" cy="7498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195681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1828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спільна логіка і dependency injection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800600" y="260604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1"/>
          <p:cNvSpPr/>
          <p:nvPr/>
        </p:nvSpPr>
        <p:spPr>
          <a:xfrm>
            <a:off x="4800600" y="2606040"/>
            <a:ext cx="64008" cy="7498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192" y="2825496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49240" y="2697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/login endpoint, Bearer token, Authorize у /docs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800600" y="3474720"/>
            <a:ext cx="4160520" cy="749808"/>
          </a:xfrm>
          <a:prstGeom prst="rect">
            <a:avLst/>
          </a:prstGeom>
          <a:solidFill>
            <a:srgbClr val="1E26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24"/>
          <p:cNvSpPr/>
          <p:nvPr/>
        </p:nvSpPr>
        <p:spPr>
          <a:xfrm>
            <a:off x="4800600" y="3474720"/>
            <a:ext cx="64008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3694176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9240" y="35661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Захищений endpoint з Depends(get_current_user)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274320" y="49834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F1117"/>
                </a:solidFill>
              </a:rPr>
              <a:t>Нотатки: Пройдіться по кожному пункту коротко — 10-15 секунд на кожен. Запитайте: 'Що було найнезрозуміліше?' та 'Що сподобалось найбільше?' Дайте 2 хвилини на запитання. Нагадайте про домашнє завдання.</a:t>
            </a:r>
            <a:endParaRPr lang="en-US" sz="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4547</TotalTime>
  <Words>2265</Words>
  <Application>Microsoft Macintosh PowerPoint</Application>
  <PresentationFormat>On-screen Show (16:9)</PresentationFormat>
  <Paragraphs>342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FastAPI — Практичний курс</dc:title>
  <dc:subject>PptxGenJS Presentation</dc:subject>
  <dc:creator>FastAPI Course</dc:creator>
  <cp:lastModifiedBy>Штефан Дмитро</cp:lastModifiedBy>
  <cp:revision>5</cp:revision>
  <dcterms:created xsi:type="dcterms:W3CDTF">2026-05-17T17:22:52Z</dcterms:created>
  <dcterms:modified xsi:type="dcterms:W3CDTF">2026-05-20T21:20:12Z</dcterms:modified>
</cp:coreProperties>
</file>