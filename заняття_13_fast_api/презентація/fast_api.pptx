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02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546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13.png"/><Relationship Id="rId4" Type="http://schemas.openxmlformats.org/officeDocument/2006/relationships/image" Target="../media/image6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1371600"/>
            <a:ext cx="6400800" cy="6400800"/>
          </a:xfrm>
          <a:prstGeom prst="ellipse">
            <a:avLst/>
          </a:prstGeom>
          <a:solidFill>
            <a:srgbClr val="001F3D">
              <a:alpha val="80000"/>
            </a:srgbClr>
          </a:solidFill>
          <a:ln w="12700">
            <a:solidFill>
              <a:srgbClr val="001F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4173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Сучасний Python веб-фреймворк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4114800"/>
            <a:ext cx="1463040" cy="320040"/>
          </a:xfrm>
          <a:prstGeom prst="roundRect">
            <a:avLst>
              <a:gd name="adj" fmla="val 22857"/>
            </a:avLst>
          </a:prstGeom>
          <a:solidFill>
            <a:srgbClr val="1E2640"/>
          </a:solidFill>
          <a:ln w="12700">
            <a:solidFill>
              <a:srgbClr val="0097B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4114800"/>
            <a:ext cx="1463040" cy="320040"/>
          </a:xfrm>
          <a:prstGeom prst="roundRect">
            <a:avLst>
              <a:gd name="adj" fmla="val 22857"/>
            </a:avLst>
          </a:prstGeom>
          <a:solidFill>
            <a:srgbClr val="1E2640"/>
          </a:solidFill>
          <a:ln w="12700">
            <a:solidFill>
              <a:srgbClr val="0097B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7"/>
          <p:cNvSpPr/>
          <p:nvPr/>
        </p:nvSpPr>
        <p:spPr>
          <a:xfrm>
            <a:off x="2121408" y="4114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APIRouter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785616" y="4114800"/>
            <a:ext cx="1463040" cy="320040"/>
          </a:xfrm>
          <a:prstGeom prst="roundRect">
            <a:avLst>
              <a:gd name="adj" fmla="val 22857"/>
            </a:avLst>
          </a:prstGeom>
          <a:solidFill>
            <a:srgbClr val="1E2640"/>
          </a:solidFill>
          <a:ln w="12700">
            <a:solidFill>
              <a:srgbClr val="0097B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9"/>
          <p:cNvSpPr/>
          <p:nvPr/>
        </p:nvSpPr>
        <p:spPr>
          <a:xfrm>
            <a:off x="3785616" y="4114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49824" y="4114800"/>
            <a:ext cx="1463040" cy="320040"/>
          </a:xfrm>
          <a:prstGeom prst="roundRect">
            <a:avLst>
              <a:gd name="adj" fmla="val 22857"/>
            </a:avLst>
          </a:prstGeom>
          <a:solidFill>
            <a:srgbClr val="1E2640"/>
          </a:solidFill>
          <a:ln w="12700">
            <a:solidFill>
              <a:srgbClr val="0097B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1"/>
          <p:cNvSpPr/>
          <p:nvPr/>
        </p:nvSpPr>
        <p:spPr>
          <a:xfrm>
            <a:off x="5449824" y="4114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114032" y="4114800"/>
            <a:ext cx="1463040" cy="320040"/>
          </a:xfrm>
          <a:prstGeom prst="roundRect">
            <a:avLst>
              <a:gd name="adj" fmla="val 22857"/>
            </a:avLst>
          </a:prstGeom>
          <a:solidFill>
            <a:srgbClr val="1E2640"/>
          </a:solidFill>
          <a:ln w="12700">
            <a:solidFill>
              <a:srgbClr val="0097B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3"/>
          <p:cNvSpPr/>
          <p:nvPr/>
        </p:nvSpPr>
        <p:spPr>
          <a:xfrm>
            <a:off x="7114032" y="4114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 доповідача:</a:t>
            </a:r>
            <a:endParaRPr lang="en-US" sz="100" dirty="0"/>
          </a:p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Привітайте студентів. Скажіть, що сьогодні вони напишуть повноцінне API з авторизацією — з нуля, крок за кроком. FastAPI — це не просто фреймворк, це новий стандарт для Python API. Орієнтовна тривалість: 2-3 академічні години.</a:t>
            </a:r>
            <a:endParaRPr lang="en-US" sz="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Навіщо FastAPI, якщо є Django REST?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651760" cy="374904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1097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481328"/>
            <a:ext cx="2377440" cy="1828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6"/>
          <p:cNvSpPr/>
          <p:nvPr/>
        </p:nvSpPr>
        <p:spPr>
          <a:xfrm>
            <a:off x="457200" y="16002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Повний стек 'з коробки'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219456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ORM, адмінка, міграції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57200" y="278892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Важкий для мікросервісів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7200" y="338328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Повільніший старт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200400" y="1005840"/>
            <a:ext cx="2651760" cy="3749040"/>
          </a:xfrm>
          <a:prstGeom prst="rect">
            <a:avLst/>
          </a:prstGeom>
          <a:solidFill>
            <a:srgbClr val="1E2640"/>
          </a:solidFill>
          <a:ln w="254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097280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749040" y="1097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37560" y="1481328"/>
            <a:ext cx="2377440" cy="1828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3"/>
          <p:cNvSpPr/>
          <p:nvPr/>
        </p:nvSpPr>
        <p:spPr>
          <a:xfrm>
            <a:off x="3337560" y="16002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Мінімалістичний і швидкий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3337560" y="219456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Автодокументація /docs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37560" y="278892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Async-first з asyncio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3337560" y="338328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Ідеальний для API/мікросервісів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080760" y="1005840"/>
            <a:ext cx="2651760" cy="374904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097280"/>
            <a:ext cx="347472" cy="34747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629400" y="1097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 що?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6217920" y="1481328"/>
            <a:ext cx="2377440" cy="1828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0"/>
          <p:cNvSpPr/>
          <p:nvPr/>
        </p:nvSpPr>
        <p:spPr>
          <a:xfrm>
            <a:off x="6217920" y="16002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DRF → великий монолітний продукт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6217920" y="219456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FastAPI → чисте API / ML-сервіс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6217920" y="278892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FastAPI → мікросервісна архітектура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6217920" y="338328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FastAPI → навчання сучасного Python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Запитайте студентів — хто вже чув про FastAPI? Поясніть: DRF — це Rolls-Royce, FastAPI — це спорткар. Різні інструменти для різних задач. Ми будемо будувати API-сервіс, де FastAPI — ідеальний вибір.</a:t>
            </a:r>
            <a:endParaRPr lang="en-US" sz="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простими словами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Найпростіший застосунок: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4754880" cy="19659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57200" y="1298448"/>
            <a:ext cx="54864" cy="196596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94360" y="1408176"/>
            <a:ext cx="452628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FastAPI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FastAPI()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@app.get("/")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read_root():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{"hello": "world"}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uvicorn main:app --reload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94960" y="1005840"/>
            <a:ext cx="3474720" cy="96012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115568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94360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Застосунок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0" y="1389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= FastAPI() — ваш веб-сервер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394960" y="2121408"/>
            <a:ext cx="3474720" cy="96012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231136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943600" y="2212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943600" y="25054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@app.get('/') — URL + метод HTTP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394960" y="3236976"/>
            <a:ext cx="3474720" cy="740664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3346704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943600" y="33284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JSON-відповідь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943600" y="43708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{...} → автоматично у JSON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57200" y="4178808"/>
            <a:ext cx="8321040" cy="685800"/>
          </a:xfrm>
          <a:prstGeom prst="rect">
            <a:avLst/>
          </a:prstGeom>
          <a:solidFill>
            <a:srgbClr val="001A2E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29768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51560" y="424281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Запустіть uvicorn — і одразу відкривайте /docs. Там Swagger UI, де можна тестувати API прямо в браузері!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Наберіть цей код разом зі студентами. Запустіть — нехай вони побачать /docs у браузері. Скажіть: 'Ось і все — перше API готове за 5 рядків.' Це 'вау-момент' на початку заняття.</a:t>
            </a:r>
            <a:endParaRPr lang="en-US" sz="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Класична структура FastAPI-проєкту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файлів: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4114800" cy="256032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57200" y="1298448"/>
            <a:ext cx="54864" cy="256032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94360" y="1408176"/>
            <a:ext cx="388620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my_project/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main.py        ← точка входу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routers/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└── courses.py ← APIRouter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schemas.py     ← Pydantic-схеми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dependencies.py ← Depends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requirements.txt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.env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109728" cy="59436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956048" y="10241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D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956048" y="1261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входу. Створює app, підключає роутери через app.include_router()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1755648"/>
            <a:ext cx="109728" cy="59436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956048" y="17739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routers/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956048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Папка з APIRouter-файлами. Кожен файл = окрема група endpoints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2505456"/>
            <a:ext cx="109728" cy="594360"/>
          </a:xfrm>
          <a:prstGeom prst="rect">
            <a:avLst/>
          </a:prstGeom>
          <a:solidFill>
            <a:srgbClr val="FFD600"/>
          </a:solidFill>
          <a:ln w="12700">
            <a:solidFill>
              <a:srgbClr val="FFD6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956048" y="25237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D6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schemas.py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956048" y="27614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Pydantic-класи для валідації тіла запиту й форми відповіді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3255264"/>
            <a:ext cx="109728" cy="5943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956048" y="3273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dependencies.py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56048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Спільна логіка (авторизація, get_or_404) через Depends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04164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Принцип: один роутер = одна сутність (courses, users, orders). Так проєкт залишається читабельним.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Покажіть структуру і запитайте — 'Де бачите схожість з Django? (urls.py = routers, serializers.py = schemas)'. Аналогії з Django допоможуть студентам прив'язати нове до вже відомого.</a:t>
            </a:r>
            <a:endParaRPr lang="en-US" sz="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main.py і APIRouter: чому виносити endpoint-и?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app/main.py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192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54864" cy="192024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94360" y="1389888"/>
            <a:ext cx="37947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FastAPI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app.routers import courses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FastAPI(title="Courses API")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app.include_router(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courses.router,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prefix="/courses",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tags=["courses"]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663440" y="1005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app/routers/courses.py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114800" cy="19202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663440" y="1280160"/>
            <a:ext cx="54864" cy="192024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800600" y="1389888"/>
            <a:ext cx="38862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APIRouter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 = APIRouter()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@router.get("/")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get_courses():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courses_db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@router.get("/{course_id}")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get_course(course_id: int):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401568"/>
            <a:ext cx="2606040" cy="82296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02152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32688" y="3438144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у коді — кожна сутність окремо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291840" y="3401568"/>
            <a:ext cx="2606040" cy="82296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3502152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767328" y="3438144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prefix= задає /courses автоматично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126480" y="3401568"/>
            <a:ext cx="2606040" cy="82296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350215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601968" y="3438144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tags= групує у /docs по розділах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Покажіть 'антипатерн' — усі endpoint-и в main.py. Запитайте: 'Що станеться, коли їх буде 50?' Студенти самі дійдуть до висновку, що потрібна структура.</a:t>
            </a:r>
            <a:endParaRPr lang="en-US" sz="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Тимчасові дані та Pydantic-схеми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замість бази даних: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23360" cy="17373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54864" cy="173736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Наші 'дані' — простий список у пам'яті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courses_db = [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1, "title": "Python Basics",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"level": "beginner", "price": 0},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2, "title": "FastAPI Pro",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"level": "advanced", "price": 499},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663440" y="9875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Pydantic-схеми: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261872"/>
            <a:ext cx="4114800" cy="17373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663440" y="1261872"/>
            <a:ext cx="54864" cy="173736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38862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pydantic import BaseModel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typing import Optional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CourseCreate(BaseModel):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str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level: str = "beginner"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price: float = 0.0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CourseOut(CourseCreate):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int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2606040" cy="914400"/>
          </a:xfrm>
          <a:prstGeom prst="rect">
            <a:avLst/>
          </a:prstGeom>
          <a:solidFill>
            <a:srgbClr val="1E2640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94360" y="32644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Автовалідація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5478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price='abc' → 422 Unprocessable Entity автоматично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91840" y="3200400"/>
            <a:ext cx="2606040" cy="914400"/>
          </a:xfrm>
          <a:prstGeom prst="rect">
            <a:avLst/>
          </a:prstGeom>
          <a:solidFill>
            <a:srgbClr val="1E2640"/>
          </a:solidFill>
          <a:ln w="1270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3429000" y="32644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35478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Схеми з'являються у /docs як JSON Schema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26480" y="3200400"/>
            <a:ext cx="2606040" cy="914400"/>
          </a:xfrm>
          <a:prstGeom prst="rect">
            <a:avLst/>
          </a:prstGeom>
          <a:solidFill>
            <a:srgbClr val="1E2640"/>
          </a:solidFill>
          <a:ln w="12700">
            <a:solidFill>
              <a:srgbClr val="FFD6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6263640" y="32644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Автоперетворення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354787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price='5.99' (рядок) → 5.99 (float) автоматично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Поясніть аналогію — Pydantic як Django serializers, але простіший і потужніший. Покажіть живий приклад: надішліть неправильний тип у /docs і покажіть автоматичну 422 помилку.</a:t>
            </a:r>
            <a:endParaRPr lang="en-US" sz="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CRUD-мінімум: GET і POST endpoint-и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8321040" cy="3218688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54864" cy="3218688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94360" y="1097280"/>
            <a:ext cx="809244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APIRouter, HTTPException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app.schemas import CourseCreate, CourseOut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 = APIRouter()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/courses — повний список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@router.get("/", response_model=list[CourseOut])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get_courses():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courses_db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/courses/{course_id} — один об'єкт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@router.get("/{course_id}", response_model=CourseOut)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get_course(course_id: int):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courses_db: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c["id"] == course_id: return c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HTTPException(404, "Курс не знайдено")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/courses — створити новий (status_code=201)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@router.post("/", response_model=CourseOut, status_code=201)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create_course(course: CourseCreate):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new_id = max(c["id"] for c in courses_db) + 1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new_course = {"id": new_id, **course.dict()}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courses_db.append(new_course); return new_course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4407408"/>
            <a:ext cx="54864" cy="32004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640080" y="44074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response_model= фільтрує відповідь через схему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0" y="4407408"/>
            <a:ext cx="54864" cy="32004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474720" y="44074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status_code=201 для POST (Created)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26480" y="4407408"/>
            <a:ext cx="54864" cy="320040"/>
          </a:xfrm>
          <a:prstGeom prst="rect">
            <a:avLst/>
          </a:prstGeom>
          <a:solidFill>
            <a:srgbClr val="FFD600"/>
          </a:solidFill>
          <a:ln w="12700">
            <a:solidFill>
              <a:srgbClr val="FFD6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309360" y="44074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HTTPException(404) → JSON-помилка автоматично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Пишемо разом! Спершу GET /courses, запускаємо, дивимось у /docs. Потім GET/{id} — спробуйте id=999 і покажіть 404. Нарешті POST — створіть курс і одразу зробіть GET щоб довести що він додався.</a:t>
            </a:r>
            <a:endParaRPr lang="en-US" sz="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Path-параметри і Query-параметри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Path-параметр  /courses/{id}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23360" cy="1481328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54864" cy="1481328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794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/courses/1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@router.get("/{course_id}")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get_course(course_id: int):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FastAPI автоматично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конвертує "1" → int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663440" y="9875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Query-параметр  /search?level=beginner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261872"/>
            <a:ext cx="4114800" cy="1481328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663440" y="1261872"/>
            <a:ext cx="54864" cy="1481328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3886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/search?level=beginner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@router.get("/search")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search_courses(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level: str = "beginner",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max_price: float = None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[c for c in courses_db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c["level"] == level]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907792"/>
            <a:ext cx="8321040" cy="347472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48640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615184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у URL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81728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даних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48272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Обов'язковий?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33101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15184" y="33101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/courses/{id}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81728" y="33101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int, str, uuid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48272" y="33101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Завжди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6941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15184" y="36941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/search?level=...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81728" y="36941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str, int, float, bool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748272" y="369417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Тільки без default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291840"/>
            <a:ext cx="8321040" cy="347472"/>
          </a:xfrm>
          <a:prstGeom prst="rect">
            <a:avLst/>
          </a:prstGeom>
          <a:solidFill>
            <a:srgbClr val="181F3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8321040" cy="347472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548640" y="3291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15184" y="3291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/courses/{id}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81728" y="3291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int, str, uuid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48272" y="3291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Завжди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3675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615184" y="3675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/search?level=...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81728" y="3675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str, int, float, bool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748272" y="3675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Тільки без default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187952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Якщо параметр є у URL-шляху — він path. Якщо після ? — він query. FastAPI визначає це автоматично по імені аргументу функції.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Запитайте студентів — 'Коли ми шукаємо за ID і коли фільтруємо?' Якщо я точно знаю що хочу → path. Якщо шукаю/фільтрую → query. Це ключова різниця!</a:t>
            </a:r>
            <a:endParaRPr lang="en-US" sz="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Dependencies: навіщо потрібен Depends?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57200" y="1033272"/>
            <a:ext cx="8321040" cy="402336"/>
          </a:xfrm>
          <a:prstGeom prst="rect">
            <a:avLst/>
          </a:prstGeom>
          <a:solidFill>
            <a:srgbClr val="1A0A0A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033272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Проблема: один і той самий пошук курсу + 404 ми дублюємо в кожному endpoint-і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62763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Без Depends (дублювання)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1901952"/>
            <a:ext cx="4023360" cy="2148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457200" y="1901952"/>
            <a:ext cx="54864" cy="214884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594360" y="2011680"/>
            <a:ext cx="3794760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@router.get("/{id}")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get_course(id: int):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courses_db: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c["id"] == id: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c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HTTPException(404)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@router.put("/{id}")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update_course(id: int, ...):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courses_db:   # ← знову!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c["id"] == id: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HTTPException(404)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663440" y="16276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З Depends (спільна логіка)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901952"/>
            <a:ext cx="4114800" cy="2148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1"/>
          <p:cNvSpPr/>
          <p:nvPr/>
        </p:nvSpPr>
        <p:spPr>
          <a:xfrm>
            <a:off x="4663440" y="1901952"/>
            <a:ext cx="54864" cy="214884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/>
          <p:nvPr/>
        </p:nvSpPr>
        <p:spPr>
          <a:xfrm>
            <a:off x="4800600" y="2011680"/>
            <a:ext cx="3886200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dependencies.py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get_course_or_404(id: int):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 in courses_db: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c["id"] == id: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c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HTTPException(404)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routers/courses.py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Depends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@router.get("/{id}")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get_course(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course=Depends(get_course_or_404)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course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Поясніть аналогію — Depends як mixin у Python або middleware у Django, але для окремого endpoint-а. FastAPI сам викличе функцію та передасть результат. Це DRY-принцип у дії.</a:t>
            </a:r>
            <a:endParaRPr lang="en-US" sz="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БЕЗПЕКА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JWT-авторизація: /login → Bearer Token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1E2640"/>
          </a:solidFill>
          <a:ln w="254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365760" y="10241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2618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/login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517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password</a:t>
            </a:r>
            <a:endParaRPr lang="en-US" sz="7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1952" y="1344168"/>
            <a:ext cx="182880" cy="182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103120" y="100584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1E2640"/>
          </a:solidFill>
          <a:ln w="25400">
            <a:solidFill>
              <a:srgbClr val="FFD6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8"/>
          <p:cNvSpPr/>
          <p:nvPr/>
        </p:nvSpPr>
        <p:spPr>
          <a:xfrm>
            <a:off x="2103120" y="10241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103120" y="12618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103120" y="1517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7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344168"/>
            <a:ext cx="182880" cy="1828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840480" y="100584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1E2640"/>
          </a:solidFill>
          <a:ln w="2540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2"/>
          <p:cNvSpPr/>
          <p:nvPr/>
        </p:nvSpPr>
        <p:spPr>
          <a:xfrm>
            <a:off x="3840480" y="10241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840480" y="12618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840480" y="1517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access_token</a:t>
            </a:r>
            <a:endParaRPr lang="en-US" sz="7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1344168"/>
            <a:ext cx="182880" cy="1828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5577840" y="100584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1E2640"/>
          </a:solidFill>
          <a:ln w="254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6"/>
          <p:cNvSpPr/>
          <p:nvPr/>
        </p:nvSpPr>
        <p:spPr>
          <a:xfrm>
            <a:off x="5577840" y="10241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577840" y="12618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/courses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5577840" y="1517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Authorization: Bearer ...</a:t>
            </a:r>
            <a:endParaRPr lang="en-US" sz="7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1344168"/>
            <a:ext cx="182880" cy="18288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315200" y="1005840"/>
            <a:ext cx="1508760" cy="868680"/>
          </a:xfrm>
          <a:prstGeom prst="roundRect">
            <a:avLst>
              <a:gd name="adj" fmla="val 8421"/>
            </a:avLst>
          </a:prstGeom>
          <a:solidFill>
            <a:srgbClr val="1E2640"/>
          </a:solidFill>
          <a:ln w="2540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0"/>
          <p:cNvSpPr/>
          <p:nvPr/>
        </p:nvSpPr>
        <p:spPr>
          <a:xfrm>
            <a:off x="7315200" y="10241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7315200" y="126187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Дозволено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7315200" y="1517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750" dirty="0"/>
          </a:p>
        </p:txBody>
      </p:sp>
      <p:sp>
        <p:nvSpPr>
          <p:cNvPr id="29" name="Shape 23"/>
          <p:cNvSpPr/>
          <p:nvPr/>
        </p:nvSpPr>
        <p:spPr>
          <a:xfrm>
            <a:off x="457200" y="1993392"/>
            <a:ext cx="8321040" cy="309016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Shape 24"/>
          <p:cNvSpPr/>
          <p:nvPr/>
        </p:nvSpPr>
        <p:spPr>
          <a:xfrm>
            <a:off x="457200" y="1993392"/>
            <a:ext cx="45720" cy="309016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5"/>
          <p:cNvSpPr/>
          <p:nvPr/>
        </p:nvSpPr>
        <p:spPr>
          <a:xfrm>
            <a:off x="594360" y="2103120"/>
            <a:ext cx="8092440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fastapi.security import OAuth2PasswordBearer, OAuth2PasswordRequestForm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jose import jwt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Depends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oauth2_scheme = OAuth2PasswordBearer(tokenUrl="/login")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SECRET_KEY = "super-secret"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@app.post("/login")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login(form: OAuth2PasswordRequestForm = Depends()):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form.username != "admin" or form.password != "1234":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HTTPException(401, "Невірні дані")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 = jwt.encode({"sub": form.username}, SECRET_KEY)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{"access_token": token, "token_type": "bearer"}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get_current_user(token: str = Depends(oauth2_scheme)):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payload = jwt.decode(token, SECRET_KEY, algorithms=["HS256"])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payload["sub"]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@router.post("/courses", status_code=201)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create_course(course: CourseCreate,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user=Depends(get_current_user)):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Тільки авторизовані можуть створювати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Покажіть кнопку Authorize у /docs — студенти люблять цей момент! Спершу спробуйте POST /courses без токена (401), потім залогіньтесь і повторіть (201). Відмінність відчутна.</a:t>
            </a:r>
            <a:endParaRPr lang="en-US" sz="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ПРАКТИКА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Тестування через /docs — живий Swagger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86968"/>
            <a:ext cx="8229600" cy="27432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0" cy="361188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5029200" cy="411480"/>
          </a:xfrm>
          <a:prstGeom prst="rect">
            <a:avLst/>
          </a:prstGeom>
          <a:solidFill>
            <a:srgbClr val="141822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94360" y="1024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● ●   localhost:8000/docs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508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API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4846320" cy="411480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94360" y="1965960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4360" y="19659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1AF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234440" y="1965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/courses/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4846320" cy="411480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94360" y="2468880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94360" y="24688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1AF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234440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/courses/{course_id}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926080"/>
            <a:ext cx="4846320" cy="411480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594360" y="2971800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94360" y="29718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9C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234440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/courses/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4846320" cy="411480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594360" y="3474720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594360" y="34747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1AF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234440" y="3474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/search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3931920"/>
            <a:ext cx="4846320" cy="411480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594360" y="3977640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594360" y="39776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9C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234440" y="3977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/login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0" y="1005840"/>
            <a:ext cx="3108960" cy="77724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097280"/>
            <a:ext cx="274320" cy="2743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172200" y="1078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Відкрийте /docs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806440" y="135331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генерується автоматично з вашого коду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669280" y="1892808"/>
            <a:ext cx="3108960" cy="77724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1984248"/>
            <a:ext cx="274320" cy="27432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кнопка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5806440" y="2240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Натисніть — введіть credentials → отримайте Bearer token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5669280" y="2779776"/>
            <a:ext cx="3108960" cy="77724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2871216"/>
            <a:ext cx="274320" cy="27432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172200" y="28529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out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5806440" y="312724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Розгорніть endpoint → 'Try it out' → 'Execute'</a:t>
            </a:r>
            <a:endParaRPr lang="en-US" sz="900" dirty="0"/>
          </a:p>
        </p:txBody>
      </p:sp>
      <p:sp>
        <p:nvSpPr>
          <p:cNvPr id="41" name="Shape 36"/>
          <p:cNvSpPr/>
          <p:nvPr/>
        </p:nvSpPr>
        <p:spPr>
          <a:xfrm>
            <a:off x="5669280" y="3666744"/>
            <a:ext cx="3108960" cy="777240"/>
          </a:xfrm>
          <a:prstGeom prst="rect">
            <a:avLst/>
          </a:prstGeom>
          <a:solidFill>
            <a:srgbClr val="1E2640"/>
          </a:solidFill>
          <a:ln w="12700">
            <a:solidFill>
              <a:srgbClr val="1A1F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3758184"/>
            <a:ext cx="274320" cy="274320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6172200" y="37398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відповідь</a:t>
            </a:r>
            <a:endParaRPr lang="en-US" sz="1050" dirty="0"/>
          </a:p>
        </p:txBody>
      </p:sp>
      <p:sp>
        <p:nvSpPr>
          <p:cNvPr id="44" name="Text 38"/>
          <p:cNvSpPr/>
          <p:nvPr/>
        </p:nvSpPr>
        <p:spPr>
          <a:xfrm>
            <a:off x="5806440" y="40142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code, JSON response body, curl-команда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Відкрийте /docs в браузері прямо зараз! Нехай кожен студент протестує свій endpoint. Swagger UI — це вбудований клієнт для API, і студенти мають відчути це самостійно.</a:t>
            </a:r>
            <a:endParaRPr lang="en-US" sz="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371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274320" y="1051560"/>
            <a:ext cx="8595360" cy="1188720"/>
          </a:xfrm>
          <a:prstGeom prst="rect">
            <a:avLst/>
          </a:prstGeom>
          <a:solidFill>
            <a:srgbClr val="1E2640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3"/>
          <p:cNvSpPr/>
          <p:nvPr/>
        </p:nvSpPr>
        <p:spPr>
          <a:xfrm>
            <a:off x="274320" y="1051560"/>
            <a:ext cx="566928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4"/>
          <p:cNvSpPr/>
          <p:nvPr/>
        </p:nvSpPr>
        <p:spPr>
          <a:xfrm>
            <a:off x="274320" y="1051560"/>
            <a:ext cx="56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11247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FastAPI-застосунок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60120" y="143560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Створіть один файл main.py.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Встановіть fastapi та uvicorn.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Запустіть сервер командою uvicorn main:app --reload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166360" y="1143000"/>
            <a:ext cx="347472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Shape 8"/>
          <p:cNvSpPr/>
          <p:nvPr/>
        </p:nvSpPr>
        <p:spPr>
          <a:xfrm>
            <a:off x="5166360" y="1143000"/>
            <a:ext cx="54864" cy="100584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9"/>
          <p:cNvSpPr/>
          <p:nvPr/>
        </p:nvSpPr>
        <p:spPr>
          <a:xfrm>
            <a:off x="5303520" y="1252728"/>
            <a:ext cx="3246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FastAPI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FastAPI()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ваші endpoint-и тут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74320" y="2350008"/>
            <a:ext cx="8595360" cy="1188720"/>
          </a:xfrm>
          <a:prstGeom prst="rect">
            <a:avLst/>
          </a:prstGeom>
          <a:solidFill>
            <a:srgbClr val="1E2640"/>
          </a:solidFill>
          <a:ln w="1270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1"/>
          <p:cNvSpPr/>
          <p:nvPr/>
        </p:nvSpPr>
        <p:spPr>
          <a:xfrm>
            <a:off x="274320" y="2350008"/>
            <a:ext cx="566928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2"/>
          <p:cNvSpPr/>
          <p:nvPr/>
        </p:nvSpPr>
        <p:spPr>
          <a:xfrm>
            <a:off x="274320" y="2350008"/>
            <a:ext cx="56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960120" y="2423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GET /items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60120" y="2734056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Поверніть список із 3-5 об'єктів.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об'єкт має мати хоча б id та name.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через /docs.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166360" y="2441448"/>
            <a:ext cx="347472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6"/>
          <p:cNvSpPr/>
          <p:nvPr/>
        </p:nvSpPr>
        <p:spPr>
          <a:xfrm>
            <a:off x="5166360" y="2441448"/>
            <a:ext cx="54864" cy="100584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7"/>
          <p:cNvSpPr/>
          <p:nvPr/>
        </p:nvSpPr>
        <p:spPr>
          <a:xfrm>
            <a:off x="5303520" y="2551176"/>
            <a:ext cx="3246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@app.get("/items")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get_items():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items_db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274320" y="3648456"/>
            <a:ext cx="8595360" cy="1188720"/>
          </a:xfrm>
          <a:prstGeom prst="rect">
            <a:avLst/>
          </a:prstGeom>
          <a:solidFill>
            <a:srgbClr val="1E2640"/>
          </a:solidFill>
          <a:ln w="12700">
            <a:solidFill>
              <a:srgbClr val="FFD6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19"/>
          <p:cNvSpPr/>
          <p:nvPr/>
        </p:nvSpPr>
        <p:spPr>
          <a:xfrm>
            <a:off x="274320" y="3648456"/>
            <a:ext cx="566928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FFD6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0"/>
          <p:cNvSpPr/>
          <p:nvPr/>
        </p:nvSpPr>
        <p:spPr>
          <a:xfrm>
            <a:off x="274320" y="3648456"/>
            <a:ext cx="566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60120" y="372160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GET /items/{item_id}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60120" y="403250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Поверніть один об'єкт за id.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не знайдено → HTTPException(404).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id що існує і id що не існує.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166360" y="3739896"/>
            <a:ext cx="3474720" cy="1005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24"/>
          <p:cNvSpPr/>
          <p:nvPr/>
        </p:nvSpPr>
        <p:spPr>
          <a:xfrm>
            <a:off x="5166360" y="3739896"/>
            <a:ext cx="54864" cy="1005840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5"/>
          <p:cNvSpPr/>
          <p:nvPr/>
        </p:nvSpPr>
        <p:spPr>
          <a:xfrm>
            <a:off x="5303520" y="3849624"/>
            <a:ext cx="3246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@app.get("/items/{item_id}")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get_item(item_id: int):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0E67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HTTPException(404)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74320" y="4828032"/>
            <a:ext cx="8595360" cy="182880"/>
          </a:xfrm>
          <a:prstGeom prst="rect">
            <a:avLst/>
          </a:prstGeom>
          <a:solidFill>
            <a:srgbClr val="1E2640"/>
          </a:solidFill>
          <a:ln w="12700">
            <a:solidFill>
              <a:srgbClr val="1E26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7"/>
          <p:cNvSpPr/>
          <p:nvPr/>
        </p:nvSpPr>
        <p:spPr>
          <a:xfrm>
            <a:off x="274320" y="4828032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Мінімум: main.py + 2 endpoint-и + тестування через /docs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74320" y="50749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Дайте студентам 5 хвилин щоб прочитати завдання. Нагадайте: не треба бази даних — просто список у пам'яті. Основна мета — впевнено запустити свій перший FastAPI-сервер самостійно.</a:t>
            </a:r>
            <a:endParaRPr lang="en-US" sz="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828800"/>
            <a:ext cx="5486400" cy="5486400"/>
          </a:xfrm>
          <a:prstGeom prst="ellipse">
            <a:avLst/>
          </a:prstGeom>
          <a:solidFill>
            <a:srgbClr val="003344">
              <a:alpha val="70000"/>
            </a:srgbClr>
          </a:solidFill>
          <a:ln w="12700">
            <a:solidFill>
              <a:srgbClr val="00334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вивчили сьогодні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160520" cy="749808"/>
          </a:xfrm>
          <a:prstGeom prst="rect">
            <a:avLst/>
          </a:prstGeom>
          <a:solidFill>
            <a:srgbClr val="1E264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64008" cy="749808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088136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9601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vs DRF — де і коли використовувати кожен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65760" y="1737360"/>
            <a:ext cx="4160520" cy="749808"/>
          </a:xfrm>
          <a:prstGeom prst="rect">
            <a:avLst/>
          </a:prstGeom>
          <a:solidFill>
            <a:srgbClr val="1E264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6"/>
          <p:cNvSpPr/>
          <p:nvPr/>
        </p:nvSpPr>
        <p:spPr>
          <a:xfrm>
            <a:off x="365760" y="1737360"/>
            <a:ext cx="64008" cy="749808"/>
          </a:xfrm>
          <a:prstGeom prst="rect">
            <a:avLst/>
          </a:prstGeom>
          <a:solidFill>
            <a:srgbClr val="FFD600"/>
          </a:solidFill>
          <a:ln w="12700">
            <a:solidFill>
              <a:srgbClr val="FFD6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18288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проєкту: main.py, routers/, schemas.py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65760" y="2606040"/>
            <a:ext cx="4160520" cy="749808"/>
          </a:xfrm>
          <a:prstGeom prst="rect">
            <a:avLst/>
          </a:prstGeom>
          <a:solidFill>
            <a:srgbClr val="1E264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9"/>
          <p:cNvSpPr/>
          <p:nvPr/>
        </p:nvSpPr>
        <p:spPr>
          <a:xfrm>
            <a:off x="365760" y="2606040"/>
            <a:ext cx="64008" cy="749808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26974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endpoint-и: GET /items, GET /items/{id}, POST /items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65760" y="3474720"/>
            <a:ext cx="4160520" cy="749808"/>
          </a:xfrm>
          <a:prstGeom prst="rect">
            <a:avLst/>
          </a:prstGeom>
          <a:solidFill>
            <a:srgbClr val="1E264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2"/>
          <p:cNvSpPr/>
          <p:nvPr/>
        </p:nvSpPr>
        <p:spPr>
          <a:xfrm>
            <a:off x="365760" y="3474720"/>
            <a:ext cx="64008" cy="749808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69417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566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та query параметри — різниця та застосування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800600" y="868680"/>
            <a:ext cx="4160520" cy="749808"/>
          </a:xfrm>
          <a:prstGeom prst="rect">
            <a:avLst/>
          </a:prstGeom>
          <a:solidFill>
            <a:srgbClr val="1E264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Shape 15"/>
          <p:cNvSpPr/>
          <p:nvPr/>
        </p:nvSpPr>
        <p:spPr>
          <a:xfrm>
            <a:off x="4800600" y="868680"/>
            <a:ext cx="64008" cy="7498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5192" y="1088136"/>
            <a:ext cx="292608" cy="29260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9601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Pydantic-схеми для валідації та документації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4800600" y="1737360"/>
            <a:ext cx="4160520" cy="749808"/>
          </a:xfrm>
          <a:prstGeom prst="rect">
            <a:avLst/>
          </a:prstGeom>
          <a:solidFill>
            <a:srgbClr val="1E264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Shape 18"/>
          <p:cNvSpPr/>
          <p:nvPr/>
        </p:nvSpPr>
        <p:spPr>
          <a:xfrm>
            <a:off x="4800600" y="1737360"/>
            <a:ext cx="64008" cy="749808"/>
          </a:xfrm>
          <a:prstGeom prst="rect">
            <a:avLst/>
          </a:prstGeom>
          <a:solidFill>
            <a:srgbClr val="00D2FF"/>
          </a:solidFill>
          <a:ln w="12700">
            <a:solidFill>
              <a:srgbClr val="00D2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5192" y="1956816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349240" y="18288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Depends: спільна логіка і dependency injection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4800600" y="2606040"/>
            <a:ext cx="4160520" cy="749808"/>
          </a:xfrm>
          <a:prstGeom prst="rect">
            <a:avLst/>
          </a:prstGeom>
          <a:solidFill>
            <a:srgbClr val="1E264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Shape 21"/>
          <p:cNvSpPr/>
          <p:nvPr/>
        </p:nvSpPr>
        <p:spPr>
          <a:xfrm>
            <a:off x="4800600" y="2606040"/>
            <a:ext cx="64008" cy="749808"/>
          </a:xfrm>
          <a:prstGeom prst="rect">
            <a:avLst/>
          </a:prstGeom>
          <a:solidFill>
            <a:srgbClr val="FFD600"/>
          </a:solidFill>
          <a:ln w="12700">
            <a:solidFill>
              <a:srgbClr val="FFD6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65192" y="2825496"/>
            <a:ext cx="292608" cy="29260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349240" y="26974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JWT: /login endpoint, Bearer token, Authorize у /docs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4800600" y="3474720"/>
            <a:ext cx="4160520" cy="749808"/>
          </a:xfrm>
          <a:prstGeom prst="rect">
            <a:avLst/>
          </a:prstGeom>
          <a:solidFill>
            <a:srgbClr val="1E264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Shape 24"/>
          <p:cNvSpPr/>
          <p:nvPr/>
        </p:nvSpPr>
        <p:spPr>
          <a:xfrm>
            <a:off x="4800600" y="3474720"/>
            <a:ext cx="64008" cy="7498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65192" y="3694176"/>
            <a:ext cx="292608" cy="29260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5349240" y="3566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Захищений endpoint з Depends(get_current_user)</a:t>
            </a:r>
            <a:endParaRPr lang="en-US" sz="1000" dirty="0"/>
          </a:p>
        </p:txBody>
      </p:sp>
      <p:sp>
        <p:nvSpPr>
          <p:cNvPr id="38" name="Text 28"/>
          <p:cNvSpPr/>
          <p:nvPr/>
        </p:nvSpPr>
        <p:spPr>
          <a:xfrm>
            <a:off x="274320" y="49834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0F1117"/>
                </a:solidFill>
              </a:rPr>
              <a:t>Нотатки: Пройдіться по кожному пункту коротко — 10-15 секунд на кожен. Запитайте: 'Що було найнезрозуміліше?' та 'Що сподобалось найбільше?' Дайте 2 хвилини на запитання. Нагадайте про домашнє завдання.</a:t>
            </a:r>
            <a:endParaRPr lang="en-US" sz="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2269</Words>
  <Application>Microsoft Macintosh PowerPoint</Application>
  <PresentationFormat>On-screen Show (16:9)</PresentationFormat>
  <Paragraphs>343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FastAPI — Практичний курс</dc:title>
  <dc:subject>PptxGenJS Presentation</dc:subject>
  <dc:creator>FastAPI Course</dc:creator>
  <cp:lastModifiedBy>Штефан Дмитро</cp:lastModifiedBy>
  <cp:revision>2</cp:revision>
  <dcterms:created xsi:type="dcterms:W3CDTF">2026-05-17T17:22:52Z</dcterms:created>
  <dcterms:modified xsi:type="dcterms:W3CDTF">2026-05-17T21:01:19Z</dcterms:modified>
</cp:coreProperties>
</file>