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7" r:id="rId12"/>
    <p:sldId id="265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6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71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C581-EB9D-B3ED-82D9-76987552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20F6A-918E-A73E-5132-1981A28C1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DB85C-3022-83B6-9140-63C1ED6D6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B7197-2CEF-79FB-5936-098AD3897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04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DD72-618F-D641-DAF3-4CC0D208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18082-8B0B-B2DA-0CE0-5C4DCC0C4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F8A53-3B10-1A9C-1737-8F77BD876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0903B-71A8-7D61-1E80-DBA6010B0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24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64498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 Templates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4498" y="204825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· context · теги · фільтри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017520"/>
            <a:ext cx="1920240" cy="146304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68680" y="3090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4564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шаблонів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рендеринг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80360" y="3017520"/>
            <a:ext cx="1920240" cy="1463040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971800" y="3090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34564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Змінні, теги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фільтри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3017520"/>
            <a:ext cx="1920240" cy="1463040"/>
          </a:xfrm>
          <a:prstGeom prst="rect">
            <a:avLst/>
          </a:prstGeom>
          <a:solidFill>
            <a:srgbClr val="6A3FA0"/>
          </a:solidFill>
          <a:ln w="12700">
            <a:solidFill>
              <a:srgbClr val="6A3F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74920" y="3090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34564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реальна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86600" y="3017520"/>
            <a:ext cx="1920240" cy="1463040"/>
          </a:xfrm>
          <a:prstGeom prst="rect">
            <a:avLst/>
          </a:prstGeom>
          <a:solidFill>
            <a:srgbClr val="8A3F1A"/>
          </a:solidFill>
          <a:ln w="12700">
            <a:solidFill>
              <a:srgbClr val="8A3F1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178040" y="3090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34564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 та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38328"/>
            <a:ext cx="54864" cy="502920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Що таке Django-шаблон</a:t>
            </a: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463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— це звичайний HTML-файл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спеціальними мітками Django.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2126505"/>
            <a:ext cx="54864" cy="347472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передає дані → шаблон їх вставляє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675145"/>
            <a:ext cx="45720" cy="429768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267514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представлення відокремлена від логіки застосунку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1" y="3306081"/>
            <a:ext cx="54864" cy="347472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1" y="3355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 можна успадковувати і компонувати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07030" y="1197864"/>
            <a:ext cx="3749040" cy="530352"/>
          </a:xfrm>
          <a:prstGeom prst="rect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44190" y="11704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(Python)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44390" y="1764792"/>
            <a:ext cx="54864" cy="347472"/>
          </a:xfrm>
          <a:prstGeom prst="rect">
            <a:avLst/>
          </a:prstGeom>
          <a:solidFill>
            <a:srgbClr val="7C8499"/>
          </a:solidFill>
          <a:ln w="12700">
            <a:solidFill>
              <a:srgbClr val="7C849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598670" y="201407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07030" y="2176272"/>
            <a:ext cx="3749040" cy="5577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044190" y="21762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ключ: значення 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07030" y="3182112"/>
            <a:ext cx="3749040" cy="557784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44190" y="31821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template.html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(HTML + теги)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44390" y="3776472"/>
            <a:ext cx="54864" cy="347472"/>
          </a:xfrm>
          <a:prstGeom prst="rect">
            <a:avLst/>
          </a:prstGeom>
          <a:solidFill>
            <a:srgbClr val="7C8499"/>
          </a:solidFill>
          <a:ln w="12700">
            <a:solidFill>
              <a:srgbClr val="7C849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598670" y="40416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07030" y="4187952"/>
            <a:ext cx="3749040" cy="59436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044190" y="41879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HTML-сторінка</a:t>
            </a:r>
            <a:endParaRPr lang="en-US" sz="13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544F7D5D-4606-D80D-F9CE-124413FB79B1}"/>
              </a:ext>
            </a:extLst>
          </p:cNvPr>
          <p:cNvSpPr/>
          <p:nvPr/>
        </p:nvSpPr>
        <p:spPr>
          <a:xfrm>
            <a:off x="6644390" y="2743200"/>
            <a:ext cx="54864" cy="347472"/>
          </a:xfrm>
          <a:prstGeom prst="rect">
            <a:avLst/>
          </a:prstGeom>
          <a:solidFill>
            <a:srgbClr val="7C8499"/>
          </a:solidFill>
          <a:ln w="12700">
            <a:solidFill>
              <a:srgbClr val="7C849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5AEE96F-CA50-1316-264A-1890F59D5EBE}"/>
              </a:ext>
            </a:extLst>
          </p:cNvPr>
          <p:cNvSpPr/>
          <p:nvPr/>
        </p:nvSpPr>
        <p:spPr>
          <a:xfrm>
            <a:off x="6598670" y="30083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19" cy="502920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Функція render()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05613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render() — це ярлик Django, що об'єднує завантаження шаблону і HttpResponse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572000" cy="219456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2976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django.shortcuts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home_view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(request):
    context = {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'Аліна'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}
   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render(request,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'home.html'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context)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212080" y="1463040"/>
            <a:ext cx="3474720" cy="219456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212080" y="1463040"/>
            <a:ext cx="54864" cy="2194560"/>
          </a:xfrm>
          <a:prstGeom prst="rect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39496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1856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перший аргумент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'home.html'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2496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шлях до шаблону в папці templates/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з даними для шаблону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813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папки: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32004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48640" y="417880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
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views.py
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templates/
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home.html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0" y="3813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0480" y="4069080"/>
            <a:ext cx="484632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3977640" y="417880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 = [{
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'DIRS'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[BASE_DIR /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'templates'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}]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19" cy="502920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94360" y="21795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словник даних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118641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це звичайний Python-словник. Ключі стають змінними у шаблоні.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507261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735861"/>
            <a:ext cx="4114800" cy="1952244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845589"/>
            <a:ext cx="38404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{
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'title'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'Мій блог'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'posts'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Post.objects.all(),
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'count'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request.user,
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17720" y="255882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4C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120640" y="150332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735861"/>
            <a:ext cx="3566160" cy="1952244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257800" y="1845589"/>
            <a:ext cx="3291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title }}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&lt;/h1&gt;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&lt;p&gt;Постів: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count }}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
&lt;p&gt;Привіт,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user.username }}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!&lt;/p&gt;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931920"/>
            <a:ext cx="8275320" cy="777240"/>
          </a:xfrm>
          <a:prstGeom prst="rect">
            <a:avLst/>
          </a:prstGeom>
          <a:solidFill>
            <a:srgbClr val="111520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13" name="Shape 11"/>
          <p:cNvSpPr/>
          <p:nvPr/>
        </p:nvSpPr>
        <p:spPr>
          <a:xfrm>
            <a:off x="411480" y="3931920"/>
            <a:ext cx="54864" cy="777240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у браузері: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1833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&lt;h1&gt;Мій блог&lt;/h1&gt;   &lt;p&gt;Постів: 42&lt;/p&gt;   &lt;p&gt;Привіт, admin!&lt;/p&gt;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478231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змінна }}  — подвійні фігурні дужки для виведення значень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91440" cy="502920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Теги шаблонів {% tag %}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0378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Теги управляють логікою — умовами, циклами, блоками. Оформлюються в {% %}.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7653" y="1440180"/>
            <a:ext cx="2834640" cy="3137142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47653" y="1440180"/>
            <a:ext cx="2834640" cy="411480"/>
          </a:xfrm>
          <a:prstGeom prst="rect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257381" y="14859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if %}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9093" y="1924812"/>
            <a:ext cx="2651760" cy="2542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76253" y="2034540"/>
            <a:ext cx="23774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if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user.is_authenticated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%}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&lt;p&gt;Привіт,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user }}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else %}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href='/login'&gt;Увійти&lt;/a&gt;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endif %}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19453" y="1440180"/>
            <a:ext cx="2834640" cy="3137142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119453" y="1440180"/>
            <a:ext cx="283464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229181" y="14859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%}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10893" y="1924812"/>
            <a:ext cx="2651760" cy="2542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348053" y="2034540"/>
            <a:ext cx="23774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%}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
   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post.title }}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&lt;/li&gt;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1253" y="1440180"/>
            <a:ext cx="2834640" cy="3137142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091253" y="1440180"/>
            <a:ext cx="2834640" cy="41148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200981" y="14859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url %}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2693" y="1924812"/>
            <a:ext cx="2651760" cy="2542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319853" y="2034540"/>
            <a:ext cx="23774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cs typeface="Consolas" pitchFamily="34" charset="-120"/>
              </a:rPr>
              <a:t>"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url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cs typeface="Consolas" pitchFamily="34" charset="-120"/>
              </a:rPr>
              <a:t>'post_detail' post.id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cs typeface="Consolas" pitchFamily="34" charset="-120"/>
              </a:rPr>
              <a:t>"&gt;Post&lt;/a&gt;</a:t>
            </a:r>
          </a:p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39093" y="4741164"/>
            <a:ext cx="8503920" cy="256032"/>
          </a:xfrm>
          <a:prstGeom prst="rect">
            <a:avLst/>
          </a:prstGeom>
          <a:solidFill>
            <a:srgbClr val="111520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76253" y="47685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Кожен тег, що відкривається, потребує закриваючого: {% if %} → {% endif %}  |  {% for %} → {% endfor %}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8698" cy="502920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Фільтри шаблонів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98738" y="9784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Фільтри трансформують значення змінних. Застосовуються через | (pipe).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384048"/>
          </a:xfrm>
          <a:prstGeom prst="rect">
            <a:avLst/>
          </a:prstGeom>
          <a:solidFill>
            <a:srgbClr val="12151F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 у шаблоні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Вхідне значення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8503920" cy="438912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36576" cy="438912"/>
          </a:xfrm>
          <a:prstGeom prst="rect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57200" y="1856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name|upper }}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0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uk-UA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Софія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uk-UA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СОФІЯ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249424"/>
            <a:ext cx="8503920" cy="438912"/>
          </a:xfrm>
          <a:prstGeom prst="rect">
            <a:avLst/>
          </a:prstGeom>
          <a:solidFill>
            <a:srgbClr val="12151F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15" name="Shape 13"/>
          <p:cNvSpPr/>
          <p:nvPr/>
        </p:nvSpPr>
        <p:spPr>
          <a:xfrm>
            <a:off x="320040" y="2249424"/>
            <a:ext cx="36576" cy="43891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bio|truncatewords:10 }}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"Довгий текст..."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uk-UA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Перші 10 слів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724912"/>
            <a:ext cx="8503920" cy="438912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320040" y="2724912"/>
            <a:ext cx="36576" cy="438912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5720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price|floatformat:2 }}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49.9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"49.90"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200400"/>
            <a:ext cx="8503920" cy="438912"/>
          </a:xfrm>
          <a:prstGeom prst="rect">
            <a:avLst/>
          </a:prstGeom>
          <a:solidFill>
            <a:srgbClr val="12151F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320040" y="3200400"/>
            <a:ext cx="36576" cy="43891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57200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date|date:"d.m.Y" }}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0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obj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3282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"25.04.2026"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3675888"/>
            <a:ext cx="8503920" cy="438912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320040" y="3675888"/>
            <a:ext cx="36576" cy="43891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5720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items|length }}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40480" y="3758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[1,2,3,4]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3758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4151376"/>
            <a:ext cx="8503920" cy="438912"/>
          </a:xfrm>
          <a:prstGeom prst="rect">
            <a:avLst/>
          </a:prstGeom>
          <a:solidFill>
            <a:srgbClr val="12151F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320040" y="4151376"/>
            <a:ext cx="36576" cy="438912"/>
          </a:xfrm>
          <a:prstGeom prst="rect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457200" y="4233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val|default:'—' }}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840480" y="4233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"—"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07298" y="4713732"/>
            <a:ext cx="8503920" cy="310896"/>
          </a:xfrm>
          <a:prstGeom prst="rect">
            <a:avLst/>
          </a:prstGeom>
          <a:solidFill>
            <a:srgbClr val="111520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307298" y="4713732"/>
            <a:ext cx="54864" cy="31089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490178" y="47685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Можна ланцюжком:  {{ name|lower|title }}  або  {{ items|length|add:"10" 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🛠 </a:t>
            </a:r>
            <a:r>
              <a:rPr lang="uk-UA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Практичне завдання</a:t>
            </a: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uk-UA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список</a:t>
            </a: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модулів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Завдання: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модулів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позначивши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довгі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пар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іншим кольором.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9277" y="1170080"/>
            <a:ext cx="3931920" cy="29718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163537" y="1222658"/>
            <a:ext cx="3931920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modules = [
        {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'Django: Setup'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'number_of_classes'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</a:p>
          <a:p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
        {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'Django: Templates'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'number_of_classes'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</a:p>
          <a:p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
        {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'Django: Models'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'number_of_classes'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</a:p>
          <a:p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    ]
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57383-513A-851A-8C0A-63B242A9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3310B4-3A3B-FAF7-1703-D9D7BDC8CAE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8E9F11-8B52-967C-7144-527E87DEBF0F}"/>
              </a:ext>
            </a:extLst>
          </p:cNvPr>
          <p:cNvSpPr/>
          <p:nvPr/>
        </p:nvSpPr>
        <p:spPr>
          <a:xfrm>
            <a:off x="27432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🛠 </a:t>
            </a:r>
            <a:r>
              <a:rPr lang="uk-UA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Практичне завдання</a:t>
            </a: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uk-UA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список</a:t>
            </a: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модулів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EC570B-4C40-3593-DAE4-E4C4E963C501}"/>
              </a:ext>
            </a:extLst>
          </p:cNvPr>
          <p:cNvSpPr/>
          <p:nvPr/>
        </p:nvSpPr>
        <p:spPr>
          <a:xfrm>
            <a:off x="320040" y="64008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Завдання: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модулів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позначивши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довгі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пар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uk-UA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іншим кольором.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A79A67-904D-027B-CA85-565DBBD91068}"/>
              </a:ext>
            </a:extLst>
          </p:cNvPr>
          <p:cNvSpPr/>
          <p:nvPr/>
        </p:nvSpPr>
        <p:spPr>
          <a:xfrm>
            <a:off x="32004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119D49-9004-24A8-D127-63CBF83310B3}"/>
              </a:ext>
            </a:extLst>
          </p:cNvPr>
          <p:cNvSpPr/>
          <p:nvPr/>
        </p:nvSpPr>
        <p:spPr>
          <a:xfrm>
            <a:off x="320040" y="1275588"/>
            <a:ext cx="4206240" cy="29718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5BD9A9-430B-CE86-9DFB-BED6232ED22D}"/>
              </a:ext>
            </a:extLst>
          </p:cNvPr>
          <p:cNvSpPr/>
          <p:nvPr/>
        </p:nvSpPr>
        <p:spPr>
          <a:xfrm>
            <a:off x="388620" y="1328166"/>
            <a:ext cx="3931920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modules_list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(request):
    modules = [
        {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'Django: Setup'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'number_of_classes'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</a:p>
          <a:p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
        {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'Django: Templates'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'number_of_classes'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</a:p>
          <a:p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
        {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'Django: Models'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'number_of_classes'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</a:p>
          <a:p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    ]
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render(request,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'modules.html'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{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'modules'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modules})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860E09-B218-AE41-4EA4-D6622A933278}"/>
              </a:ext>
            </a:extLst>
          </p:cNvPr>
          <p:cNvSpPr/>
          <p:nvPr/>
        </p:nvSpPr>
        <p:spPr>
          <a:xfrm>
            <a:off x="4663440" y="106299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products.html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4F3C10F-4DE3-26B6-8126-8EFD2A6A0821}"/>
              </a:ext>
            </a:extLst>
          </p:cNvPr>
          <p:cNvSpPr/>
          <p:nvPr/>
        </p:nvSpPr>
        <p:spPr>
          <a:xfrm>
            <a:off x="4663440" y="1275588"/>
            <a:ext cx="4160520" cy="29718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837F899-504F-96BE-4B68-884446E28551}"/>
              </a:ext>
            </a:extLst>
          </p:cNvPr>
          <p:cNvSpPr/>
          <p:nvPr/>
        </p:nvSpPr>
        <p:spPr>
          <a:xfrm>
            <a:off x="4800600" y="1385316"/>
            <a:ext cx="388620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%}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if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m.number_of_classes &gt; 4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%}
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style="color:blue"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endif %}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m.name }} — {{ m.number_of_classes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cs typeface="Consolas" pitchFamily="34" charset="-120"/>
              </a:rPr>
              <a:t>}} </a:t>
            </a:r>
            <a:r>
              <a:rPr lang="uk-UA" sz="1150" dirty="0">
                <a:solidFill>
                  <a:srgbClr val="44CF74"/>
                </a:solidFill>
                <a:latin typeface="Consolas" pitchFamily="34" charset="0"/>
                <a:cs typeface="Consolas" pitchFamily="34" charset="-120"/>
              </a:rPr>
              <a:t>пар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&lt;/li&gt;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740D968-61B3-F83B-8520-C58EC9A7719A}"/>
              </a:ext>
            </a:extLst>
          </p:cNvPr>
          <p:cNvSpPr/>
          <p:nvPr/>
        </p:nvSpPr>
        <p:spPr>
          <a:xfrm>
            <a:off x="320040" y="4338828"/>
            <a:ext cx="256032" cy="219456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855BB0-904D-6F69-157C-4E8AE64E21E7}"/>
              </a:ext>
            </a:extLst>
          </p:cNvPr>
          <p:cNvSpPr/>
          <p:nvPr/>
        </p:nvSpPr>
        <p:spPr>
          <a:xfrm>
            <a:off x="320040" y="435711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0BB2F66-F656-EAAD-5DF6-F8DB7E4F8152}"/>
              </a:ext>
            </a:extLst>
          </p:cNvPr>
          <p:cNvSpPr/>
          <p:nvPr/>
        </p:nvSpPr>
        <p:spPr>
          <a:xfrm>
            <a:off x="658368" y="43571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{% for %} </a:t>
            </a:r>
            <a:r>
              <a:rPr lang="uk-UA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ітерує</a:t>
            </a: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</a:t>
            </a: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modules з контексту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B339F7-8135-4260-FBD3-9ABC1F9B1480}"/>
              </a:ext>
            </a:extLst>
          </p:cNvPr>
          <p:cNvSpPr/>
          <p:nvPr/>
        </p:nvSpPr>
        <p:spPr>
          <a:xfrm>
            <a:off x="320040" y="4594860"/>
            <a:ext cx="256032" cy="219456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954FDB7-6195-D91A-C9E8-796137A1644D}"/>
              </a:ext>
            </a:extLst>
          </p:cNvPr>
          <p:cNvSpPr/>
          <p:nvPr/>
        </p:nvSpPr>
        <p:spPr>
          <a:xfrm>
            <a:off x="320040" y="461314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E7F2299-62EB-A4AF-B584-1F2AEEE8031D}"/>
              </a:ext>
            </a:extLst>
          </p:cNvPr>
          <p:cNvSpPr/>
          <p:nvPr/>
        </p:nvSpPr>
        <p:spPr>
          <a:xfrm>
            <a:off x="658368" y="46131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m.number_of_classes — звернення до ключа словника (або атрибута об'єкта)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0F84068-8992-5629-5D8D-3CC040A48396}"/>
              </a:ext>
            </a:extLst>
          </p:cNvPr>
          <p:cNvSpPr/>
          <p:nvPr/>
        </p:nvSpPr>
        <p:spPr>
          <a:xfrm>
            <a:off x="320040" y="4850892"/>
            <a:ext cx="256032" cy="219456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ECC5E36-A237-87F9-D42B-6149944B2E72}"/>
              </a:ext>
            </a:extLst>
          </p:cNvPr>
          <p:cNvSpPr/>
          <p:nvPr/>
        </p:nvSpPr>
        <p:spPr>
          <a:xfrm>
            <a:off x="320040" y="486918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8CA120A-521A-47FD-5DB0-AEAE43BC6BC3}"/>
              </a:ext>
            </a:extLst>
          </p:cNvPr>
          <p:cNvSpPr/>
          <p:nvPr/>
        </p:nvSpPr>
        <p:spPr>
          <a:xfrm>
            <a:off x="658368" y="48691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if m.number_of_classes &gt; 4 %} умова: якщо True — додаємо style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515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B060-64F4-9BE4-C1A6-BAC8DFBB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F22675-7587-902B-C372-F5B6D524E7B4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836F25-4B69-7DEF-C1D2-7955C9041CA7}"/>
              </a:ext>
            </a:extLst>
          </p:cNvPr>
          <p:cNvSpPr/>
          <p:nvPr/>
        </p:nvSpPr>
        <p:spPr>
          <a:xfrm>
            <a:off x="27432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🛠 </a:t>
            </a:r>
            <a:r>
              <a:rPr lang="uk-UA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Практичне завдання</a:t>
            </a: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фільтри й відображення дат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BB9B1C-442C-6AEE-028B-777B6975AA74}"/>
              </a:ext>
            </a:extLst>
          </p:cNvPr>
          <p:cNvSpPr/>
          <p:nvPr/>
        </p:nvSpPr>
        <p:spPr>
          <a:xfrm>
            <a:off x="320040" y="6583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Завдання: взяти дані користувача і правильно відформатувати їх у шаблоні.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1BAFF0-BAC5-C549-B30E-13DBDF3DE93A}"/>
              </a:ext>
            </a:extLst>
          </p:cNvPr>
          <p:cNvSpPr/>
          <p:nvPr/>
        </p:nvSpPr>
        <p:spPr>
          <a:xfrm>
            <a:off x="320040" y="1024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9576BB3-DF4B-F5C2-91BA-1BE59D6D31B5}"/>
              </a:ext>
            </a:extLst>
          </p:cNvPr>
          <p:cNvSpPr/>
          <p:nvPr/>
        </p:nvSpPr>
        <p:spPr>
          <a:xfrm>
            <a:off x="320040" y="1298448"/>
            <a:ext cx="4206240" cy="2798064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88B057-7D1A-DCEF-7C00-21ADDE036E94}"/>
              </a:ext>
            </a:extLst>
          </p:cNvPr>
          <p:cNvSpPr/>
          <p:nvPr/>
        </p:nvSpPr>
        <p:spPr>
          <a:xfrm>
            <a:off x="457200" y="1408176"/>
            <a:ext cx="393192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profile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(request):
    context = {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'username'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'john_doe'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'avg_score’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uk-UA" sz="11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1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.5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'joined'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datetime.now(),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'bio'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 like Python</a:t>
            </a:r>
            <a:r>
              <a:rPr lang="uk-UA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than Java'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}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render(request,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'profile.html'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context)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B649697-7EA4-5BEC-05DF-0DFBD99150C0}"/>
              </a:ext>
            </a:extLst>
          </p:cNvPr>
          <p:cNvSpPr/>
          <p:nvPr/>
        </p:nvSpPr>
        <p:spPr>
          <a:xfrm>
            <a:off x="320040" y="4262628"/>
            <a:ext cx="8503920" cy="457200"/>
          </a:xfrm>
          <a:prstGeom prst="rect">
            <a:avLst/>
          </a:prstGeom>
          <a:solidFill>
            <a:srgbClr val="111520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78AAE02-AEBA-2833-3188-F880C7612D79}"/>
              </a:ext>
            </a:extLst>
          </p:cNvPr>
          <p:cNvSpPr/>
          <p:nvPr/>
        </p:nvSpPr>
        <p:spPr>
          <a:xfrm>
            <a:off x="320040" y="4262628"/>
            <a:ext cx="54864" cy="457200"/>
          </a:xfrm>
          <a:prstGeom prst="rect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9738B38-6283-413F-142A-F91A4F767716}"/>
              </a:ext>
            </a:extLst>
          </p:cNvPr>
          <p:cNvSpPr/>
          <p:nvPr/>
        </p:nvSpPr>
        <p:spPr>
          <a:xfrm>
            <a:off x="502920" y="43357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Результат:  John_Doe  |  </a:t>
            </a:r>
            <a:r>
              <a:rPr lang="uk-UA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.50</a:t>
            </a:r>
            <a:r>
              <a:rPr lang="uk-UA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25.04.2026  |  I like Python...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91925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🛠 </a:t>
            </a:r>
            <a:r>
              <a:rPr lang="uk-UA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Практичне завдання</a:t>
            </a: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фільтри й відображення дат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Завдання: взяти дані користувача і правильно відформатувати їх у шаблоні.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06240" cy="2798064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393192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profile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(request):
    context = {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'username'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'john_doe'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'avg_score’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uk-UA" sz="11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1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.5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'joined'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datetime.now(),
       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'bio'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 like Python</a:t>
            </a:r>
            <a:r>
              <a:rPr lang="uk-UA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than Java'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}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render(request,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'profile.html'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context)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profile.html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160520" cy="2798064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00600" y="1408176"/>
            <a:ext cx="38862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username|title }}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&lt;/h2&gt;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r>
              <a:rPr lang="uk-UA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Середній Бал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avg_score|floatformat:2 }}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&lt;/p&gt;
&lt;p&gt;Дата: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joined|date:"d.m.Y" }}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
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bio|truncatewords:</a:t>
            </a:r>
            <a:r>
              <a:rPr lang="uk-UA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}}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4262628"/>
            <a:ext cx="8503920" cy="457200"/>
          </a:xfrm>
          <a:prstGeom prst="rect">
            <a:avLst/>
          </a:prstGeom>
          <a:solidFill>
            <a:srgbClr val="111520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20040" y="4262628"/>
            <a:ext cx="54864" cy="457200"/>
          </a:xfrm>
          <a:prstGeom prst="rect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02920" y="43357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Результат:  John_Doe  |  </a:t>
            </a:r>
            <a:r>
              <a:rPr lang="uk-UA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.50</a:t>
            </a:r>
            <a:r>
              <a:rPr lang="uk-UA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25.04.2026  |  I like Python...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A3FA0"/>
          </a:solidFill>
          <a:ln w="12700">
            <a:solidFill>
              <a:srgbClr val="6A3F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🏗 Побудова інформаційної сторінки об'єкта проєкту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Сторінка деталей об'єкта (книга, товар, фільм тощо) з динамічними даними.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97680" cy="141732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297680" cy="384048"/>
          </a:xfrm>
          <a:prstGeom prst="rect">
            <a:avLst/>
          </a:prstGeom>
          <a:solidFill>
            <a:srgbClr val="6A3FA0"/>
          </a:solidFill>
          <a:ln w="12700">
            <a:solidFill>
              <a:srgbClr val="6A3F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29768" y="1380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Створити view detail()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Додайте функцію у views.py, передайте об'єкт, список пов'язаних елементів, метадані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898648"/>
            <a:ext cx="4297680" cy="141732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20040" y="2898648"/>
            <a:ext cx="4297680" cy="384048"/>
          </a:xfrm>
          <a:prstGeom prst="rect">
            <a:avLst/>
          </a:prstGeom>
          <a:solidFill>
            <a:srgbClr val="6A3FA0"/>
          </a:solidFill>
          <a:ln w="12700">
            <a:solidFill>
              <a:srgbClr val="6A3F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29768" y="2953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Прописати URL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7413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Додайте шлях '/items/&lt;id&gt;/' у urls.py → path('items/&lt;int:pk&gt;/', views.detail)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4297680" cy="141732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4297680" cy="384048"/>
          </a:xfrm>
          <a:prstGeom prst="rect">
            <a:avLst/>
          </a:prstGeom>
          <a:solidFill>
            <a:srgbClr val="6A3FA0"/>
          </a:solidFill>
          <a:ln w="12700">
            <a:solidFill>
              <a:srgbClr val="6A3F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64608" y="1380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Створити detail.html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8013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Виведіть назву через {{ }}, характеристики через {% for %}, пов'язані об'єкти — картками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898648"/>
            <a:ext cx="4297680" cy="141732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754880" y="2898648"/>
            <a:ext cx="4297680" cy="384048"/>
          </a:xfrm>
          <a:prstGeom prst="rect">
            <a:avLst/>
          </a:prstGeom>
          <a:solidFill>
            <a:srgbClr val="6A3FA0"/>
          </a:solidFill>
          <a:ln w="12700">
            <a:solidFill>
              <a:srgbClr val="6A3FA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864608" y="2953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Застосувати фільтри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37413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Відформатуйте дату додавання, обріжте опис об'єкта через truncatewords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4119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Мінімальна структура detail.html: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686300"/>
            <a:ext cx="850392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11480" y="4796028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&lt;h1&gt;{{ item.title }}&lt;/h1&gt; 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%}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&lt;span&gt;{{ tag }}&lt;/span&gt;  </a:t>
            </a:r>
            <a:r>
              <a:rPr lang="en-US" sz="1150" dirty="0">
                <a:solidFill>
                  <a:srgbClr val="44C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" y="320040"/>
            <a:ext cx="54864" cy="411480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uk-UA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Підсумки</a:t>
            </a:r>
            <a:r>
              <a:rPr lang="uk-UA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заняття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32588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4864" cy="1325880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render()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передаємо request, шлях до шаблону і context-словник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206240" cy="132588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54864" cy="1325880"/>
          </a:xfrm>
          <a:prstGeom prst="rect">
            <a:avLst/>
          </a:prstGeom>
          <a:solidFill>
            <a:srgbClr val="4D9DE0"/>
          </a:solidFill>
          <a:ln w="12700">
            <a:solidFill>
              <a:srgbClr val="4D9D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93776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Context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звичайний dict Python — ключі стають змінними у {{ }}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578608"/>
            <a:ext cx="4206240" cy="132588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54864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🏷 Теги {% %}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1729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for, extends, block — управління логікою у шаблоні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578608"/>
            <a:ext cx="4206240" cy="132588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754880" y="2578608"/>
            <a:ext cx="54864" cy="132588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93776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Фільтри |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31729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upper, truncatewords, date, floatformat — трансформація даних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8503920" cy="566928"/>
          </a:xfrm>
          <a:prstGeom prst="rect">
            <a:avLst/>
          </a:prstGeom>
          <a:solidFill>
            <a:srgbClr val="111520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20040" y="4297680"/>
            <a:ext cx="54864" cy="566928"/>
          </a:xfrm>
          <a:prstGeom prst="rect">
            <a:avLst/>
          </a:prstGeom>
          <a:solidFill>
            <a:srgbClr val="44CF74"/>
          </a:solidFill>
          <a:ln w="12700">
            <a:solidFill>
              <a:srgbClr val="44CF7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02920" y="4416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C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— це не магія. Це HTML + спеціальні мітки. Весь контроль — у вас!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A3F1A"/>
          </a:solidFill>
          <a:ln w="12700">
            <a:solidFill>
              <a:srgbClr val="8A3F1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📚 Домашнє завдання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38912" y="92358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Доробіть та розширте інформаційну сторінку об'єкта вашого проєкту: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415072"/>
            <a:ext cx="8503920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20040" y="1415072"/>
            <a:ext cx="457200" cy="658368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20040" y="15796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6182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Створіть view detail(id) і передайте у context: об'єкт, список пов'язаних елементів, дату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192312"/>
            <a:ext cx="8503920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20040" y="2192312"/>
            <a:ext cx="457200" cy="658368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20040" y="23569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4071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шаблоні виведіть назву через |upper, опис через truncatewords:20, дату через |date:"d.m.Y"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969552"/>
            <a:ext cx="8503920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320040" y="2969552"/>
            <a:ext cx="457200" cy="658368"/>
          </a:xfrm>
          <a:prstGeom prst="rect">
            <a:avLst/>
          </a:prstGeom>
          <a:solidFill>
            <a:srgbClr val="2E9E55"/>
          </a:solidFill>
          <a:ln w="12700">
            <a:solidFill>
              <a:srgbClr val="2E9E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320040" y="31341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31844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Виведіть пов'язані елементи через {% for %} — якщо список порожній, покажіть "Нічого немає"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746792"/>
            <a:ext cx="8503920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320040" y="3746792"/>
            <a:ext cx="457200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320040" y="39113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" y="3977191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Бонус: Створіть base.html з {% block content %} і успадкуйте detail.html від нього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4325</TotalTime>
  <Words>1513</Words>
  <Application>Microsoft Macintosh PowerPoint</Application>
  <PresentationFormat>On-screen Show (16:9)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Templates</dc:title>
  <dc:subject>PptxGenJS Presentation</dc:subject>
  <dc:creator>PptxGenJS</dc:creator>
  <cp:lastModifiedBy>Dmytro Shtefan</cp:lastModifiedBy>
  <cp:revision>11</cp:revision>
  <dcterms:created xsi:type="dcterms:W3CDTF">2026-04-25T13:36:29Z</dcterms:created>
  <dcterms:modified xsi:type="dcterms:W3CDTF">2026-04-28T13:49:54Z</dcterms:modified>
</cp:coreProperties>
</file>