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06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50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5943600" y="457200"/>
            <a:ext cx="2926080" cy="4206240"/>
          </a:xfrm>
          <a:prstGeom prst="rect">
            <a:avLst/>
          </a:prstGeom>
          <a:solidFill>
            <a:srgbClr val="112233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6492240" y="822960"/>
            <a:ext cx="1920240" cy="19202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400800" y="914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9E0B"/>
                </a:solidFill>
              </a:rPr>
              <a:t>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46520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</a:rPr>
              <a:t>Request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711696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76872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</a:rPr>
              <a:t>Route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242048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07224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</a:rPr>
              <a:t>View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772400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37576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</a:rPr>
              <a:t>Response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8229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Request/Response,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Views та MVT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74320" y="2514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6B6D4"/>
                </a:solidFill>
              </a:rPr>
              <a:t>Як Django «розмовляє» з браузером і будує сторінки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📋 </a:t>
            </a:r>
            <a:r>
              <a:rPr lang="uk-UA" sz="2400" b="1" dirty="0">
                <a:solidFill>
                  <a:srgbClr val="FFFFFF"/>
                </a:solidFill>
              </a:rPr>
              <a:t>План Заняття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02336" y="92354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02336" y="923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8686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Запуск проєкту + типові проблеми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2344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Перевіряємо що в усіх все працює, розбираємо помилки установки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54864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837176" y="92354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837176" y="923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8686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Запит, відповідь, маршрут і навіщо фреймворк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76088" y="12344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Концептуальна база: HTTP-цикл, що робить Django і чому це зручно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130552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274320" y="2130552"/>
            <a:ext cx="54864" cy="1207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02336" y="227685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02336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2221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🛣  urls.py, function-based views, HttpRequest/Response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258775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Пишемо перші view-функції, розбираємо параметри шляху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130552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4709160" y="2130552"/>
            <a:ext cx="54864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4837176" y="2276856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837176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76088" y="2221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🐛  Bug hunt по маршрутизації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76088" y="258775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Коротка практика: знаходимо і виправляємо навмисні помилки у routes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483864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274320" y="3483864"/>
            <a:ext cx="54864" cy="1207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402336" y="3630168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02336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" y="35753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Query string, redirect, коди стану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" y="394106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request.GET, HttpResponseRedirect, status=404, типові помилки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3483864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Shape 33"/>
          <p:cNvSpPr/>
          <p:nvPr/>
        </p:nvSpPr>
        <p:spPr>
          <a:xfrm>
            <a:off x="4709160" y="3483864"/>
            <a:ext cx="54864" cy="1207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4837176" y="3630168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4837176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76088" y="35753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  MVT на живому проєкті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76088" y="394106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Показуємо де в реальному коді Model, Template, View і зв'язок з MVC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🔧 Запуск проєкту — перевірка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</a:rPr>
              <a:t>Переконуємось, що в кожного все запущено — перш ніж рухатись далі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Чекліст запуску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114800" cy="566928"/>
          </a:xfrm>
          <a:prstGeom prst="rect">
            <a:avLst/>
          </a:prstGeom>
          <a:solidFill>
            <a:srgbClr val="1E3A5F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--version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 Python 3.10+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114800" cy="566928"/>
          </a:xfrm>
          <a:prstGeom prst="rect">
            <a:avLst/>
          </a:prstGeom>
          <a:solidFill>
            <a:srgbClr val="1E3A5F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show django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304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 Version: 4.x або 5.x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70048"/>
            <a:ext cx="4114800" cy="566928"/>
          </a:xfrm>
          <a:prstGeom prst="rect">
            <a:avLst/>
          </a:prstGeom>
          <a:solidFill>
            <a:srgbClr val="1E3A5F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274320" y="2670048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11480" y="2715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django-admin startproject mysite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 папка mysite створена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28416"/>
            <a:ext cx="4114800" cy="566928"/>
          </a:xfrm>
          <a:prstGeom prst="rect">
            <a:avLst/>
          </a:prstGeom>
          <a:solidFill>
            <a:srgbClr val="1E3A5F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runserver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3621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 Serving on http://127.0.0.1:8000/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986784"/>
            <a:ext cx="4114800" cy="566928"/>
          </a:xfrm>
          <a:prstGeom prst="rect">
            <a:avLst/>
          </a:prstGeom>
          <a:solidFill>
            <a:srgbClr val="1E3A5F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274320" y="3986784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11480" y="40325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відкрити браузер :8000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 ракета Django 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🔴 Типові проблеми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1353312"/>
            <a:ext cx="4206240" cy="749808"/>
          </a:xfrm>
          <a:prstGeom prst="rect">
            <a:avLst/>
          </a:prstGeom>
          <a:solidFill>
            <a:srgbClr val="1E3A5F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4663440" y="1353312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800600" y="1389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ModuleNotFoundError: No module named 'django'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1664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Не активовано venv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→ source venv/bin/activate (або venv\Scripts\activate)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203704"/>
            <a:ext cx="4206240" cy="749808"/>
          </a:xfrm>
          <a:prstGeom prst="rect">
            <a:avLst/>
          </a:prstGeom>
          <a:solidFill>
            <a:srgbClr val="1E3A5F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4663440" y="2203704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800600" y="2240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 port is already in use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2514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Вже запущений сервер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→ python manage.py runserver 8001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054096"/>
            <a:ext cx="4206240" cy="749808"/>
          </a:xfrm>
          <a:prstGeom prst="rect">
            <a:avLst/>
          </a:prstGeom>
          <a:solidFill>
            <a:srgbClr val="1E3A5F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4663440" y="3054096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4800600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 у settings.py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Зайва кома або лапка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→ перевірити INSTALLED_APPS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904488"/>
            <a:ext cx="4206240" cy="749808"/>
          </a:xfrm>
          <a:prstGeom prst="rect">
            <a:avLst/>
          </a:prstGeom>
          <a:solidFill>
            <a:srgbClr val="1E3A5F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Shape 38"/>
          <p:cNvSpPr/>
          <p:nvPr/>
        </p:nvSpPr>
        <p:spPr>
          <a:xfrm>
            <a:off x="4663440" y="3904488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4800600" y="3941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PermissionError під Windows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4215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Запустити термінал як адміністратор,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або використати WSL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🌐 Навіщо взагалі фреймворк?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023360" cy="3858768"/>
          </a:xfrm>
          <a:prstGeom prst="rect">
            <a:avLst/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023360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😫  Без фреймворку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3840480" cy="3310128"/>
          </a:xfrm>
          <a:prstGeom prst="rect">
            <a:avLst/>
          </a:prstGeom>
          <a:solidFill>
            <a:srgbClr val="0A1628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657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socket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socket.socket()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s.bind(('', 8000))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s.listen(5)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conn, _ = s.accept()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 = conn.recv(1024).decode()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розбираємо метод, шлях...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парсимо заголовки вручну...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знаходимо потрібний файл...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читаємо, кодуємо...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формуємо HTTP response...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пишемо заголовки вручну...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"HTTP/1.1 200 OK\r\n..."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conn.sendall(resp.encode())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conn.close()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і це ще БЕЗ роутингу, БД,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сесій, форм, безпеки...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749808"/>
            <a:ext cx="4297680" cy="3858768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0" y="749808"/>
            <a:ext cx="429768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709160" y="804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😎  З Django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07008"/>
            <a:ext cx="4114800" cy="1481328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754880" y="1298448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views.py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django.http import HttpResponse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hello(request):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HttpResponse("Привіт!")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798064"/>
            <a:ext cx="4114800" cy="246888"/>
          </a:xfrm>
          <a:prstGeom prst="rect">
            <a:avLst/>
          </a:prstGeom>
          <a:solidFill>
            <a:srgbClr val="132743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00600" y="28163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🛣  Роутинг — urls.py + path()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90672"/>
            <a:ext cx="411480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00600" y="31089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🗄  ORM — Python замість 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114800" cy="246888"/>
          </a:xfrm>
          <a:prstGeom prst="rect">
            <a:avLst/>
          </a:prstGeom>
          <a:solidFill>
            <a:srgbClr val="132743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800600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📄  Шаблони — HTML + DTL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675888"/>
            <a:ext cx="411480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00600" y="3694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🔐  Авторизація — з коробки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968496"/>
            <a:ext cx="4114800" cy="246888"/>
          </a:xfrm>
          <a:prstGeom prst="rect">
            <a:avLst/>
          </a:prstGeom>
          <a:solidFill>
            <a:srgbClr val="132743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800600" y="39867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📝  Форми — валідація, csrf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4261104"/>
            <a:ext cx="411480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800600" y="42793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⚙  Admin-панель автоматично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572000"/>
            <a:ext cx="4114800" cy="201168"/>
          </a:xfrm>
          <a:prstGeom prst="rect">
            <a:avLst/>
          </a:prstGeom>
          <a:solidFill>
            <a:srgbClr val="082A0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736592" y="45811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→ Код у 20 разів коротший, а функцій у 20 разів більше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🔄 HTTP-цикл: запит → відповідь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58613" y="937260"/>
            <a:ext cx="1572768" cy="1115568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58613" y="937260"/>
            <a:ext cx="15727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158613" y="10469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8613" y="13944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Браузер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8613" y="16413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вводить URL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натискає Enter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5860" y="1385316"/>
            <a:ext cx="301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951892" y="937260"/>
            <a:ext cx="1572768" cy="1115568"/>
          </a:xfrm>
          <a:prstGeom prst="rect">
            <a:avLst/>
          </a:prstGeom>
          <a:solidFill>
            <a:srgbClr val="1E3A5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1951892" y="937260"/>
            <a:ext cx="15727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1951892" y="10469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51892" y="13944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</a:rPr>
              <a:t>DNS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51892" y="16413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перетворює домен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на IP адресу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82457" y="1348740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34972" y="928116"/>
            <a:ext cx="1572768" cy="1115568"/>
          </a:xfrm>
          <a:prstGeom prst="rect">
            <a:avLst/>
          </a:prstGeom>
          <a:solidFill>
            <a:srgbClr val="1E3A5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3734972" y="928116"/>
            <a:ext cx="15727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734972" y="10378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34972" y="13853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</a:rPr>
              <a:t>TCP/IP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34972" y="16322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встановлює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з'єднання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72219" y="1344168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538450" y="928116"/>
            <a:ext cx="1572768" cy="1115568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5538450" y="928116"/>
            <a:ext cx="15727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538450" y="10378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8450" y="13853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Django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8450" y="16322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обробляє запит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через urls.py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11218" y="133959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363733" y="928116"/>
            <a:ext cx="1572768" cy="1115568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7363733" y="928116"/>
            <a:ext cx="157276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7363733" y="10378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63733" y="13853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Response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3733" y="16322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HTML + статус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повертається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2231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📤 Що всередині REQUEST: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2542032"/>
            <a:ext cx="4023360" cy="2176272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411480" y="263347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/articles/5/ HTTP/1.1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example.com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text/html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Cookie: sessionid=abc123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Connection: keep-alive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User-Agent: Mozilla/5.0...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(тіло — лише для POST/PUT)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2231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📥 Що всередині RESPONSE: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2542032"/>
            <a:ext cx="4023360" cy="1883664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4983480" y="263347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text/html; charset=utf-8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Content-Length: 3421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Set-Cookie: sessionid=abc123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&lt;h1&gt;Стаття #5&lt;/h1&gt;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83480" y="456567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Найважливіші коди: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4565670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6492240" y="456567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200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903720" y="4565670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/>
          <p:nvPr/>
        </p:nvSpPr>
        <p:spPr>
          <a:xfrm>
            <a:off x="6903720" y="456567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301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315200" y="4565670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7315200" y="456567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400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726680" y="4565670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/>
          <p:nvPr/>
        </p:nvSpPr>
        <p:spPr>
          <a:xfrm>
            <a:off x="7726680" y="456567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404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138160" y="4565670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Text 47"/>
          <p:cNvSpPr/>
          <p:nvPr/>
        </p:nvSpPr>
        <p:spPr>
          <a:xfrm>
            <a:off x="8138160" y="456567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500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Text 4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🛣 urls.py — маршрутизація запитів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</a:rPr>
              <a:t>Django читає urlpatterns зверху вниз і зупиняється на першому збігу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📁 mysite/urls.py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43584"/>
            <a:ext cx="4206240" cy="3456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" y="1335024"/>
            <a:ext cx="39502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django.urls import path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 import views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статичні маршрути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path('', views.index),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path('about/', views.about),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з параметрами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path('articles/&lt;int:pk&gt;/',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views.article_detail),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path('users/&lt;str:username&gt;/',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views.user_profile),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необов'язкові через include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path('blog/',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include('blog.urls')),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⚙ Конвертери шляху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43584"/>
            <a:ext cx="4114800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92040" y="1280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&lt;int:pk&gt;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536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ціле число — 1, 42, 1000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280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/articles/5/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865376"/>
            <a:ext cx="4114800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92040" y="1901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&lt;str:slug&gt;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157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рядок без / — слово, фраза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1901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/posts/hello-world/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87168"/>
            <a:ext cx="4114800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892040" y="2523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&lt;slug:s&gt;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7797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букви, цифри, дефіс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523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/tags/python-3/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4114800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892040" y="3145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&lt;uuid:id&gt;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UUID формат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145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/obj/550e8400-.../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30752"/>
            <a:ext cx="4114800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89204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&lt;path:p&gt;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рядок із 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/files/img/photo.png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361519"/>
            <a:ext cx="4389120" cy="443653"/>
          </a:xfrm>
          <a:prstGeom prst="rect">
            <a:avLst/>
          </a:prstGeom>
          <a:solidFill>
            <a:srgbClr val="1A2A1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00601" y="4398095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include('blog.urls')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1174" y="4558284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Виносить маршрути застосунку в окремий файл </a:t>
            </a:r>
            <a:r>
              <a:rPr lang="uk-UA" sz="1000" dirty="0">
                <a:solidFill>
                  <a:srgbClr val="E2E8F0"/>
                </a:solidFill>
              </a:rPr>
              <a:t>-</a:t>
            </a:r>
            <a:r>
              <a:rPr lang="en-US" sz="1000" dirty="0">
                <a:solidFill>
                  <a:srgbClr val="E2E8F0"/>
                </a:solidFill>
              </a:rPr>
              <a:t> так кожен app самодостатній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👁 Function-based views — пишемо перший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📥 Об'єкт HttpRequest (request)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11480" y="1042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request.method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1042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'GET', 'POST', 'PUT'...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4206240" cy="438912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request.path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'/articles/5/'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42062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11480" y="20665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request.GET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QueryDict — параметри з URL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206240" cy="438912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11480" y="2578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request.POST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0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QueryDict — дані форми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54096"/>
            <a:ext cx="42062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11480" y="3090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request.user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0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поточний користувач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438912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11480" y="36027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request.COOKIES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0" y="3602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словник cookies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078224"/>
            <a:ext cx="42062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11480" y="4114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request.META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032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заголовки, IP тощо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713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📄 Приклади view-функцій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1005840"/>
            <a:ext cx="420624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773168" y="1078992"/>
            <a:ext cx="3986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django.http import HttpResponse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index(request):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 = "&lt;h1&gt;Головна сторінка&lt;/h1&gt;"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HttpResponse(html)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about(request):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"&lt;p&gt;Про нас&lt;/p&gt;",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content_type="text/html"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898648"/>
            <a:ext cx="42062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773168" y="296265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з параметром шляху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182112"/>
            <a:ext cx="3986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article_detail(request, pk):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pk прийшов з URL: /articles/5/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 = f"""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&lt;h1&gt;Стаття #{'{pk}'}&lt;/h1&gt;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&lt;p&gt;ID = {'{pk}'}, тип = {'{type(pk)}'}&lt;/p&gt;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HttpResponse(html)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🐛 Bug Hunt — знаходимо помилки у маршрутизації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</a:rPr>
              <a:t>Кожен з цих фрагментів містить помилку. Знайдіть </a:t>
            </a:r>
            <a:r>
              <a:rPr lang="en-US" sz="1200" dirty="0" err="1">
                <a:solidFill>
                  <a:srgbClr val="F59E0B"/>
                </a:solidFill>
              </a:rPr>
              <a:t>і</a:t>
            </a:r>
            <a:r>
              <a:rPr lang="en-US" sz="1200" dirty="0">
                <a:solidFill>
                  <a:srgbClr val="F59E0B"/>
                </a:solidFill>
              </a:rPr>
              <a:t> виправте.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664208"/>
          </a:xfrm>
          <a:prstGeom prst="rect">
            <a:avLst/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06240" cy="32004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Bug #1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402336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path('articles/&lt;pk&gt;/',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views.article_detail),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/articles/5/ → pk буде рядком "5"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4023360" cy="347472"/>
          </a:xfrm>
          <a:prstGeom prst="rect">
            <a:avLst/>
          </a:prstGeom>
          <a:solidFill>
            <a:srgbClr val="082A12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38912" y="224942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</a:rPr>
              <a:t>✅ Виправлення: &lt;int:pk&gt; — щоб pk прийшов як число, а не рядок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987552"/>
            <a:ext cx="4206240" cy="1664208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709160" y="987552"/>
            <a:ext cx="4206240" cy="32004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18888" y="1033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Bug #2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1353312"/>
            <a:ext cx="402336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892040" y="141732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path('blog/', views.blog),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path('blog/post/', views.post),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/blog/post/ ніколи не спрацює!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212848"/>
            <a:ext cx="4023360" cy="347472"/>
          </a:xfrm>
          <a:prstGeom prst="rect">
            <a:avLst/>
          </a:prstGeom>
          <a:solidFill>
            <a:srgbClr val="082A12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873752" y="224942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</a:rPr>
              <a:t>✅ Виправлення: конкретніші маршрути ставити ВИЩЕ загальних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816352"/>
            <a:ext cx="4206240" cy="1664208"/>
          </a:xfrm>
          <a:prstGeom prst="rect">
            <a:avLst/>
          </a:prstGeom>
          <a:solidFill>
            <a:srgbClr val="1E3A5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274320" y="2816352"/>
            <a:ext cx="4206240" cy="320040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84048" y="2862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Bug #3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182112"/>
            <a:ext cx="402336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urls.py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path('about', views.about)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але перехід на /about/ → 404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41648"/>
            <a:ext cx="4023360" cy="347472"/>
          </a:xfrm>
          <a:prstGeom prst="rect">
            <a:avLst/>
          </a:prstGeom>
          <a:solidFill>
            <a:srgbClr val="082A12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38912" y="407822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</a:rPr>
              <a:t>✅ Виправлення: path('about/', ...) — слеш в кінці обов'язковий (APPEND_SLASH)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816352"/>
            <a:ext cx="4206240" cy="1664208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709160" y="2816352"/>
            <a:ext cx="4206240" cy="320040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818888" y="2862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Bug #4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182112"/>
            <a:ext cx="402336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92040" y="324612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contact(request):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 = "&lt;h1&gt;Контакти&lt;/h1&gt;"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забули return!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HttpResponse(html)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4041648"/>
            <a:ext cx="4023360" cy="347472"/>
          </a:xfrm>
          <a:prstGeom prst="rect">
            <a:avLst/>
          </a:prstGeom>
          <a:solidFill>
            <a:srgbClr val="082A12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873752" y="407822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</a:rPr>
              <a:t>✅ Виправлення: return HttpResponse(html) — без return Django поверне None і впаде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🔗 Query string — параметри в URL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521208"/>
          </a:xfrm>
          <a:prstGeom prst="rect">
            <a:avLst/>
          </a:prstGeom>
          <a:solidFill>
            <a:srgbClr val="132743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/articles/?search=django&amp;page=2&amp;sort=date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271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</a:rPr>
              <a:t>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53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91B2"/>
                </a:solidFill>
              </a:rPr>
              <a:t>шлях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1271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1453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?  початок параметрів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38506" y="12801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</a:rPr>
              <a:t>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1693" y="1444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</a:rPr>
              <a:t>ключ=значення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18293" y="12938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4676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&amp;  роздільник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📥 Як зчитати у view: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4206240" cy="2578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11480" y="2203704"/>
            <a:ext cx="395020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article_list(request):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request.GET — це QueryDict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search = request.GET.get(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'search', ''   # '' — дефолт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 = request.GET.get('page',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 = request.GET.get('sort', 'date')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для дебагу: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print(request.GET)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&lt;QueryDict: {'search': ['django'],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           'page': ['2']}&gt;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f"Пошук: {search}, стор: {page}"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💡 Коли використовують query string?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130552"/>
            <a:ext cx="4114800" cy="429768"/>
          </a:xfrm>
          <a:prstGeom prst="rect">
            <a:avLst/>
          </a:prstGeom>
          <a:solidFill>
            <a:srgbClr val="1E3A5F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892040" y="21671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Пошук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1671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?q=python+django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624328"/>
            <a:ext cx="4114800" cy="429768"/>
          </a:xfrm>
          <a:prstGeom prst="rect">
            <a:avLst/>
          </a:prstGeom>
          <a:solidFill>
            <a:srgbClr val="1E3A5F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892040" y="26609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 Пагінація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6609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?page=3&amp;per_page=20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18104"/>
            <a:ext cx="4114800" cy="429768"/>
          </a:xfrm>
          <a:prstGeom prst="rect">
            <a:avLst/>
          </a:prstGeom>
          <a:solidFill>
            <a:srgbClr val="1E3A5F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892040" y="3154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🔀  Сортування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3154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?sort=date&amp;order=desc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4114800" cy="429768"/>
          </a:xfrm>
          <a:prstGeom prst="rect">
            <a:avLst/>
          </a:prstGeom>
          <a:solidFill>
            <a:srgbClr val="1E3A5F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892040" y="36484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🏷  Фільтрація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6484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?category=backend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4105656"/>
            <a:ext cx="4114800" cy="429768"/>
          </a:xfrm>
          <a:prstGeom prst="rect">
            <a:avLst/>
          </a:prstGeom>
          <a:solidFill>
            <a:srgbClr val="1E3A5F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892040" y="4142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Аналітика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4142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?utm_source=email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599432"/>
            <a:ext cx="4114800" cy="228600"/>
          </a:xfrm>
          <a:prstGeom prst="rect">
            <a:avLst/>
          </a:prstGeom>
          <a:solidFill>
            <a:srgbClr val="1A1A2A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4846320" y="4617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</a:rPr>
              <a:t>⚠️  request.GET['key'] — падає якщо ключа нема. Завжди .get('key', default)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↩ Переадресація та коди стану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🔀 Redirect — переадресація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2743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395020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django.http import 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HttpResponseRedirect,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HttpResponsePermanentRedirect,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django.shortcuts import redirect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old_page(request):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302 — тимчасовий redirect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HttpResponseRedirect('/new/')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old_page_v2(request):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301 — постійний redirect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HttpResponsePermanentRedirect(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'/new/'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shortcut(request):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зручний скорочений варіант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redirect('/articles/')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або по name: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redirect('article-list')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0" y="713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🔢 Коди стану HTTP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846320" y="10698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46320" y="1069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22392" y="1078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0" y="10789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Запит успішний, є тіло відповіді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4114800" cy="402336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846320" y="15270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46320" y="1527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22392" y="15361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Created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0" y="1536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Ресурс створено (POST)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92024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846320" y="19842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846320" y="1984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22392" y="1993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Moved Permanently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40880" y="1993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Постійний redirect (SEO)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4114800" cy="402336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4846320" y="24414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846320" y="24414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22392" y="24505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Found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0" y="24505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Тимчасовий redirect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4846320" y="28986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46320" y="28986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22392" y="29077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Bad Request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40880" y="29077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Некоректний запит від клієнта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291840"/>
            <a:ext cx="4114800" cy="402336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4846320" y="33558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4846320" y="3355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22392" y="3364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Forbidden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40880" y="33649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Немає прав доступу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74904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4846320" y="38130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4846320" y="3813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22392" y="38221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Not Found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040880" y="3822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Ресурс не знайдено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4206240"/>
            <a:ext cx="4114800" cy="402336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Shape 42"/>
          <p:cNvSpPr/>
          <p:nvPr/>
        </p:nvSpPr>
        <p:spPr>
          <a:xfrm>
            <a:off x="4846320" y="42702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4846320" y="4270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22392" y="4279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Server Error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040880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Помилка на стороні сервера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845052"/>
            <a:ext cx="4189796" cy="905256"/>
          </a:xfrm>
          <a:prstGeom prst="rect">
            <a:avLst/>
          </a:prstGeom>
          <a:solidFill>
            <a:srgbClr val="13274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Text 47"/>
          <p:cNvSpPr/>
          <p:nvPr/>
        </p:nvSpPr>
        <p:spPr>
          <a:xfrm>
            <a:off x="457200" y="3963924"/>
            <a:ext cx="1560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Як задати статус у Django view: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4183380"/>
            <a:ext cx="401150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HttpResponse("Не знайдено", status=404)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HttpResponse("Помилка", status=500)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Http404("Стаття не існує")  # автоматично 404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2" name="Text 5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🏗 MVT — де що знаходиться у реальному проєкті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📁 Структура Django-проєкту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703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mysite/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2953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manage.py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8008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mysite/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30629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settings.py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8117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urls.py  ← роутинг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blog/  ← застосунок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58226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models.py  ←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832811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views.py   ← 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083357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urls.py    ← роутинг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33390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admin.py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584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templates/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83499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blog/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085539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list.html  ← Template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336085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detail.html ← Template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713232"/>
            <a:ext cx="1828800" cy="3995928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246120" y="713232"/>
            <a:ext cx="18288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3319272" y="74980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M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49040" y="768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Model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10058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≈ MVC Model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1280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models.py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1536192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Описує структуру даних і таблиці БД через Python-класи. ORM генерує SQL самостійно.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19272" y="2359152"/>
            <a:ext cx="1700784" cy="2240280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3374136" y="2432304"/>
            <a:ext cx="1591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Post(models.Model):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CharField(max_length=200)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= TextField()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 = DateTimeField(auto_now_add=True)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12080" y="713232"/>
            <a:ext cx="1828800" cy="3995928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5212080" y="713232"/>
            <a:ext cx="18288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285232" y="74980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V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715000" y="768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View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15000" y="10058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≈ MVC Controller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1280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views.py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0" y="1536192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Бізнес-логіка: читає запит, запитує БД через Model, формує context і передає в Template.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85232" y="2359152"/>
            <a:ext cx="1700784" cy="2240280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5340096" y="2432304"/>
            <a:ext cx="1591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post_list(request):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posts = Post.objects.all()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render(request,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'blog/list.html', {'posts': posts})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178040" y="713232"/>
            <a:ext cx="1828800" cy="3995928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7178040" y="713232"/>
            <a:ext cx="18288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7251192" y="74980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T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680960" y="768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Template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680960" y="10058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≈ MVC View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69480" y="1280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templates/blog/list.html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69480" y="1536192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HTML + Django Template Language. Отримує context від View і рендерить фінальний HTML.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51192" y="2359152"/>
            <a:ext cx="1700784" cy="2240280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Text 44"/>
          <p:cNvSpPr/>
          <p:nvPr/>
        </p:nvSpPr>
        <p:spPr>
          <a:xfrm>
            <a:off x="7306056" y="2432304"/>
            <a:ext cx="1591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post in posts %}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&lt;h2&gt;{{ post.title }}&lt;/h2&gt;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&lt;p&gt;{{ post.body|truncatewords:20 }}&lt;/p&gt;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endfor %}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4654296"/>
            <a:ext cx="8595360" cy="182880"/>
          </a:xfrm>
          <a:prstGeom prst="rect">
            <a:avLst/>
          </a:prstGeom>
          <a:solidFill>
            <a:srgbClr val="1A1A3A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8" name="Text 46"/>
          <p:cNvSpPr/>
          <p:nvPr/>
        </p:nvSpPr>
        <p:spPr>
          <a:xfrm>
            <a:off x="411480" y="467258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5CF6"/>
                </a:solidFill>
              </a:rPr>
              <a:t>MVC → Controller = Django View  |  MVC View = Django Template  |  Model = Model (однаково)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0" name="Text 48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✅</a:t>
            </a:r>
            <a:r>
              <a:rPr lang="uk-UA" sz="2600" b="1" dirty="0">
                <a:solidFill>
                  <a:srgbClr val="FFFFFF"/>
                </a:solidFill>
              </a:rPr>
              <a:t> Підсумок заняття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82396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882396"/>
            <a:ext cx="54864" cy="4663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02336" y="964692"/>
            <a:ext cx="283464" cy="283464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02336" y="96469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973836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49808" y="9738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Запуск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74520" y="9738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Активний venv, installed Django, runserver на :8000 — мінімальний чекліст перед роботою.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421892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274320" y="1421892"/>
            <a:ext cx="54864" cy="466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02336" y="1504188"/>
            <a:ext cx="283464" cy="283464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02336" y="15041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151333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749808" y="15133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HTTP-цикл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74520" y="15133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Browser → DNS → TCP → Django → Response. Запит = метод + URL + заголовки + тіло.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961388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274320" y="1961388"/>
            <a:ext cx="54864" cy="4663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02336" y="2043684"/>
            <a:ext cx="283464" cy="283464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02336" y="204368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🛣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205282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49808" y="20528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Routing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74520" y="20528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urls.py + path() + &lt;int:pk&gt; конвертери. Django йде по urlpatterns зверху вниз.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500884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274320" y="2500884"/>
            <a:ext cx="54864" cy="4663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02336" y="2583180"/>
            <a:ext cx="283464" cy="283464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02336" y="2583180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259232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749808" y="25923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Views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874520" y="25923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request (HttpRequest) → логіка → return HttpResponse. Параметри шляху = аргументи функції.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040380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274320" y="3040380"/>
            <a:ext cx="54864" cy="4663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402336" y="3122676"/>
            <a:ext cx="283464" cy="283464"/>
          </a:xfrm>
          <a:prstGeom prst="ellipse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402336" y="312267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808" y="313182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749808" y="31318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Query string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874520" y="31318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request.GET.get('key', default) — завжди з дефолтом, щоб не падав при відсутності.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3579876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Shape 38"/>
          <p:cNvSpPr/>
          <p:nvPr/>
        </p:nvSpPr>
        <p:spPr>
          <a:xfrm>
            <a:off x="274320" y="3579876"/>
            <a:ext cx="54864" cy="466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Shape 39"/>
          <p:cNvSpPr/>
          <p:nvPr/>
        </p:nvSpPr>
        <p:spPr>
          <a:xfrm>
            <a:off x="402336" y="3662172"/>
            <a:ext cx="283464" cy="283464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Text 40"/>
          <p:cNvSpPr/>
          <p:nvPr/>
        </p:nvSpPr>
        <p:spPr>
          <a:xfrm>
            <a:off x="402336" y="36621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↩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49808" y="3671316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749808" y="36713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Redirect &amp; Status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874520" y="36713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redirect('/url/') або HttpResponseRedirect. status=404, raise Http404.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119372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Shape 45"/>
          <p:cNvSpPr/>
          <p:nvPr/>
        </p:nvSpPr>
        <p:spPr>
          <a:xfrm>
            <a:off x="274320" y="4119372"/>
            <a:ext cx="54864" cy="4663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8" name="Shape 46"/>
          <p:cNvSpPr/>
          <p:nvPr/>
        </p:nvSpPr>
        <p:spPr>
          <a:xfrm>
            <a:off x="402336" y="4201668"/>
            <a:ext cx="283464" cy="283464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Text 47"/>
          <p:cNvSpPr/>
          <p:nvPr/>
        </p:nvSpPr>
        <p:spPr>
          <a:xfrm>
            <a:off x="402336" y="420166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49808" y="421081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Text 49"/>
          <p:cNvSpPr/>
          <p:nvPr/>
        </p:nvSpPr>
        <p:spPr>
          <a:xfrm>
            <a:off x="749808" y="42108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MVT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874520" y="42108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Model (models.py) + View (views.py) + Template (templates/). View = Controller у MVC.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7" name="Text 55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Наступне заняття: Django Templates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2200</Words>
  <Application>Microsoft Macintosh PowerPoint</Application>
  <PresentationFormat>On-screen Show (16:9)</PresentationFormat>
  <Paragraphs>428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HTTP, Routing, Views та MVT у Django</dc:title>
  <dc:subject>PptxGenJS Presentation</dc:subject>
  <dc:creator>Dmytro</dc:creator>
  <cp:lastModifiedBy>Dmytro Shtefan</cp:lastModifiedBy>
  <cp:revision>2</cp:revision>
  <dcterms:created xsi:type="dcterms:W3CDTF">2026-04-23T06:16:36Z</dcterms:created>
  <dcterms:modified xsi:type="dcterms:W3CDTF">2026-04-23T06:45:36Z</dcterms:modified>
</cp:coreProperties>
</file>