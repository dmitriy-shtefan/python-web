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2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138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 — ТИТУЛЬНИЙ (1-2 хв)
Привітайте студентів. Скажіть: 'Сьогодні ми зробимо перший крок у веб-розробці з Django — встановимо фреймворк, створимо проєкт і застосунок, і побачимо результат у браузері. Наприкінці уроку у кожного буде працюючий Django-сайт на своєму комп'ютері.'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 — ПЛАН УРОКУ (1 хв)
Покажіть студентам план і скажіть: 'Ось що ми зробимо за 40 хвилин. Більшість часу — практика, не теорія. Відкривайте термінал, бо будемо працювати разом.'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 — ЩО ТАКЕ DJANGO (3 хв)
Скажіть студентам: 'Django — це не просто бібліотека. Це цілий фреймворк, тобто готова структура для побудови сайтів. Уявіть IKEA: ви не рубаєте дерево — ви збираєте з готових частин. Так само Django дає вам готові блоки.'
Запитайте: 'Хто чув про Instagram? Він побудований на Django!'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 — ВСТАНОВЛЕННЯ (8 хв)
Робіть разом зі студентами! Кажіть: 'Відкрийте термінал. Всі за мною.'
1. Покажіть python --version — переконайтесь що у всіх є Python
2. Поясніть аналогію акваріума для venv
3. Переходьте крок за кроком, чекайте поки всі виконають
4. Після активації — покажіть що (venv) з'явився в терміналі
5. pip install django може зайняти хвилину — скажіть студентам що це нормально
Часто помилки: забули активувати venv, Python не встановлений. Перевіряйте у кожного.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 — ПЕРШИЙ ПРОЄКТ (8 хв)
Скажіть: 'Спершу створіть папку для проєкту і перейдіть в неї: mkdir </a:t>
            </a:r>
            <a:r>
              <a:rPr lang="en-US" dirty="0" err="1"/>
              <a:t>django_lesson</a:t>
            </a:r>
            <a:r>
              <a:rPr lang="en-US" dirty="0"/>
              <a:t> &amp;&amp; cd </a:t>
            </a:r>
            <a:r>
              <a:rPr lang="en-US" dirty="0" err="1"/>
              <a:t>django_lesson</a:t>
            </a:r>
            <a:r>
              <a:rPr lang="en-US" dirty="0"/>
              <a:t>'
Потім запустіть команду startproject.
ОСОБЛИВО підкресліть крапку в кінці — без неї Django створить зайву вкладену папку.
Після команди — відкрийте структуру у файловому менеджері і разом пройдіть по кожному файлу. Запитайте студентів: 'Як думаєте, що робить settings.py?'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 — ПЕРШИЙ ЗАПУСК (5 хв)
Цей момент важливий емоційно! Скажіть: 'Запустіть сервер і відкрийте браузер. Зараз ви побачите свій перший Django-сайт!'
Коли студенти бачать ракету — це WOW-момент. Зупиніться і відсвяткуйте.
Поясніть: сервер розробки — тільки для роботи на своєму комп'ютері, не для інтернету.
Питання студентів: 'Чому 8000?' — це просто стандартний порт для розробки.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 — MTV (3 хв)
Не заглиблюйтесь надто! Скажіть: 'Зараз просто розумійте: запит від браузера → Django перевіряє urls.py → викликає потрібну функцію у views.py → повертає відповідь.'
Аналогія з диспетчером таксі добре працює. Деталі — на наступних уроках.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 — ПЕРШИЙ ЗАСТОСУНОК (5 хв)
Скажіть: 'В Django проєкт може мати багато застосунків. Наприклад: blog, shop, users — кожен у своїй папці. Сьогодні зробимо один — pages.'
Запустіть команду разом. Потім ОБОВ'ЯЗКОВО покажіть як реєструвати app у settings.py — це часта помилка новачків (застосунок є але не зареєстрований).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9 — VIEW І URL (7 хв)
Це ключовий момент уроку! Поясніть покроково:
1. 'Відкрийте pages/views.py і напишіть функцію home'
2. Покажіть: request = все що браузер надсилає, HttpResponse = те що ми повертаємо
3. Потім відкрийте mysite/urls.py — тут ми кажемо Django: коли хтось заходить на '/' — виклич views.home
4. Запустіть runserver і відкрийте браузер — має з'явитися 'Привіт, Django!'
Цей момент важливий — студенти вперше бачать свій код у браузері!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10 — ПРАКТИКА (5 хв)
Дайте студентам 3-4 хвилини поробити самостійно. Ходіть по аудиторії і допомагайте.
Типові помилки:
- Забули додати views.about у urls.py
- Опечатка у 'about/' (без слешу в кінці)
- Не зберегли файл
Запитайте: 'У кого працює? Покажіть сусіду!'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11 — КОМАНДИ (2 хв)
Цей слайд — шпаргалка. Скажіть: 'Збережіть або сфотографуйте — будете користуватись постійно.'
Поясніть що migrate і makemigrations — для наступних уроків, коли будемо розбирати моделі та БД.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12 — ПІДСУМОК (2 хв)
Пройдіться по списку разом зі студентами. Запитайте: 'Що було найскладнішим?' і 'Що вас здивувало?'
Скажіть: 'Сьогодні ви зробили найважливіше — подолали бар'єр першого запуску. Далі буде легше!'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923"/>
                </a:solidFill>
              </a:rPr>
              <a:t>🐍 Python / Django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Django: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нуля до першого проєкту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65760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Встановлення · Перший проєкт · Перший застосунок · Перевірка роботи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9144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Що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зробимо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сьогодні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108960" y="45720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310896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03320" y="411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Що таке Django?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3320" y="685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Коротко про фреймворк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48463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0D9488">
              <a:alpha val="8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8046720" y="484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3 хв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207008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310896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1161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Встановлення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1435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pip + venv + перевірка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23444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0D9488">
              <a:alpha val="8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8046720" y="1234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8 хв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1956816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310896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03320" y="19110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Перший проєкт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03320" y="21854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django-admin startproject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198424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0D9488">
              <a:alpha val="8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8046720" y="1984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8 хв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0" y="2706624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310896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03320" y="26609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Перший застосунок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03320" y="29352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startapp + views + urls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2734056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0D9488">
              <a:alpha val="8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8046720" y="27340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12 хв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08960" y="3456432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310896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03320" y="34107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Результат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03320" y="3685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Запуск і перевірка в браузері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46720" y="3483864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0D9488">
              <a:alpha val="8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8046720" y="34838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7 хв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08960" y="420624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3108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03320" y="4160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Підсумок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703320" y="4434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Що вивчили, що далі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046720" y="423367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0D9488">
              <a:alpha val="8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8046720" y="4233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 хв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таке Django?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3474720"/>
          </a:xfrm>
          <a:prstGeom prst="rect">
            <a:avLst/>
          </a:prstGeom>
          <a:solidFill>
            <a:srgbClr val="0F192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4864" cy="34747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Django — це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веб-фреймворк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для Python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✔ </a:t>
            </a:r>
            <a:r>
              <a:rPr lang="en-US" sz="1300" dirty="0">
                <a:solidFill>
                  <a:srgbClr val="94A3B8"/>
                </a:solidFill>
              </a:rPr>
              <a:t>Безпека з коробки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✔ </a:t>
            </a:r>
            <a:r>
              <a:rPr lang="en-US" sz="1300" dirty="0">
                <a:solidFill>
                  <a:srgbClr val="94A3B8"/>
                </a:solidFill>
              </a:rPr>
              <a:t>Адмін-панель без коду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✔ </a:t>
            </a:r>
            <a:r>
              <a:rPr lang="en-US" sz="1300" dirty="0">
                <a:solidFill>
                  <a:srgbClr val="94A3B8"/>
                </a:solidFill>
              </a:rPr>
              <a:t>ORM для роботи з БД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✔ </a:t>
            </a:r>
            <a:r>
              <a:rPr lang="en-US" sz="1300" dirty="0">
                <a:solidFill>
                  <a:srgbClr val="94A3B8"/>
                </a:solidFill>
              </a:rPr>
              <a:t>Шаблонізатор HTML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✔ </a:t>
            </a:r>
            <a:r>
              <a:rPr lang="en-US" sz="1300" dirty="0">
                <a:solidFill>
                  <a:srgbClr val="94A3B8"/>
                </a:solidFill>
              </a:rPr>
              <a:t>Система URL-маршрутів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54864" cy="347472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</a:rPr>
              <a:t>💡 Аналогія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</a:rPr>
              <a:t>Django — як IKEA для веб-сайтів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IKEA дає вам всі деталі, інструкцію та кріплення — і ви збираєте меблі швидко.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Django дає вам всі "деталі" для сайту: авторизацію, адмінку, базу даних — і ви збираєте сайт швидко.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Без Django — це як пилити дерево з нуля.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</a:rPr>
              <a:t>Використовують: Instagram · Pinterest · Disqus · Mozilla · National Geographic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923"/>
                </a:solidFill>
              </a:rPr>
              <a:t>КРОК 1 — Підготовка середовища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Чому virtual environment?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Уявіть: у вас два проєкти — один потребує Django 4.2, інший — Django 5.0.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Без venv вони конфліктують. З venv — кожен живе у своєму 'акваріумі' 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214884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2148840" cy="34747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38912" y="21488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1. 1. Перевірити 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або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python3 --version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06040" y="2148840"/>
            <a:ext cx="214884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2606040" y="2148840"/>
            <a:ext cx="2148840" cy="34747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2679192" y="21488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2. 2. Створити venv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25603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2148840"/>
            <a:ext cx="214884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846320" y="2148840"/>
            <a:ext cx="2148840" cy="34747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919472" y="21488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3. 3. Активувати venv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5603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venv\Scripts\activate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 / Linux: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86600" y="2148840"/>
            <a:ext cx="214884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7086600" y="2148840"/>
            <a:ext cx="2148840" cy="34747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7159752" y="21488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 4. Встановити Django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8040" y="25603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django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Перевірити: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django-admin --version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FBBF24">
              <a:alpha val="8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923"/>
                </a:solidFill>
              </a:rPr>
              <a:t>💡 Підказка: (venv) у терміналі означає, що середовище активне — тепер всі пакети встановлюються тільки в нього!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КРОК 2 — Перший проєкт Django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django-admin startproject edu_platform 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F4444"/>
                </a:solidFill>
              </a:rPr>
              <a:t>⚠ Крапка в кінці обов'язкова! Вона означає: 'створити проєкт у поточній папці'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65760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📁 Структура файлів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edu_platform/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manage.py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edu_platform/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__init__.py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settings.py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urls.py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asgi.py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wsgi.py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103120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572000" y="2103120"/>
            <a:ext cx="4572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709160" y="21305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2377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Головний інструмент керування проєктом (запуск сервера, міграції...)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761488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572000" y="2761488"/>
            <a:ext cx="4572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709160" y="278892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Всі налаштування: БД, мови, встановлені застосунки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3419856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572000" y="3419856"/>
            <a:ext cx="4572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709160" y="344728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urls.py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3694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Таблиця маршрутів: яка URL → яка функція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4078224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4572000" y="4078224"/>
            <a:ext cx="4572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709160" y="410565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wsgi.py / asgi.py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4352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Для деплою на сервер (поки не важливо)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Перший запуск — переконаємось що все працює!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Запустіть сервер розробки: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manage.py runserver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solidFill>
            <a:srgbClr val="111827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Terminal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Watching for file changes with StatReloader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Performing system checks...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check identified no issues (0 silenced).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Django version 5.0, using settings 'mysite.settings'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Starting development server at http://127.0.0.1:8000/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 the server with CTRL-BREAK.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3931920" cy="1051560"/>
          </a:xfrm>
          <a:prstGeom prst="rect">
            <a:avLst/>
          </a:prstGeom>
          <a:solidFill>
            <a:srgbClr val="22C55E">
              <a:alpha val="85000"/>
            </a:srgbClr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9436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Відкрийте браузер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http://127.0.0.1:8000/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4462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або просто: http://localhost:8000/</a:t>
            </a:r>
          </a:p>
        </p:txBody>
      </p:sp>
      <p:sp>
        <p:nvSpPr>
          <p:cNvPr id="15" name="Shape 13"/>
          <p:cNvSpPr/>
          <p:nvPr/>
        </p:nvSpPr>
        <p:spPr>
          <a:xfrm>
            <a:off x="4754880" y="3794760"/>
            <a:ext cx="393192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892040" y="3858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✅ Якщо бачите </a:t>
            </a:r>
            <a:r>
              <a:rPr lang="uk-UA" sz="1300" b="1" dirty="0">
                <a:solidFill>
                  <a:srgbClr val="22C55E"/>
                </a:solidFill>
              </a:rPr>
              <a:t>текст </a:t>
            </a:r>
            <a:r>
              <a:rPr lang="en-US" sz="1300" b="1" dirty="0">
                <a:solidFill>
                  <a:srgbClr val="22C55E"/>
                </a:solidFill>
              </a:rPr>
              <a:t>django — все добре!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41879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Django показує стартову сторінку поки ви не налаштували свої URL.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Ctrl+C — зупинити сервер.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4155"/>
                </a:solidFill>
              </a:rPr>
              <a:t>Як Django думає: MVT-</a:t>
            </a:r>
            <a:r>
              <a:rPr lang="en-US" sz="2400" b="1" dirty="0" err="1">
                <a:solidFill>
                  <a:srgbClr val="334155"/>
                </a:solidFill>
              </a:rPr>
              <a:t>архітектура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Запит від браузера → Django → Відповідь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1143000"/>
            <a:ext cx="1691640" cy="1371600"/>
          </a:xfrm>
          <a:prstGeom prst="rect">
            <a:avLst/>
          </a:prstGeom>
          <a:solidFill>
            <a:srgbClr val="0D9488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228600" y="1252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 Браузер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783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Надсилає запит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на URL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801368"/>
            <a:ext cx="502920" cy="5486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965960" y="1143000"/>
            <a:ext cx="1691640" cy="1371600"/>
          </a:xfrm>
          <a:prstGeom prst="rect">
            <a:avLst/>
          </a:prstGeom>
          <a:solidFill>
            <a:srgbClr val="15803D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2011680" y="1252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🗺 urls.py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1783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Маршрутизатор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Який View?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1801368"/>
            <a:ext cx="502920" cy="5486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3749040" y="1143000"/>
            <a:ext cx="1691640" cy="1371600"/>
          </a:xfrm>
          <a:prstGeom prst="rect">
            <a:avLst/>
          </a:prstGeom>
          <a:solidFill>
            <a:srgbClr val="22C55E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3794760" y="1252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views.py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1783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Бізнес-логіка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що відповісти?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1801368"/>
            <a:ext cx="502920" cy="5486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532120" y="1143000"/>
            <a:ext cx="1691640" cy="1371600"/>
          </a:xfrm>
          <a:prstGeom prst="rect">
            <a:avLst/>
          </a:prstGeom>
          <a:solidFill>
            <a:srgbClr val="0D9488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577840" y="1252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🗄 models.py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1783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База даних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(якщо потрібна)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1801368"/>
            <a:ext cx="502920" cy="5486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7315200" y="1143000"/>
            <a:ext cx="1691640" cy="1371600"/>
          </a:xfrm>
          <a:prstGeom prst="rect">
            <a:avLst/>
          </a:prstGeom>
          <a:solidFill>
            <a:srgbClr val="FBBF24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7360920" y="1252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📄 Template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60920" y="1783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HTML-шаблон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з даними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2834640" cy="77724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365760" y="2880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 — Model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Опис структури даних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2839564"/>
            <a:ext cx="2834640" cy="777240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263640" y="28852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 — Template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32053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HTML + Python-теги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23260" y="2834640"/>
            <a:ext cx="2834640" cy="777240"/>
          </a:xfrm>
          <a:prstGeom prst="rect">
            <a:avLst/>
          </a:prstGeom>
          <a:solidFill>
            <a:srgbClr val="22C55E">
              <a:alpha val="85000"/>
            </a:srgbClr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3314700" y="2880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 — View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1470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Логіка відповіді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37947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334155"/>
                </a:solidFill>
              </a:rPr>
              <a:t>⚡ Аналогія</a:t>
            </a:r>
            <a:r>
              <a:rPr lang="uk-UA" sz="1200" i="1" dirty="0">
                <a:solidFill>
                  <a:srgbClr val="334155"/>
                </a:solidFill>
              </a:rPr>
              <a:t> (Лікарня)</a:t>
            </a:r>
            <a:r>
              <a:rPr lang="en-US" sz="1200" i="1" dirty="0">
                <a:solidFill>
                  <a:srgbClr val="334155"/>
                </a:solidFill>
              </a:rPr>
              <a:t>: urls.py — </a:t>
            </a:r>
            <a:r>
              <a:rPr lang="uk-UA" sz="1200" i="1" dirty="0">
                <a:solidFill>
                  <a:srgbClr val="334155"/>
                </a:solidFill>
              </a:rPr>
              <a:t>реєстратура</a:t>
            </a:r>
            <a:r>
              <a:rPr lang="en-US" sz="1200" i="1" dirty="0">
                <a:solidFill>
                  <a:srgbClr val="334155"/>
                </a:solidFill>
              </a:rPr>
              <a:t>, view — </a:t>
            </a:r>
            <a:r>
              <a:rPr lang="uk-UA" sz="1200" i="1" dirty="0">
                <a:solidFill>
                  <a:srgbClr val="334155"/>
                </a:solidFill>
              </a:rPr>
              <a:t>лікар</a:t>
            </a:r>
            <a:r>
              <a:rPr lang="en-US" sz="1200" i="1" dirty="0">
                <a:solidFill>
                  <a:srgbClr val="334155"/>
                </a:solidFill>
              </a:rPr>
              <a:t>, model — </a:t>
            </a:r>
            <a:r>
              <a:rPr lang="uk-UA" sz="1200" i="1" dirty="0">
                <a:solidFill>
                  <a:srgbClr val="334155"/>
                </a:solidFill>
              </a:rPr>
              <a:t>база даних пацієнтів, </a:t>
            </a:r>
            <a:r>
              <a:rPr lang="en-US" sz="1200" i="1" dirty="0">
                <a:solidFill>
                  <a:srgbClr val="334155"/>
                </a:solidFill>
              </a:rPr>
              <a:t>template — </a:t>
            </a:r>
            <a:r>
              <a:rPr lang="uk-UA" sz="1200" i="1" dirty="0">
                <a:solidFill>
                  <a:srgbClr val="334155"/>
                </a:solidFill>
              </a:rPr>
              <a:t>рецепт або виписка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0F192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365760" y="42245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Сьогодні ми торкнемось urls.py і views.py — найважливіших частин. Model і Template — на наступних уроках.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923"/>
                </a:solidFill>
              </a:rPr>
              <a:t>КРОК 3 — Перший застосунок (app)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9601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</a:rPr>
              <a:t>💡 Проєкт vs Застосунок: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Проєкт (mysite) = </a:t>
            </a:r>
            <a:r>
              <a:rPr lang="uk-UA" sz="1300" dirty="0">
                <a:solidFill>
                  <a:srgbClr val="94A3B8"/>
                </a:solidFill>
              </a:rPr>
              <a:t>університетський кампус</a:t>
            </a:r>
            <a:r>
              <a:rPr lang="en-US" sz="1300" dirty="0">
                <a:solidFill>
                  <a:srgbClr val="94A3B8"/>
                </a:solidFill>
              </a:rPr>
              <a:t> </a:t>
            </a:r>
            <a:r>
              <a:rPr lang="uk-UA" sz="1300" dirty="0">
                <a:solidFill>
                  <a:srgbClr val="94A3B8"/>
                </a:solidFill>
              </a:rPr>
              <a:t>               </a:t>
            </a:r>
            <a:r>
              <a:rPr lang="en-US" sz="1300" dirty="0">
                <a:solidFill>
                  <a:srgbClr val="94A3B8"/>
                </a:solidFill>
              </a:rPr>
              <a:t>|    Застосунок (app) =</a:t>
            </a:r>
            <a:r>
              <a:rPr lang="uk-UA" sz="1300" dirty="0">
                <a:solidFill>
                  <a:srgbClr val="94A3B8"/>
                </a:solidFill>
              </a:rPr>
              <a:t> бібліотека, гуртожиток, їдальня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566928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manage.py startapp courses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3474720" cy="2194560"/>
          </a:xfrm>
          <a:prstGeom prst="rect">
            <a:avLst/>
          </a:prstGeom>
          <a:solidFill>
            <a:srgbClr val="111827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📁 Нові файли у pages/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__init__.py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admin.py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apps.py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models.py   ← база даних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views.py    ← логіка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migrations/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60520" y="2606040"/>
            <a:ext cx="4617720" cy="2194560"/>
          </a:xfrm>
          <a:prstGeom prst="rect">
            <a:avLst/>
          </a:prstGeom>
          <a:solidFill>
            <a:srgbClr val="15803D">
              <a:alpha val="80000"/>
            </a:srgbClr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297680" y="2651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</a:rPr>
              <a:t>⚠️ ВАЖЛИВО: зареєструвати app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30358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У mysite/settings.py знайдіть INSTALLED_APPS і додайте: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3493008"/>
            <a:ext cx="429768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434840" y="353872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INSTALLED_APPS = 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‘courses',   # ← додати!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923"/>
                </a:solidFill>
              </a:rPr>
              <a:t>КРОК 4 — Перший View і URL-маршрут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283464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34747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📄 pages/views.py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840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django.http import HttpResponse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home(request):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'&lt;h1&gt;Привіт, Django!&lt;/h1&gt;'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3931920" cy="283464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393192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98348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📄 mysite/urls.py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28016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django.contrib import admin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django.urls import path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courses import views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path('admin/', admin.site.urls),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path('', views.home),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822192"/>
            <a:ext cx="841248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45720" cy="34747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02920" y="3849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home(request)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384962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Кожен view — це функція. Вона отримує request і повертає відповідь.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206240"/>
            <a:ext cx="8412480" cy="347472"/>
          </a:xfrm>
          <a:prstGeom prst="rect">
            <a:avLst/>
          </a:prstGeom>
          <a:solidFill>
            <a:srgbClr val="F4F7F9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45720" cy="34747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02920" y="4233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HttpResponse(...)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423367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Найпростіший спосіб відповісти — повернути HTML-рядок.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90288"/>
            <a:ext cx="841248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365760" y="4590288"/>
            <a:ext cx="45720" cy="34747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02920" y="4617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path('', views.home)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46177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Порожній рядок '' = головна сторінка (http://localhost:8000/)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923"/>
                </a:solidFill>
              </a:rPr>
              <a:t>🛠 Практика — Додаємо сторінку /about/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Спробуйте самі! Мета: щоб http://localhost:8000/about/ показував 'Про нас'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24688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3657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923"/>
                </a:solidFill>
              </a:rPr>
              <a:t>Крок 1: views.py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about(request):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'&lt;h1&gt;Про нас&lt;/h1&gt;'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'&lt;p&gt;Ми вивчаємо Django!&lt;/p&gt;'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931920" cy="24688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93192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9834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Крок 2: urls.py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path(’home/’, views.home),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path('about/', views.about), ← новий!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solidFill>
            <a:srgbClr val="1A2744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</a:rPr>
              <a:t>✅ Перевірте: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3616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http://localhost:8000/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Привіт, Django!       </a:t>
            </a:r>
            <a:r>
              <a:rPr lang="en-US" sz="12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http://localhost:8000/courses/about/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Про нас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4155"/>
                </a:solidFill>
              </a:rPr>
              <a:t>Корисні команди manage.py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manage.py — ваш головний інструмент у Django. Запам'ятайте ці команди: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4864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02920" y="1252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runserver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44475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Запустити сервер розробки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0" y="1280160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6949440" y="1280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сьогодні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92224"/>
            <a:ext cx="8412480" cy="566928"/>
          </a:xfrm>
          <a:prstGeom prst="rect">
            <a:avLst/>
          </a:prstGeom>
          <a:solidFill>
            <a:srgbClr val="F4F7F9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54864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02920" y="1901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1837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startapp назва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09397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Створити новий застосунок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929384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949440" y="19293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сьогодні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441448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365760" y="2441448"/>
            <a:ext cx="54864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02920" y="25511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2487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makemigrations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7432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Підготувати зміни в базі даних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90672"/>
            <a:ext cx="8412480" cy="566928"/>
          </a:xfrm>
          <a:prstGeom prst="rect">
            <a:avLst/>
          </a:prstGeom>
          <a:solidFill>
            <a:srgbClr val="F4F7F9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365760" y="3090672"/>
            <a:ext cx="54864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0292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3136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migrate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39242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Застосувати зміни до БД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739896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365760" y="3739896"/>
            <a:ext cx="54864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502920" y="3849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37856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createsuperuser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404164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Створити адміністратора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389120"/>
            <a:ext cx="8412480" cy="566928"/>
          </a:xfrm>
          <a:prstGeom prst="rect">
            <a:avLst/>
          </a:prstGeom>
          <a:solidFill>
            <a:srgbClr val="F4F7F9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365760" y="4389120"/>
            <a:ext cx="54864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502920" y="4498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🐍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4400" y="4434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shell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469087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Інтерактивна Python-консоль з Django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Підсумок уроку 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046720" cy="4023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✅  Встановили Django у virtual environment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8046720" cy="402336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48640" y="181965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✅  Створили Django-проєкт командою startproject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8046720" cy="4023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✅  Розібрались у структурі файлів проєкту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8046720" cy="402336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48640" y="275234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✅  Створили застосунок pages командою startapp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63824"/>
            <a:ext cx="8046720" cy="4023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48640" y="321868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✅  Написали перший view і підключили URL-маршрут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630168"/>
            <a:ext cx="8046720" cy="402336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48640" y="3685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✅  Запустили сервер і побачили результат у браузері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96512"/>
            <a:ext cx="8046720" cy="4023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48640" y="415137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✅  Додали другу сторінку /about/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9993</TotalTime>
  <Words>1944</Words>
  <Application>Microsoft Macintosh PowerPoint</Application>
  <PresentationFormat>On-screen Show (16:9)</PresentationFormat>
  <Paragraphs>244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— Перший проєкт</dc:title>
  <dc:subject>PptxGenJS Presentation</dc:subject>
  <dc:creator>PptxGenJS</dc:creator>
  <cp:lastModifiedBy>Dmytro Shtefan</cp:lastModifiedBy>
  <cp:revision>5</cp:revision>
  <dcterms:created xsi:type="dcterms:W3CDTF">2026-04-18T11:41:20Z</dcterms:created>
  <dcterms:modified xsi:type="dcterms:W3CDTF">2026-04-25T10:42:13Z</dcterms:modified>
</cp:coreProperties>
</file>