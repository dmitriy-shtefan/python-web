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0"/>
    <p:restoredTop sz="94610"/>
  </p:normalViewPr>
  <p:slideViewPr>
    <p:cSldViewPr snapToGrid="0" snapToObjects="1">
      <p:cViewPr varScale="1">
        <p:scale>
          <a:sx n="181" d="100"/>
          <a:sy n="181" d="100"/>
        </p:scale>
        <p:origin x="69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43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 rot="600000">
            <a:off x="6583680" y="-274320"/>
            <a:ext cx="3200400" cy="59436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82296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0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Шаблони та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Статичні файли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Inheritance · include · Static Files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3794760"/>
            <a:ext cx="1965960" cy="731520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502920" y="3840480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Базовий шаблон, extends, include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60320" y="3794760"/>
            <a:ext cx="1965960" cy="73152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2606040" y="3840480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Практика: макет і навігація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63440" y="3794760"/>
            <a:ext cx="1965960" cy="7315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4709160" y="3840480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Static files: CSS, JS, зображення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766560" y="3794760"/>
            <a:ext cx="1965960" cy="73152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2"/>
          <p:cNvSpPr/>
          <p:nvPr/>
        </p:nvSpPr>
        <p:spPr>
          <a:xfrm>
            <a:off x="6812280" y="3840480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Впорядкування проєкту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дублювання HTML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7490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566160" cy="3566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home.html --&gt;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&lt;title&gt;Головна&lt;/title&gt;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href="style.css"&gt;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href="/"&gt;Головна&lt;/a&gt;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href="/about"&gt;Про нас&lt;/a&gt;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&lt;h1&gt;Ласкаво просимо!&lt;/h1&gt;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&lt;footer&gt;© 2025 My Site&lt;/footer&gt;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37490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3566160" cy="3566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about.html --&gt;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&lt;title&gt;Про нас&lt;/title&gt;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href="style.css"&gt;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href="/"&gt;Головна&lt;/a&gt;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href="/about"&gt;Про нас&lt;/a&gt;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&lt;h1&gt;Про нас&lt;/h1&gt;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&lt;footer&gt;© 2025 My Site&lt;/footer&gt;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3749040" cy="548639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3749040" cy="548639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3749040" cy="113157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663440" y="1600199"/>
            <a:ext cx="3749040" cy="1131569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365760" y="3103244"/>
            <a:ext cx="3749040" cy="41148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663440" y="3103244"/>
            <a:ext cx="3749040" cy="41148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Shape 12"/>
          <p:cNvSpPr/>
          <p:nvPr/>
        </p:nvSpPr>
        <p:spPr>
          <a:xfrm>
            <a:off x="4114800" y="2560320"/>
            <a:ext cx="54864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3703320" y="2343150"/>
            <a:ext cx="13716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370332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Повторюємо код (</a:t>
            </a: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950" dirty="0"/>
          </a:p>
          <a:p>
            <a:pPr marL="0" indent="0" algn="ctr">
              <a:buNone/>
            </a:pPr>
            <a:r>
              <a:rPr lang="ru-RU" sz="9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відсутній</a:t>
            </a:r>
            <a:r>
              <a:rPr lang="uk-UA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треба змінити навігацію — правимо у КОЖНОМУ файлі!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Рішення: Template Inheritance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960120"/>
            <a:ext cx="2743200" cy="914400"/>
          </a:xfrm>
          <a:prstGeom prst="rect">
            <a:avLst/>
          </a:prstGeom>
          <a:solidFill>
            <a:srgbClr val="8B5CF6">
              <a:alpha val="80000"/>
            </a:srgbClr>
          </a:solidFill>
          <a:ln w="254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200400" y="960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base.html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content %}{% endblock %}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94560" y="1874520"/>
            <a:ext cx="0" cy="4114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0" cy="4114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6949440" y="1874520"/>
            <a:ext cx="0" cy="41148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822960" y="2286000"/>
            <a:ext cx="2743200" cy="914400"/>
          </a:xfrm>
          <a:prstGeom prst="rect">
            <a:avLst/>
          </a:prstGeom>
          <a:solidFill>
            <a:srgbClr val="06B6D4">
              <a:alpha val="25000"/>
            </a:srgbClr>
          </a:solidFill>
          <a:ln w="1905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home.html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extends "base.html" %}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2286000"/>
            <a:ext cx="2743200" cy="914400"/>
          </a:xfrm>
          <a:prstGeom prst="rect">
            <a:avLst/>
          </a:prstGeom>
          <a:solidFill>
            <a:srgbClr val="10B981">
              <a:alpha val="25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320040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about.html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651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extends "base.html" %}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577840" y="2286000"/>
            <a:ext cx="2743200" cy="914400"/>
          </a:xfrm>
          <a:prstGeom prst="rect">
            <a:avLst/>
          </a:prstGeom>
          <a:solidFill>
            <a:srgbClr val="F59E0B">
              <a:alpha val="25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94360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courses_list.html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extends "base.html" %}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520440"/>
            <a:ext cx="2743200" cy="1417320"/>
          </a:xfrm>
          <a:prstGeom prst="rect">
            <a:avLst/>
          </a:prstGeom>
          <a:solidFill>
            <a:srgbClr val="162133"/>
          </a:solidFill>
          <a:ln w="127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61188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68680" y="35844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шаблон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5488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Містить спільний HTML: head, nav, footer. Визначає блоки через {% block name %}.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91840" y="3520440"/>
            <a:ext cx="2743200" cy="1417320"/>
          </a:xfrm>
          <a:prstGeom prst="rect">
            <a:avLst/>
          </a:prstGeom>
          <a:solidFill>
            <a:srgbClr val="162133"/>
          </a:solidFill>
          <a:ln w="1270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3611880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794760" y="35844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401568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Дочірній шаблон наслідує базовий. Перевизначає лише потрібні блоки.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217920" y="3520440"/>
            <a:ext cx="2743200" cy="1417320"/>
          </a:xfrm>
          <a:prstGeom prst="rect">
            <a:avLst/>
          </a:prstGeom>
          <a:solidFill>
            <a:srgbClr val="162133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3611880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20840" y="35844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327648" y="39776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Навігацію, CSS, footer — пишемо один раз. Зміна в одному місці — результат скрізь.</a:t>
            </a:r>
            <a:endParaRPr lang="en-US" sz="900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4C552AC1-DB78-2A75-E3EA-2998D747C572}"/>
              </a:ext>
            </a:extLst>
          </p:cNvPr>
          <p:cNvSpPr/>
          <p:nvPr/>
        </p:nvSpPr>
        <p:spPr>
          <a:xfrm flipH="1">
            <a:off x="2194558" y="1874520"/>
            <a:ext cx="2377431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4A16146A-1DB0-BAA3-73AA-D9B1B59ECBD8}"/>
              </a:ext>
            </a:extLst>
          </p:cNvPr>
          <p:cNvSpPr/>
          <p:nvPr/>
        </p:nvSpPr>
        <p:spPr>
          <a:xfrm flipV="1">
            <a:off x="4571990" y="1874519"/>
            <a:ext cx="2377432" cy="1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шаблон: base.html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937760" cy="3913627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4754880" cy="38679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950" dirty="0">
              <a:solidFill>
                <a:srgbClr val="FFFF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load static %}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lang="uk"&gt;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title %}</a:t>
            </a:r>
            <a:r>
              <a:rPr lang="uk-UA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Освітня Платформа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&lt;/title&gt;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&lt;link rel="stylesheet" href="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static 'css/main.css'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 href="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url 'home'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"&gt;Головна&lt;/a&gt;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 href="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url 'about'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r>
              <a:rPr lang="uk-UA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 нас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&lt;/nav&gt;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&lt;main&gt;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content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&lt;/main&gt;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&lt;footer&gt;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&lt;p&gt;© 2026 Education Platform&lt;/p&gt;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&lt;/footer&gt;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71403" y="1705351"/>
            <a:ext cx="552157" cy="1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669280" y="1408172"/>
            <a:ext cx="3154680" cy="59436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715000" y="1408172"/>
            <a:ext cx="30632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title %}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0" y="1645916"/>
            <a:ext cx="3063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 для заголовка вкладки. Дочірні шаблони можуть замінити.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716258" y="1127524"/>
            <a:ext cx="3953022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669280" y="694239"/>
            <a:ext cx="3154680" cy="59436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715000" y="694239"/>
            <a:ext cx="30632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load static %}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5000" y="931983"/>
            <a:ext cx="3063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Підключаємо теги для static files — це потрібно перед першим {% static %}.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19643" y="3291838"/>
            <a:ext cx="3203917" cy="1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669280" y="2994658"/>
            <a:ext cx="3154680" cy="594360"/>
          </a:xfrm>
          <a:prstGeom prst="rect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715000" y="2994658"/>
            <a:ext cx="30632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content %}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5000" y="3232402"/>
            <a:ext cx="30632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Головний блок — сюди дочірній шаблон вставляє свій унікальний зміст.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Правило: усе спільне — в base.html. Унікальне — в дочірніх.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Дочірній шаблон: extends та block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74320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home.html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extends "base.html"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title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Головна — </a:t>
            </a:r>
            <a:r>
              <a:rPr lang="uk-UA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Освітня Платформа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content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&lt;h1&gt;Ласкаво просимо!&lt;/h1&gt;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&lt;p&gt;Це головна сторінка.&lt;/p&gt;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url 'about'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Дізнатись більше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</a:t>
            </a:r>
            <a:endParaRPr lang="en-US" sz="950" dirty="0">
              <a:solidFill>
                <a:srgbClr val="FFFF0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846320" y="804672"/>
            <a:ext cx="40233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846320" y="8046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about.html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extends "base.html"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title %}</a:t>
            </a:r>
            <a:endParaRPr lang="en-US" sz="950" dirty="0">
              <a:solidFill>
                <a:srgbClr val="FFFF00"/>
              </a:solidFill>
            </a:endParaRPr>
          </a:p>
          <a:p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uk-UA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 нас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</a:t>
            </a:r>
            <a:r>
              <a:rPr lang="uk-UA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Освітня Платформа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content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&lt;h1&gt;Про нас&lt;/h1&gt;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&lt;p&gt;Ми команда розробників.&lt;/p&gt;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&lt;li&gt;Іванов Іван&lt;/li&gt;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&lt;li&gt;Петрова Оксана&lt;/li&gt;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&lt;/ul&gt;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</a:t>
            </a:r>
            <a:endParaRPr lang="en-US" sz="950" dirty="0">
              <a:solidFill>
                <a:srgbClr val="FFFF0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4206240"/>
            <a:ext cx="73152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extends %} — перший рядок шаблону, без винятків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4480560"/>
            <a:ext cx="73152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Перевизначаємо лише потрібні блоки — решта береться з base.html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4754880"/>
            <a:ext cx="7315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Поза блоками в дочірньому шаблоні текст ігнорується Django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include %}: повторно використовувані фрагменти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base.html / page.html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3931920" cy="2880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base.html або дочірній шаблон #}</a:t>
            </a:r>
            <a:endParaRPr lang="en-US" sz="950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include ”includes/navbar.html"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content %}{% endblock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&lt;/main&gt;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include " includes/footer.html"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148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75488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includes/navbar.html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0" y="1051560"/>
            <a:ext cx="393192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includes/navbar.html #}</a:t>
            </a:r>
            <a:endParaRPr lang="en-US" sz="95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 class="navbar"&gt;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url 'home'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Головна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url 'about'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Про нас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url 'blog'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Блог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&lt;/a&gt;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0" y="13944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063240"/>
            <a:ext cx="4114800" cy="1920240"/>
          </a:xfrm>
          <a:prstGeom prst="rect">
            <a:avLst/>
          </a:prstGeom>
          <a:solidFill>
            <a:srgbClr val="16213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84632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templates/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3456432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950" dirty="0"/>
          </a:p>
          <a:p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 courses/</a:t>
            </a:r>
          </a:p>
          <a:p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├─── base.html</a:t>
            </a:r>
            <a:endParaRPr lang="en-US" sz="950" dirty="0"/>
          </a:p>
          <a:p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├─── home.html</a:t>
            </a:r>
            <a:endParaRPr lang="en-US" sz="950" dirty="0"/>
          </a:p>
          <a:p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├─── about.html</a:t>
            </a:r>
            <a:endParaRPr lang="en-US" sz="950" dirty="0"/>
          </a:p>
          <a:p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└─── includes/</a:t>
            </a:r>
            <a:endParaRPr lang="en-US" sz="950" dirty="0"/>
          </a:p>
          <a:p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├─── navbar.html</a:t>
            </a:r>
            <a:endParaRPr lang="en-US" sz="950" dirty="0"/>
          </a:p>
          <a:p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└─── footer.html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4114800"/>
            <a:ext cx="4114800" cy="868680"/>
          </a:xfrm>
          <a:prstGeom prst="rect">
            <a:avLst/>
          </a:prstGeom>
          <a:solidFill>
            <a:srgbClr val="1621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11480" y="4160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використовувати include: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41655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footer, картка продукту, sidebar — будь-який HTML-фрагмент, який повторюється більш ніж в одному місці.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80492" y="1463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Побудова макету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45720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365760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886968"/>
            <a:ext cx="7772400" cy="213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</a:t>
            </a: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templates/courses/base.html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1161814"/>
            <a:ext cx="7772400" cy="1198393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1024128" y="1180103"/>
            <a:ext cx="7635240" cy="118010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&lt;html&gt;&lt;head&gt;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&lt;title&gt;{% block title %}</a:t>
            </a:r>
            <a:r>
              <a:rPr lang="uk-UA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Освітня Платформа</a:t>
            </a: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%}&lt;/title&gt;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&lt;/head&gt;&lt;body&gt;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{% include ”includes/navbar.html" %}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&lt;main&gt;{% block content %}{% endblock %}&lt;/main&gt;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&lt;footer&gt;© 2026&lt;/footer&gt;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&lt;/body&gt;&lt;/html&gt;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95175"/>
            <a:ext cx="457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365760" y="249517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2540895"/>
            <a:ext cx="7772400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</a:t>
            </a: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templates/includes/navbar.html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2791589"/>
            <a:ext cx="77724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Text 13"/>
          <p:cNvSpPr/>
          <p:nvPr/>
        </p:nvSpPr>
        <p:spPr>
          <a:xfrm>
            <a:off x="1024128" y="2809877"/>
            <a:ext cx="7635240" cy="8778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href="{% url 'home' %}"&gt;Головна&lt;/a&gt;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href="{% url 'about' %}"&gt;Про нас&lt;/a&gt;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821137"/>
            <a:ext cx="457200" cy="4572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365760" y="382113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866857"/>
            <a:ext cx="7772400" cy="197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Оновити</a:t>
            </a: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home.html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4064508"/>
            <a:ext cx="77724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1024128" y="4082796"/>
            <a:ext cx="7635240" cy="8778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extends "base.html" %}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title %}Головна{% endblock %}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content %}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&lt;h1&gt;Привіт!&lt;/h1&gt;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 у Django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2651760" cy="1645920"/>
          </a:xfrm>
          <a:prstGeom prst="rect">
            <a:avLst/>
          </a:prstGeom>
          <a:solidFill>
            <a:srgbClr val="162133"/>
          </a:solidFill>
          <a:ln w="25400">
            <a:solidFill>
              <a:srgbClr val="2563E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960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810512"/>
            <a:ext cx="2651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Стилі сторінок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main.css, bootstrap.css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46120" y="896112"/>
            <a:ext cx="2651760" cy="1645920"/>
          </a:xfrm>
          <a:prstGeom prst="rect">
            <a:avLst/>
          </a:prstGeom>
          <a:solidFill>
            <a:srgbClr val="162133"/>
          </a:solidFill>
          <a:ln w="25400">
            <a:solidFill>
              <a:srgbClr val="EAB30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960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461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46120" y="1810512"/>
            <a:ext cx="2651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Інтерактивність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app.js, alpine.js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26480" y="896112"/>
            <a:ext cx="2651760" cy="1645920"/>
          </a:xfrm>
          <a:prstGeom prst="rect">
            <a:avLst/>
          </a:prstGeom>
          <a:solidFill>
            <a:srgbClr val="162133"/>
          </a:solidFill>
          <a:ln w="2540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9601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Зображення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26480" y="1810512"/>
            <a:ext cx="265176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Логотипи, іконки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.png, .svg, .jpg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65760" y="2697480"/>
            <a:ext cx="384048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2"/>
          <p:cNvSpPr/>
          <p:nvPr/>
        </p:nvSpPr>
        <p:spPr>
          <a:xfrm>
            <a:off x="457200" y="27249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проєкту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57200" y="3035808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static/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courses/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css/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main.css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js/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│   └── app.js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img/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└── logo.png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views.py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480560" y="2697480"/>
            <a:ext cx="4389120" cy="233172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5"/>
          <p:cNvSpPr/>
          <p:nvPr/>
        </p:nvSpPr>
        <p:spPr>
          <a:xfrm>
            <a:off x="4572000" y="27249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settings.py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0" y="3035808"/>
            <a:ext cx="420624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STATIC_URL = '/static/'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Тільки в production: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STATIC_ROOT = BASE_DIR / 'staticfiles'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Для розробки (якщо static/ не в app):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STATICFILES_DIRS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BASE_DIR / 'static',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Підключення static files в шаблонах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183944" cy="4224528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5183944" cy="4069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load static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← ОБОВ'ЯЗКОВО вгорі шаблону! #}</a:t>
            </a:r>
            <a:endParaRPr lang="en-US" sz="95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title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&lt;/title&gt;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CSS #}</a:t>
            </a:r>
            <a:endParaRPr lang="en-US" sz="95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&lt;link rel="stylesheet"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href="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static courses/css/main.css'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Зовнішній CSS (CDN — без {% static %}) #}</a:t>
            </a:r>
            <a:endParaRPr lang="en-US" sz="950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&lt;link rel="stylesheet" href="https://cdn.jsdelivr.net/npm/bootstrap@5/dist/css/bootstrap.min.css"&gt;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Зображення #}</a:t>
            </a:r>
            <a:endParaRPr lang="en-US" sz="950" dirty="0">
              <a:solidFill>
                <a:schemeClr val="accent6"/>
              </a:solidFill>
            </a:endParaRPr>
          </a:p>
          <a:p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src="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static courses/img/logo.png'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alt="Logo" width="120"&gt;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content %}{% endblock %}</a:t>
            </a:r>
            <a:endParaRPr lang="en-US" sz="950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chemeClr val="accent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{# JavaScript — перед &lt;/body&gt; #}</a:t>
            </a:r>
            <a:endParaRPr lang="en-US" sz="950" dirty="0">
              <a:solidFill>
                <a:schemeClr val="accent6"/>
              </a:solidFill>
            </a:endParaRPr>
          </a:p>
          <a:p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&lt;script src="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static courses/js/app.js'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"&gt;&lt;/script&gt;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715000" y="822960"/>
            <a:ext cx="3154680" cy="987552"/>
          </a:xfrm>
          <a:prstGeom prst="rect">
            <a:avLst/>
          </a:prstGeom>
          <a:solidFill>
            <a:srgbClr val="162133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5715000" y="822960"/>
            <a:ext cx="64008" cy="9875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852160" y="8778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забуте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852160" y="11612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{% load static %} — без цього тег {% static %} не буде розпізнаний Django і ви отримаєте TemplateSyntaxError.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715000" y="1901952"/>
            <a:ext cx="3154680" cy="987552"/>
          </a:xfrm>
          <a:prstGeom prst="rect">
            <a:avLst/>
          </a:prstGeom>
          <a:solidFill>
            <a:srgbClr val="16213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5715000" y="1901952"/>
            <a:ext cx="64008" cy="9875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852160" y="19568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namespace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52160" y="22402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static/myapp/css/main.css → шлях 'myapp/css/main.css'. Namespace (ім'я app) захищає від конфліктів між застосунками.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15000" y="2980944"/>
            <a:ext cx="3154680" cy="987552"/>
          </a:xfrm>
          <a:prstGeom prst="rect">
            <a:avLst/>
          </a:prstGeom>
          <a:solidFill>
            <a:srgbClr val="1621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5715000" y="2980944"/>
            <a:ext cx="64008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852160" y="3035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перед &lt;/body&gt;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52160" y="33192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Підключайте JS-файли наприкінці &lt;body&gt;, щоб сторінка рендерилася швидше і DOM був готовий.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15000" y="4059936"/>
            <a:ext cx="3154680" cy="987552"/>
          </a:xfrm>
          <a:prstGeom prst="rect">
            <a:avLst/>
          </a:prstGeom>
          <a:solidFill>
            <a:srgbClr val="162133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5715000" y="4059936"/>
            <a:ext cx="64008" cy="9875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85216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manage.py collectstatic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52160" y="4398264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Запускайте при деплої — збирає всі static файли з усіх app у STATIC_ROOT.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194560" y="20116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Підключаємо CSS та зображення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14800" cy="2148840"/>
          </a:xfrm>
          <a:prstGeom prst="rect">
            <a:avLst/>
          </a:prstGeom>
          <a:solidFill>
            <a:srgbClr val="162133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36576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832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Створіть файл CSS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023360" cy="1664208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29768" y="1234440"/>
            <a:ext cx="3886200" cy="1627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myapp/static/courses/css/main.css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font-family: Arial, sans-serif;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margin: 0;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background: #f5f5f5;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{ background: #333; padding: 16px;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 a { color: white; margin: 0 16px; 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17720" y="777240"/>
            <a:ext cx="4114800" cy="2148840"/>
          </a:xfrm>
          <a:prstGeom prst="rect">
            <a:avLst/>
          </a:prstGeom>
          <a:solidFill>
            <a:srgbClr val="162133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4617720" y="777240"/>
            <a:ext cx="36576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617720" y="777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74920" y="832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Перевірте settings.py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4023360" cy="1664208"/>
          </a:xfrm>
          <a:prstGeom prst="rect">
            <a:avLst/>
          </a:prstGeom>
          <a:solidFill>
            <a:srgbClr val="1E293B"/>
          </a:solidFill>
          <a:ln w="63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4727448" y="1234440"/>
            <a:ext cx="3886200" cy="16276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settings.py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INSTALLED_APPS = 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'django.contrib.staticfiles',  # ← має бути!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'courses',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STATIC_URL = '/static/'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8503920" cy="1448972"/>
          </a:xfrm>
          <a:prstGeom prst="rect">
            <a:avLst/>
          </a:prstGeom>
          <a:solidFill>
            <a:srgbClr val="1621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3657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3200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1181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Підключіть в base.html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474720"/>
            <a:ext cx="8412480" cy="970671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429768" y="3520440"/>
            <a:ext cx="8275320" cy="14447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load static %}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rel="stylesheet"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href="</a:t>
            </a:r>
            <a:r>
              <a:rPr lang="en-US" sz="95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static courses/css/main.css' %}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"&gt;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Запустіть сервер і перевірте через DevTools (F12 → Network) чи завантажується CSS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Типові помилки та як їх уникнути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05256"/>
            <a:ext cx="8595360" cy="1033272"/>
          </a:xfrm>
          <a:prstGeom prst="rect">
            <a:avLst/>
          </a:prstGeom>
          <a:solidFill>
            <a:srgbClr val="162133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326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Відсутній namespace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84048" y="1261872"/>
            <a:ext cx="2926080" cy="281354"/>
          </a:xfrm>
          <a:prstGeom prst="rect">
            <a:avLst/>
          </a:prstGeom>
          <a:solidFill>
            <a:srgbClr val="2D1111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5"/>
          <p:cNvSpPr/>
          <p:nvPr/>
        </p:nvSpPr>
        <p:spPr>
          <a:xfrm>
            <a:off x="457200" y="1298448"/>
            <a:ext cx="27889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{% static 'css/main.css' %}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410712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931920" y="1261872"/>
            <a:ext cx="2926080" cy="281354"/>
          </a:xfrm>
          <a:prstGeom prst="rect">
            <a:avLst/>
          </a:prstGeom>
          <a:solidFill>
            <a:srgbClr val="0D201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4005072" y="1298448"/>
            <a:ext cx="27889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{% static 'courses/css/main.css' %}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995160" y="1252728"/>
            <a:ext cx="1783080" cy="583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лежить у static/myapp/css/, тому шлях має починатись з myapp/. Без namespace можливі конфлікти між застосунками.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4320" y="2183306"/>
            <a:ext cx="8595360" cy="1097280"/>
          </a:xfrm>
          <a:prstGeom prst="rect">
            <a:avLst/>
          </a:prstGeom>
          <a:solidFill>
            <a:srgbClr val="162133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274746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" y="227474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</a:t>
            </a: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{% load static %}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84048" y="2603930"/>
            <a:ext cx="2926080" cy="274320"/>
          </a:xfrm>
          <a:prstGeom prst="rect">
            <a:avLst/>
          </a:prstGeom>
          <a:solidFill>
            <a:srgbClr val="2D1111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13"/>
          <p:cNvSpPr/>
          <p:nvPr/>
        </p:nvSpPr>
        <p:spPr>
          <a:xfrm>
            <a:off x="457200" y="2620811"/>
            <a:ext cx="27889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&lt;!-- немає {% load static %} --&gt;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410712" y="259478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3931920" y="2603930"/>
            <a:ext cx="2926080" cy="274320"/>
          </a:xfrm>
          <a:prstGeom prst="rect">
            <a:avLst/>
          </a:prstGeom>
          <a:solidFill>
            <a:srgbClr val="0D201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6"/>
          <p:cNvSpPr/>
          <p:nvPr/>
        </p:nvSpPr>
        <p:spPr>
          <a:xfrm>
            <a:off x="4005072" y="2603930"/>
            <a:ext cx="27889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{% load static %} {# перший рядок #}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995160" y="2594786"/>
            <a:ext cx="1783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load static тег {% static '...' %} не розпізнається. Django поверне TemplateSyntaxError.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74320" y="3484040"/>
            <a:ext cx="8595360" cy="1175004"/>
          </a:xfrm>
          <a:prstGeom prst="rect">
            <a:avLst/>
          </a:prstGeom>
          <a:solidFill>
            <a:srgbClr val="162133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57548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49808" y="35754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 поза block в дочірньому шаблоні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84048" y="3904664"/>
            <a:ext cx="2926080" cy="656961"/>
          </a:xfrm>
          <a:prstGeom prst="rect">
            <a:avLst/>
          </a:prstGeom>
          <a:solidFill>
            <a:srgbClr val="2D1111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6" name="Text 21"/>
          <p:cNvSpPr/>
          <p:nvPr/>
        </p:nvSpPr>
        <p:spPr>
          <a:xfrm>
            <a:off x="457200" y="3941240"/>
            <a:ext cx="2788920" cy="620385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{% block content %}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Текст поза блоком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&lt;p&gt;Цей рядок ніколи не відобразиться&lt;/p&gt;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3429000" y="4032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3931920" y="3904664"/>
            <a:ext cx="2926080" cy="656961"/>
          </a:xfrm>
          <a:prstGeom prst="rect">
            <a:avLst/>
          </a:prstGeom>
          <a:solidFill>
            <a:srgbClr val="0D201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9" name="Text 24"/>
          <p:cNvSpPr/>
          <p:nvPr/>
        </p:nvSpPr>
        <p:spPr>
          <a:xfrm>
            <a:off x="4005072" y="3941240"/>
            <a:ext cx="278892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{% extends "base.html" %}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content %}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&lt;p&gt;Весь контент — в блоці&lt;/p&gt;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endblock %}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995160" y="38955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шаблон використовує extends, весь вміст має бути всередині блоків.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Архітектурні принципи шаблонів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2212848"/>
          </a:xfrm>
          <a:prstGeom prst="rect">
            <a:avLst/>
          </a:prstGeom>
          <a:solidFill>
            <a:srgbClr val="0D2011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Правильно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3840480" cy="186537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950" dirty="0"/>
          </a:p>
          <a:p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courses/</a:t>
            </a:r>
            <a:endParaRPr lang="en-US" sz="950" dirty="0"/>
          </a:p>
          <a:p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base.html          ← єдиний базовий</a:t>
            </a:r>
            <a:endParaRPr lang="en-US" sz="950" dirty="0"/>
          </a:p>
          <a:p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home.html</a:t>
            </a:r>
            <a:endParaRPr lang="en-US" sz="950" dirty="0"/>
          </a:p>
          <a:p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about.html</a:t>
            </a:r>
            <a:endParaRPr lang="en-US" sz="950" dirty="0"/>
          </a:p>
          <a:p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modules/</a:t>
            </a:r>
            <a:endParaRPr lang="en-US" sz="950" dirty="0"/>
          </a:p>
          <a:p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list.html</a:t>
            </a:r>
            <a:endParaRPr lang="en-US" sz="950" dirty="0"/>
          </a:p>
          <a:p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detail.html</a:t>
            </a:r>
            <a:endParaRPr lang="en-US" sz="950" dirty="0"/>
          </a:p>
          <a:p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includes/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├── navbar.html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├── footer.html</a:t>
            </a:r>
            <a:endParaRPr lang="en-US" sz="950" dirty="0"/>
          </a:p>
          <a:p>
            <a:pPr lvl="1"/>
            <a:r>
              <a:rPr lang="en-US" sz="9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└── card.html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46320" y="822960"/>
            <a:ext cx="4023360" cy="2212848"/>
          </a:xfrm>
          <a:prstGeom prst="rect">
            <a:avLst/>
          </a:prstGeom>
          <a:solidFill>
            <a:srgbClr val="2D1111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937760" y="822960"/>
            <a:ext cx="38404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Погано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170432"/>
            <a:ext cx="3840480" cy="179785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home.html          ← своя навігація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about.html         ← своя навігація (копія)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modules_list.html     ← своя навігація (ще копія)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navbar_home.html   ← 3 версії navbar!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navbar_about.html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navbar_modules.html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529584"/>
            <a:ext cx="228600" cy="228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3493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base.html на весь проєкт — єдине джерело правди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85876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38221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Фрагменти (navbar, footer, card) — </a:t>
            </a:r>
            <a:r>
              <a:rPr lang="uk-UA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includes/. </a:t>
            </a:r>
            <a:r>
              <a:rPr lang="uk-UA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повторювання коду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187952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" y="41513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Групуйте шаблони по app: blog/, courses/, user/ — чистота структури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517136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правите одне і те ж у 3 місцях — це сигнал для рефакторингу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595360" cy="1234440"/>
          </a:xfrm>
          <a:prstGeom prst="rect">
            <a:avLst/>
          </a:prstGeom>
          <a:solidFill>
            <a:srgbClr val="162133"/>
          </a:solidFill>
          <a:ln w="19050">
            <a:solidFill>
              <a:srgbClr val="06B6D4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74320" y="896112"/>
            <a:ext cx="914400" cy="123444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274320" y="896112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0789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03327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Базовий шаблон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146304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Створіть base.html і винесіть у нього спільні частини всіх сторінок: &lt;head&gt;, навігацію, footer. Усі існуючі сторінки мають використовувати {% extends "base.html" %}.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2267712"/>
            <a:ext cx="8595360" cy="1234440"/>
          </a:xfrm>
          <a:prstGeom prst="rect">
            <a:avLst/>
          </a:prstGeom>
          <a:solidFill>
            <a:srgbClr val="162133"/>
          </a:solidFill>
          <a:ln w="19050">
            <a:solidFill>
              <a:srgbClr val="8B5CF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274320" y="2267712"/>
            <a:ext cx="914400" cy="1234440"/>
          </a:xfrm>
          <a:prstGeom prst="rect">
            <a:avLst/>
          </a:prstGeom>
          <a:solidFill>
            <a:srgbClr val="8B5CF6">
              <a:alpha val="8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2" name="Text 9"/>
          <p:cNvSpPr/>
          <p:nvPr/>
        </p:nvSpPr>
        <p:spPr>
          <a:xfrm>
            <a:off x="274320" y="2267712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45059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74520" y="240487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325880" y="283464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Підключіть мінімум один CSS-файл через {% load static %} і {% static %}. За бажанням: додайте зображення або JS-файл.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74320" y="3639312"/>
            <a:ext cx="8595360" cy="1234440"/>
          </a:xfrm>
          <a:prstGeom prst="rect">
            <a:avLst/>
          </a:prstGeom>
          <a:solidFill>
            <a:srgbClr val="162133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3"/>
          <p:cNvSpPr/>
          <p:nvPr/>
        </p:nvSpPr>
        <p:spPr>
          <a:xfrm>
            <a:off x="274320" y="3639312"/>
            <a:ext cx="914400" cy="123444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14"/>
          <p:cNvSpPr/>
          <p:nvPr/>
        </p:nvSpPr>
        <p:spPr>
          <a:xfrm>
            <a:off x="274320" y="3639312"/>
            <a:ext cx="914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880" y="382219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74520" y="377647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325880" y="4206240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Переконайтесь, що всі основні сторінки користуються спільним макетом і коректно підключають static files. Перевірте у браузері (F12 → Network — немає 404 на static-файли).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5996</TotalTime>
  <Words>2070</Words>
  <Application>Microsoft Macintosh PowerPoint</Application>
  <PresentationFormat>On-screen Show (16:9)</PresentationFormat>
  <Paragraphs>359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Django: Шаблони, успадкування, статичні файли</dc:title>
  <dc:subject>PptxGenJS Presentation</dc:subject>
  <dc:creator>PptxGenJS</dc:creator>
  <cp:lastModifiedBy>Dmytro Shtefan</cp:lastModifiedBy>
  <cp:revision>11</cp:revision>
  <dcterms:created xsi:type="dcterms:W3CDTF">2026-04-25T19:28:16Z</dcterms:created>
  <dcterms:modified xsi:type="dcterms:W3CDTF">2026-04-30T12:48:57Z</dcterms:modified>
</cp:coreProperties>
</file>